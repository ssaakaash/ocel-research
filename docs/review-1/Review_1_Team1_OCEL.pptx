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20/08/26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20/08/26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20/08/26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20/08/26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20/08/26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20/08/26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20/08/26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098922"/>
            <a:ext cx="892454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dirty="0" err="1">
                <a:latin typeface="Times New Roman"/>
              </a:rPr>
              <a:t>B.Tech</a:t>
            </a:r>
            <a:r>
              <a:rPr sz="2000" b="1" dirty="0">
                <a:latin typeface="Times New Roman"/>
              </a:rPr>
              <a:t> (CSE)  |  BCSE497J – Project-I / Capstone Project</a:t>
            </a:r>
          </a:p>
          <a:p>
            <a:r>
              <a:rPr lang="en-IN" sz="2800" b="1" dirty="0">
                <a:solidFill>
                  <a:srgbClr val="7A121C"/>
                </a:solidFill>
                <a:latin typeface="Times New Roman"/>
              </a:rPr>
              <a:t>Object-Centric Event Log Mining for Academic Capstone Processes: A Native OCEL 2.0 Approach</a:t>
            </a:r>
            <a:endParaRPr sz="2800" b="1" dirty="0">
              <a:solidFill>
                <a:srgbClr val="7A121C"/>
              </a:solidFill>
              <a:latin typeface="Times New Roman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429000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Aakaash Sathya Saravanan        (23BCE0500)</a:t>
            </a: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Mitisha Sharma        (23BCE0434)</a:t>
            </a: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Tanmay Khambete        (23BCE0498)</a:t>
            </a:r>
          </a:p>
          <a:p>
            <a:pPr algn="l">
              <a:spcAft>
                <a:spcPts val="400"/>
              </a:spcAft>
              <a:buNone/>
            </a:pPr>
            <a:endParaRPr sz="2000" b="1">
              <a:solidFill>
                <a:srgbClr val="1A1A1A"/>
              </a:solidFill>
              <a:latin typeface="Times New Roman"/>
            </a:endParaRPr>
          </a:p>
          <a:p>
            <a:pPr algn="l">
              <a:spcAft>
                <a:spcPts val="400"/>
              </a:spcAft>
              <a:buNone/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Faculty guide:</a:t>
            </a: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Dr. Kalyanaraman P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To instrument a university capstone project portal at the object-centric event-log level — exporting its immutable audit ledger natively to the OCEL 2.0 standard — so that the true multi-object capstone process (Student, Team, Faculty, ReportVersion, Score) can be discovered, conformance-checked, and simulated as a lightweight digital twin, rather than flattened to a single case as conventional process mining requires.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20/08/26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600" b="0" dirty="0">
                <a:solidFill>
                  <a:srgbClr val="1A1A1A"/>
                </a:solidFill>
                <a:latin typeface="Times New Roman"/>
              </a:rPr>
              <a:t>Conventional process mining forces every event onto a single case ID. In an academic capstone system this loses information: when a guide accepts a submission, the same event simultaneously changes Student, Team, Faculty, Project,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ReportVersion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and Score state.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600" b="0" dirty="0">
                <a:solidFill>
                  <a:srgbClr val="1A1A1A"/>
                </a:solidFill>
                <a:latin typeface="Times New Roman"/>
              </a:rPr>
              <a:t>The prototype maps the documented multi-object ledger to OCEL 2.0 (relational SQLite), compares native and case-centric representations, and tests conformance rules and a cautious offline intervention simulator on deterministic synthetic data.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600" b="0" dirty="0">
                <a:solidFill>
                  <a:srgbClr val="1A1A1A"/>
                </a:solidFill>
                <a:latin typeface="Times New Roman"/>
              </a:rPr>
              <a:t>The Review 2 outcome is a reproducible schema, synthetic benchmark, gap detector, observability ablation, and next-transition baseline; real operational validation remains future work.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20/08/26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417320"/>
          <a:ext cx="11338560" cy="4535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Ref.</a:t>
                      </a:r>
                    </a:p>
                  </a:txBody>
                  <a:tcPr marL="64008" marR="64008" marT="27432" marB="27432" anchor="ctr">
                    <a:solidFill>
                      <a:srgbClr val="7A12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Focus</a:t>
                      </a:r>
                    </a:p>
                  </a:txBody>
                  <a:tcPr marL="64008" marR="64008" marT="27432" marB="27432" anchor="ctr">
                    <a:solidFill>
                      <a:srgbClr val="7A12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7A12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to the portal</a:t>
                      </a:r>
                    </a:p>
                  </a:txBody>
                  <a:tcPr marL="64008" marR="64008" marT="27432" marB="27432" anchor="ctr">
                    <a:solidFill>
                      <a:srgbClr val="7A12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Berti et al., 2024 [1]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OCEL 2.0 standard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Defines the object-centric event-log metamodel and relational / XML / JSON exchange formats.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The exact export target for the portal's AuditLog.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van der Aalst, 2019 [2]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Object-centric PM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Foundational approach handling divergence &amp; convergence; one event links to many objects.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Justifies not flattening the portal to a single case.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Park, Adams &amp; van der Aalst, 2024 [3]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OC-DFG conformance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Conformance checking &amp; performance analysis on object-centric directly-follows graphs.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The discovery + conformance method we apply.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Park &amp; van der Aalst, 2021 [4]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Digital twin of an org.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Realizes an organisational digital twin via action-oriented process mining (ICPM).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Blueprint for our capstone-lifecycle twin.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Bogarín, Cerezo &amp; Romero, 2018 [5]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Educational PM survey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Surveys educational process mining; all reviewed work uses single-case logs.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Establishes a case-centric baseline; later object-centric prior art must also be considered.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Miri et al., 2026 [6]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Object-centric educational PM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Converts Moodle data to OCEL 2.0 and evaluates multi-entity educational processes.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Closest prior art; narrows Team 1 novelty to capstone workflows and observability.</a:t>
                      </a:r>
                    </a:p>
                  </a:txBody>
                  <a:tcPr marL="64008" marR="64008" marT="27432" marB="27432" anchor="ctr">
                    <a:solidFill>
                      <a:srgbClr val="F3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800">
                <a:latin typeface="Times New Roman"/>
              </a:rPr>
              <a:t>Case-centric flattening can lose cross-object evidence. A single-case view may duplicate or separate relationships among projects, teams, faculty, versions, and scores; the planned ablation measures this loss directly.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800">
                <a:latin typeface="Times New Roman"/>
              </a:rPr>
              <a:t>Educational object-centric prior art exists. Miri et al. (2026) convert Moodle data to OCEL 2.0; Team 1 asks a narrower question about a transactional academic capstone lifecycle.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800">
                <a:latin typeface="Times New Roman"/>
              </a:rPr>
              <a:t>Digital twins have organisational and educational precedents. Team 1 proposes a cautious offline capstone simulation grounded in the same multi-object representation, not a broad first-of-kind claim.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800">
                <a:latin typeface="Times New Roman"/>
              </a:rPr>
              <a:t>Gap: A reproducible capstone-specific schema and observability benchmark for teams, guides, stages, versions, and scores, validated first with synthetic data and later with approved real logs.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20/08/26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417320"/>
            <a:ext cx="11064240" cy="2697480"/>
          </a:xfrm>
        </p:spPr>
        <p:txBody>
          <a:bodyPr wrap="square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Schema mapping. </a:t>
            </a:r>
            <a:r>
              <a:rPr sz="1500" b="0">
                <a:solidFill>
                  <a:srgbClr val="1A1A1A"/>
                </a:solidFill>
                <a:latin typeface="Times New Roman"/>
              </a:rPr>
              <a:t>Define the portal's Event-to-Object / Object-to-Object relationships and export the AuditLog to OCEL 2.0's relational SQLite format.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Discovery. </a:t>
            </a:r>
            <a:r>
              <a:rPr sz="1500" b="0">
                <a:solidFill>
                  <a:srgbClr val="1A1A1A"/>
                </a:solidFill>
                <a:latin typeface="Times New Roman"/>
              </a:rPr>
              <a:t>Run object-centric process discovery (PM4Py) to build object-centric directly-follows graphs across Student, Team, Faculty, ReportVersion and Score.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Conformance. </a:t>
            </a:r>
            <a:r>
              <a:rPr sz="1500" b="0">
                <a:solidFill>
                  <a:srgbClr val="1A1A1A"/>
                </a:solidFill>
                <a:latin typeface="Times New Roman"/>
              </a:rPr>
              <a:t>Check the discovered process against the portal's documented state machine, quantifying known gaps (attempts-exhausted deadlock, guide-capacity overrun, R1→R2→R3 stalling) as measured deviations.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Digital twin. </a:t>
            </a:r>
            <a:r>
              <a:rPr sz="1500" b="0">
                <a:solidFill>
                  <a:srgbClr val="1A1A1A"/>
                </a:solidFill>
                <a:latin typeface="Times New Roman"/>
              </a:rPr>
              <a:t>Fit a next-transition predictor over the object-centric graph and simulate interventions (relaxing max_tries, reallocating guide capacity).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20/08/26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SDG identified: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SDG 4 (Quality Education), SDG 9 (Industry, Innovation &amp; Infrastructure)</a:t>
            </a:r>
          </a:p>
          <a:p>
            <a:pPr>
              <a:spcAft>
                <a:spcPts val="300"/>
              </a:spcAft>
              <a:buNone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Expected outcome: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Conference paper (Scopus) — ICPM; reusable OCEL 2.0 exporter (product)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4892040"/>
            <a:ext cx="1764792" cy="141732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892040"/>
            <a:ext cx="1554480" cy="14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1A1A1A"/>
                </a:solidFill>
                <a:latin typeface="Times New Roman"/>
              </a:rPr>
              <a:t>[1] A. Berti, I. Koren, J. N. Adams, G. Park, B. Knopp, N. Graves, et al., “OCEL (Object-Centric Event Log) 2.0 Specification,” arXiv:2403.01975, 2024.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1A1A1A"/>
                </a:solidFill>
                <a:latin typeface="Times New Roman"/>
              </a:rPr>
              <a:t>[2] W. M. P. van der Aalst, “Object-Centric Process Mining: Dealing with Divergence and Convergence in Event Data,” in Proc. Software Engineering and Formal Methods (SEFM), LNCS 11724, Springer, 2019, pp. 3–25.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1A1A1A"/>
                </a:solidFill>
                <a:latin typeface="Times New Roman"/>
              </a:rPr>
              <a:t>[3] G. Park, J. N. Adams, and W. M. P. van der Aalst, “Conformance Checking and Performance Analysis Using Object-Centric Directly-Follows Graphs,” in Proc. BPM Forum, LNBIP 526, Springer, 2024, pp. 179–196.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1A1A1A"/>
                </a:solidFill>
                <a:latin typeface="Times New Roman"/>
              </a:rPr>
              <a:t>[4] G. Park and W. M. P. van der Aalst, “Realizing a Digital Twin of an Organization Using Action-Oriented Process Mining,” in Proc. 3rd Int. Conf. on Process Mining (ICPM), IEEE, 2021, pp. 104–111.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1A1A1A"/>
                </a:solidFill>
                <a:latin typeface="Times New Roman"/>
              </a:rPr>
              <a:t>[5] A. Bogarín, R. Cerezo, and C. Romero, “A Survey on Educational Process Mining,” WIREs Data Mining and Knowledge Discovery, vol. 8, no. 1, e1230, 2018.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>
                <a:solidFill>
                  <a:srgbClr val="1A1A1A"/>
                </a:solidFill>
                <a:latin typeface="Times New Roman"/>
              </a:rPr>
              <a:t>[6] N. Miri, S. Khayatbashi, J. Zdravkovic, and A. Jalali, “An Object-Centric Approach to Multi-Entity Educational Process Mining,” Decision Analytics Journal, vol. 19, 100724, 2026.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20/08/26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1053</Words>
  <Application>Microsoft Macintosh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  B.Tech (CSE)  |  BCSE497J – Project-I / Capstone Project Object-Centric Event Log Mining for Academic Capstone Processes: A Native OCEL 2.0 Approach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Aakaash S S</cp:lastModifiedBy>
  <cp:revision>5</cp:revision>
  <dcterms:created xsi:type="dcterms:W3CDTF">2026-07-14T06:00:41Z</dcterms:created>
  <dcterms:modified xsi:type="dcterms:W3CDTF">2026-08-20T03:26:12Z</dcterms:modified>
</cp:coreProperties>
</file>