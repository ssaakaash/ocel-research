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 id="270" r:id="rId115"/>
    <p:sldId id="271" r:id="rId116"/>
    <p:sldId id="272" r:id="rId117"/>
    <p:sldId id="273" r:id="rId118"/>
    <p:sldId id="274" r:id="rId119"/>
    <p:sldId id="275" r:id="rId1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0" Type="http://schemas.openxmlformats.org/officeDocument/2006/relationships/theme" Target="theme/theme1.xml"/><Relationship Id="rId21" Type="http://schemas.openxmlformats.org/officeDocument/2006/relationships/tableStyles" Target="tableStyles.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Good morning, panel! Quick question before we start: have you ever tried to answer a simple question from a spreadsheet, and then realised the spreadsheet was built to answer a completely different one? That is basically our project. We are Team 1, and this is Object-Centric Event Log Mining for Academic Capstone Processes. The title is the same one we locked in Review 1. What changed is the evidence behind it, and we will be upfront about that as we go.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Quick honesty first. This slide is meant to show our guide's approval mail, and we do not have that screenshot in the file yet, so it is marked as a placeholder, in yellow, on purpose. We would rather show an empty box than a made-up one. The right side lists the six things the mail has to confirm, including the Turnitin numbers, which we will fill in from the real report. One thing we can already say truthfully: the project outcome is a journal paper, submitted to the Journal of Intelligent Information Systems and now under review.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Have you ever flattened a messy spreadsheet into one clean column and then wondered what just disappeared? That is our aim in one line. A capstone event is never about one thing. A single submission touches the project, the team, three students, the guide, a report version and, later, a score. Process mining normally forces one case identifier per event. So we asked: what is lost when we do that? We could not test it on the portal itself, because we do not have its logs. So the aim became two things: model the capstone lifecycle properly, and measure the loss on real public data, with code that anyone can re-run.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Here is the whole project in one breath. Process mining likes one case per event. Real workflows do not work like that. We built a pipeline around OCEL 2.0, which lets one event point at many objects, and we pointed it at seven real public logs: Gerrit code review, the Open University student data, Angular commits, the German Bundestag, Enron e-mails, Ethereum, and Age of Empires. Our honest finding is a little less dramatic than we expected. Flattening rarely duplicates events, except in fan-out logs. The bigger effect is narrowing, you only see a slice. And the model you mine from that slice still looks perfectly healthy. And one more thing worth saying out loud: none of these numbers come from synthetic data.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Four papers here, and I will go quickly. First, van der Aalst named the problem: flatten, and events get copied or mis-ordered. Second, the OCEL 2.0 specification is the format we build on. Third, Waibel and colleagues showed that one-to-many links create fake edges, but on one company's data. And fourth, Adams and colleagues showed that keeping the object graph helps machine learning. Notice the pattern in the Cons column. Lots of theory, a few case studies, very little measurement across real logs. That is the hole we walk into on the next slide.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Second half. Kabierski and colleagues list what goes wrong in object-centric data, which is useful, but they classify problems, they do not count them. Miri and colleagues did object-centric mining in education, on Moodle, and that is the closest neighbour to us. So we are clear we are not the first to use OCEL in education. Premchaiswadi looked at an online peer-review system, and Hassani described how a department really runs more than two hundred and fifty capstones. Put together: capstone practice is well described, object-centric mining exists, but nobody has tied them to measured evidence on real logs.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where exactly is the gap? Three places. One: the problems of flattening have names, convergence, divergence and deficiency, and they are explained in theory and in single case studies. But nobody has counted how often they happen across several real logs. That is the first thing we do: 38 case notions on seven real logs. Two: even where people discuss flattening, they look at machine-learning accuracy or list data-quality issues. Nobody checks what an analyst actually reads off the screen, the activity ranking, the process paths, the discovered model. And nobody separates duplication, which you can fix, from narrowing, which you cannot. That is our consequence analysis, C1 to C5. Three: object-centric work in education looks at Moodle clicks, and review processes have only been mined with one case notion. A capstone is a chain of submit, review, reject, resubmit and score. We give it an OCEL 2.0 model, and we measure on real logs that have that review shape.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Five objectives, in the order we did them. One, model the capstone lifecycle. Two, build a pipeline you can re-run. Three, measure the distortion without us picking the rules, because rules we pick can flatter our own idea. Four, compare what an analyst would actually look at, rankings, edge counts, variants. Five, check everything twice. On the right: the goals this touches are Quality Education and Industry, Innovation and Infrastructure. We rate the technology at level four, validated in the lab, and we say level two to three for plugging it into the real portal. The outcome is a journal paper. We submitted it to the Journal of Intelligent Information Systems, a Springer journal indexed in Scopus, and it is under review. Under review is not accepted, and we are not going to pretend otherwise.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model we designed from the portal's documentation, and I want to be careful with the wording: it is a design, not a result. A project is executed by a team of students and guided by a faculty member. A report has versions, a version can get a score, and the score is write-once. Every audited action in the portal, create, compile, submit, verify, accept, reject, becomes an event that can point at several of these objects at once. That is exactly the shape a single case id cannot hold, and it is why we chose OCEL 2.0.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Read this left to right. Seven public logs come in. The first box downloads each file, checks the size and MD5 against the Zenodo record, writes down a SHA-256, and can resume if the network drops, which it did on us once. Then we extract safely, convert Gerrit and Open University data into OCEL, and load everything into the same tables. The orange boxes are the analysis: distortion metrics, the consequence analysis, and a small rule-based engine we keep as an appendix. The green box is the one we care about most: validation, three different ways of checking our own code. The dashed box on top is the future: an adapter from the portal's audit log, once we are allowed to see one.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Eight things the system has to do, and four rules it has to obey. The functional ones follow the pipeline: download and verify, extract safely, convert, load, measure, compare, validate, export. The rules at the bottom matter just as much. Same input must give the same bytes out, which we tested. Names and e-mail addresses are hashed, especially in the Enron data. It has to run on a normal laptop, ours has about eight and a half gigabytes of memory, which is why Ethereum is analysed as a window. And only openly licensed data goes in.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Seven modules, one per box in the architecture. M1 gets the data safely. M2 turns it into OCEL. M3 and M4 are the heart of the project: M3 asks how much a flat view distorts, and M4 asks what an analyst would actually see differently. M5 is the rule engine from our earlier idea. We kept it in the appendix because with real data only, eleven rules on two logs is simply too few to conclude anything. M6 is the checker that keeps us honest. And M7 produces the tables you see in the results.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part where, if the laptop is kind to us, we run it live. Five commands, about a minute in total. First, the download manifest, which should say all eight sources are already present, so nothing is downloaded again. Second, the self-check, our own code against a slow, plain Python version of itself, it should say passed. Third and fourth, we run the distortion and consequence analysis on the Enron e-mails, because that log has a real many-to-many structure and a nice, visible result. Last, we open the summary table. If anything misbehaves, we have the saved outputs for every step, so the story does not depend on the Wi-Fi.</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Each dot is one real log. Left to right is how much flattening copies events, and up is how much of the process one case notion throws away. Look at the bottom left: CROP and OULAD sit at one-times, zero percent. Every event touches exactly one object of each type, so flattening is harmless there, at least for copying. Top left: the Bundestag, Age of Empires and Ethereum. Nothing is copied, but a single case notion drops seventy to ninety percent of the events. You see a slice, not the process. And bottom right: Angular, where one commit touches dozens of files, so an event gets copied eighty times. Three logs types, three different problems.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Same seven logs, but now we asked what an analyst would actually read off a chart. On the left: if we only count duplication, activity rankings barely move, the blue dots sit near one. But compare them with the whole process, the orange dots, and in the Bundestag the correlation falls to about 0.17. That gap is narrowing, not duplication. On the right, the scary one. If you rank entities from a flat export and just count rows, the worst case in Enron is 0.16 and in Age of Empires it is actually negative. An analyst who de-duplicates by event id would avoid it, so this is about careless counting, not an unavoidable loss. We are saying that plainly.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Discovery is what most people actually use process mining for, so we mined a model from every flat view. Look at the chart. Up is fitness, how well the model replays its own log. Right is how much of the real process the model even contains. Every single dot sits near the top, fitness 0.955 or better, including the ones on the far left that show a tiny slice of the process. So the standard quality check says everything is fine, exactly when the view is most partial. And where cases mix up events from different objects, the miner wraps them in loops, and precision drops to 0.04. A model like that will accept almost anything.</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We tested the project the way we would test someone else's. Downloads are checked against the published size and MD5 where the publisher gives one, and every file gets a SHA-256 on record. Re-running reproduces every result file byte for byte. Our fast code is compared with a slow, plain Python version, and that comparison now runs on all seven full logs, every object type, identical. Our rule code is checked against independent SQL, and the OULAD counts against a separate read of the raw files. And here is the part we are actually proud of: those checks found three real bugs of our own. Duplicate Gerrit comments, an abandon message we missed, and a tie-breaking problem in event order. We fixed all three and re-ran everything. What we have not done is get a second person to label the findings independently. That is on the limits list.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what do we conclude? That the pipeline works, that it is checked, and that on real data the story is narrowing more than duplication. And here's the part that surprised us most: the models you mine from those narrow views still look great on paper, so the usual check never raises a flag. One limit we repeat on purpose: the capstone model is a design. We could not test it on portal data. Next steps: get someone independent to label our findings, try prediction and other miners, and answer whatever the journal reviewers send back. Thank you. We are happy to take questions.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slide is short because the honest answer is short. No patent and no conference paper. We did submit the journal paper, to the Journal of Intelligent Information Systems, and the submission acknowledgement is our proof. It is under review, not accepted, and we would rather say that clearly now than have it come up in Q and A. Alongside it, the whole code base is public and re-runs every number.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References in IEEE style. Everything on this slide was checked against its publisher record or its arXiv entry before it went on the slide. The last line lists the datasets, all openly licensed.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9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capstone_schema.png"/><Relationship Id="rId9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architecture.png"/><Relationship Id="rId9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egimes.png"/><Relationship Id="rId9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ank_activity.png"/><Relationship Id="rId3" Type="http://schemas.openxmlformats.org/officeDocument/2006/relationships/image" Target="../media/fig_rank_entity.png"/><Relationship Id="rId9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discovery.png"/><Relationship Id="rId9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822960" y="1783080"/>
            <a:ext cx="10543032" cy="1600200"/>
          </a:xfrm>
          <a:prstGeom prst="rect">
            <a:avLst/>
          </a:prstGeom>
          <a:noFill/>
        </p:spPr>
        <p:txBody>
          <a:bodyPr wrap="square" rtlCol="0" anchor="ctr">
            <a:noAutofit/>
          </a:bodyPr>
          <a:lstStyle/>
          <a:p>
            <a:pPr algn="ctr"/>
            <a:r>
              <a:rPr lang="en-IN" sz="2000" b="1" dirty="0">
                <a:latin typeface="Times New Roman" panose="02020603050405020304" pitchFamily="18" charset="0"/>
                <a:cs typeface="Times New Roman" panose="02020603050405020304" pitchFamily="18" charset="0"/>
              </a:rPr>
              <a:t>BCSE497J - Project I  |  B.Tech. Computer Science and Engineering</a:t>
            </a:r>
          </a:p>
          <a:p>
            <a:pPr algn="ctr">
              <a:spcBef>
                <a:spcPts val="800"/>
              </a:spcBef>
            </a:pPr>
            <a:r>
              <a:rPr lang="en-IN" sz="2800" b="1" dirty="0">
                <a:latin typeface="Times New Roman" panose="02020603050405020304" pitchFamily="18" charset="0"/>
                <a:cs typeface="Times New Roman" panose="02020603050405020304" pitchFamily="18" charset="0"/>
              </a:rPr>
              <a:t>Object-Centric Event Log Mining for Academic Capstone Processes: A Native OCEL 2.0 Approach</a:t>
            </a:r>
          </a:p>
        </p:txBody>
      </p:sp>
      <p:sp>
        <p:nvSpPr>
          <p:cNvPr id="9" name="object 3">
            <a:extLst>
              <a:ext uri="{FF2B5EF4-FFF2-40B4-BE49-F238E27FC236}">
                <a16:creationId xmlns:a16="http://schemas.microsoft.com/office/drawing/2014/main" xmlns="" id="{68BC382C-506F-4908-6AC3-C0AA73064F47}"/>
              </a:ext>
            </a:extLst>
          </p:cNvPr>
          <p:cNvSpPr txBox="1"/>
          <p:nvPr/>
        </p:nvSpPr>
        <p:spPr>
          <a:xfrm>
            <a:off x="2926080" y="3611880"/>
            <a:ext cx="6400800" cy="2468880"/>
          </a:xfrm>
          <a:prstGeom prst="rect">
            <a:avLst/>
          </a:prstGeom>
        </p:spPr>
        <p:txBody>
          <a:bodyPr vert="horz" wrap="square" lIns="0" tIns="12700" rIns="0" bIns="0" rtlCol="0">
            <a:noAutofit/>
          </a:bodyPr>
          <a:lstStyle/>
          <a:p>
            <a:pPr marL="12700">
              <a:lnSpc>
                <a:spcPct val="100000"/>
              </a:lnSpc>
              <a:spcBef>
                <a:spcPts val="0"/>
              </a:spcBef>
              <a:tabLst>
                <a:tab pos="3566160" algn="l"/>
              </a:tabLst>
            </a:pPr>
            <a:r>
              <a:rPr lang="en-IN" sz="2000" b="1" dirty="0">
                <a:latin typeface="Times New Roman" panose="02020603050405020304" pitchFamily="18" charset="0"/>
                <a:cs typeface="Times New Roman" panose="02020603050405020304" pitchFamily="18" charset="0"/>
              </a:rPr>
              <a:t>Team members:</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Mitisha Sharma	(23BCE0434)</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Tanmay Khambete	(23BCE0498)</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Aakaash Sathya Saravanan	(23BCE0500)</a:t>
            </a:r>
          </a:p>
          <a:p>
            <a:pPr marL="12700">
              <a:lnSpc>
                <a:spcPct val="100000"/>
              </a:lnSpc>
              <a:spcBef>
                <a:spcPts val="1400"/>
              </a:spcBef>
              <a:tabLst>
                <a:tab pos="3566160" algn="l"/>
              </a:tabLst>
            </a:pPr>
            <a:r>
              <a:rPr lang="en-IN" sz="2000" b="1" dirty="0">
                <a:latin typeface="Times New Roman" panose="02020603050405020304" pitchFamily="18" charset="0"/>
                <a:cs typeface="Times New Roman" panose="02020603050405020304" pitchFamily="18" charset="0"/>
              </a:rPr>
              <a:t>Faculty guide:</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Dr. Kalyanaraman P.</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Approval Mail From Guide</a:t>
            </a:r>
          </a:p>
        </p:txBody>
      </p:sp>
      <p:sp>
        <p:nvSpPr>
          <p:cNvPr id="3" name="Screenshot placeholder 3"/>
          <p:cNvSpPr txBox="1"/>
          <p:nvPr/>
        </p:nvSpPr>
        <p:spPr>
          <a:xfrm>
            <a:off x="457200" y="1417320"/>
            <a:ext cx="6583680" cy="4480560"/>
          </a:xfrm>
          <a:prstGeom prst="rect">
            <a:avLst/>
          </a:prstGeom>
          <a:solidFill>
            <a:srgbClr val="FFFFFF"/>
          </a:solidFill>
          <a:ln w="19050">
            <a:solidFill>
              <a:srgbClr val="5B616B"/>
            </a:solidFill>
            <a:prstDash val="dash"/>
          </a:ln>
        </p:spPr>
        <p:txBody>
          <a:bodyPr wrap="square" lIns="109728" tIns="76810" rIns="109728" bIns="76810" rtlCol="0" anchor="ctr">
            <a:noAutofit/>
          </a:bodyPr>
          <a:lstStyle/>
          <a:p>
            <a:pPr marL="0" indent="0" algn="ctr">
              <a:lnSpc>
                <a:spcPct val="100000"/>
              </a:lnSpc>
              <a:spcBef>
                <a:spcPts val="0"/>
              </a:spcBef>
              <a:spcAft>
                <a:spcPts val="0"/>
              </a:spcAft>
              <a:buNone/>
            </a:pPr>
            <a:r>
              <a:rPr lang="en-IN" sz="2800" b="1" dirty="0">
                <a:solidFill>
                  <a:srgbClr val="1F2328"/>
                </a:solidFill>
                <a:highlight>
                  <a:srgbClr val="FFFF00"/>
                </a:highlight>
                <a:latin typeface="Times New Roman" panose="02020603050405020304" pitchFamily="18" charset="0"/>
                <a:cs typeface="Times New Roman" panose="02020603050405020304" pitchFamily="18" charset="0"/>
              </a:rPr>
              <a:t>PLACEHOLDER</a:t>
            </a:r>
          </a:p>
          <a:p>
            <a:pPr marL="0" indent="0" algn="ctr">
              <a:lnSpc>
                <a:spcPct val="100000"/>
              </a:lnSpc>
              <a:spcBef>
                <a:spcPts val="1000"/>
              </a:spcBef>
              <a:spcAft>
                <a:spcPts val="0"/>
              </a:spcAft>
              <a:buNone/>
            </a:pPr>
            <a:r>
              <a:rPr lang="en-IN" sz="2000" dirty="0">
                <a:solidFill>
                  <a:srgbClr val="1F2328"/>
                </a:solidFill>
                <a:highlight>
                  <a:srgbClr val="FFFF00"/>
                </a:highlight>
                <a:latin typeface="Times New Roman" panose="02020603050405020304" pitchFamily="18" charset="0"/>
                <a:cs typeface="Times New Roman" panose="02020603050405020304" pitchFamily="18" charset="0"/>
              </a:rPr>
              <a:t>insert the guide's approval mail screenshot here</a:t>
            </a:r>
          </a:p>
          <a:p>
            <a:pPr marL="0" indent="0" algn="ctr">
              <a:lnSpc>
                <a:spcPct val="100000"/>
              </a:lnSpc>
              <a:spcBef>
                <a:spcPts val="1400"/>
              </a:spcBef>
              <a:spcAft>
                <a:spcPts val="0"/>
              </a:spcAft>
              <a:buNone/>
            </a:pPr>
            <a:r>
              <a:rPr lang="en-IN" sz="1400" i="1" dirty="0">
                <a:solidFill>
                  <a:srgbClr val="5B616B"/>
                </a:solidFill>
                <a:latin typeface="Times New Roman" panose="02020603050405020304" pitchFamily="18" charset="0"/>
                <a:cs typeface="Times New Roman" panose="02020603050405020304" pitchFamily="18" charset="0"/>
              </a:rPr>
              <a:t>(taken after the guide approves the points on the right)</a:t>
            </a:r>
          </a:p>
        </p:txBody>
      </p:sp>
      <p:sp>
        <p:nvSpPr>
          <p:cNvPr id="4" name="Checklist 4"/>
          <p:cNvSpPr txBox="1"/>
          <p:nvPr/>
        </p:nvSpPr>
        <p:spPr>
          <a:xfrm>
            <a:off x="7315200" y="1417320"/>
            <a:ext cx="4416552" cy="448056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The mail should confirm</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Meeting with guide: frequent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PowerPoint presentation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demonstration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Final project report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outcome: </a:t>
            </a:r>
            <a:r>
              <a:rPr lang="en-IN" sz="1600" b="1" dirty="0">
                <a:solidFill>
                  <a:srgbClr val="1F2328"/>
                </a:solidFill>
                <a:latin typeface="Times New Roman" panose="02020603050405020304" pitchFamily="18" charset="0"/>
                <a:cs typeface="Times New Roman" panose="02020603050405020304" pitchFamily="18" charset="0"/>
              </a:rPr>
              <a:t>Journal paper submitted</a:t>
            </a:r>
            <a:r>
              <a:rPr lang="en-IN" sz="1600" dirty="0">
                <a:solidFill>
                  <a:srgbClr val="1F2328"/>
                </a:solidFill>
                <a:latin typeface="Times New Roman" panose="02020603050405020304" pitchFamily="18" charset="0"/>
                <a:cs typeface="Times New Roman" panose="02020603050405020304" pitchFamily="18" charset="0"/>
              </a:rPr>
              <a:t> (JIIS, under review)</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plagiarism: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 %</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AI score: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600" dirty="0">
                <a:solidFill>
                  <a:srgbClr val="1F2328"/>
                </a:solidFill>
                <a:latin typeface="Times New Roman" panose="02020603050405020304" pitchFamily="18" charset="0"/>
                <a:cs typeface="Times New Roman" panose="02020603050405020304" pitchFamily="18" charset="0"/>
              </a:rPr>
              <a:t> (limit 25%)</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ID: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a:t>
            </a:fld>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Aim</a:t>
            </a:r>
          </a:p>
        </p:txBody>
      </p:sp>
      <p:sp>
        <p:nvSpPr>
          <p:cNvPr id="3" name="Aim text 3"/>
          <p:cNvSpPr txBox="1"/>
          <p:nvPr/>
        </p:nvSpPr>
        <p:spPr>
          <a:xfrm>
            <a:off x="457200" y="1417320"/>
            <a:ext cx="6675120" cy="4572000"/>
          </a:xfrm>
          <a:prstGeom prst="rect">
            <a:avLst/>
          </a:prstGeom>
          <a:noFill/>
          <a:ln>
            <a:noFill/>
          </a:ln>
        </p:spPr>
        <p:txBody>
          <a:bodyPr wrap="square" lIns="109728" tIns="76810" rIns="109728" bIns="76810" rtlCol="0" anchor="t">
            <a:noAutofit/>
          </a:bodyPr>
          <a:lstStyle/>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Model the capstone review lifecycle (project, team, student, guide, report version, score) as an OCEL 2.0 object-centric event log.</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Measure, on real public logs, what a flat single-case view hides or distorts, and what a flat export must carry to stay trustworthy.</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Do it with reproducible, independently checked code, because production portal logs are not available to us.</a:t>
            </a:r>
          </a:p>
        </p:txBody>
      </p:sp>
      <p:sp>
        <p:nvSpPr>
          <p:cNvPr id="4" name="Question 4"/>
          <p:cNvSpPr txBox="1"/>
          <p:nvPr/>
        </p:nvSpPr>
        <p:spPr>
          <a:xfrm>
            <a:off x="7498080" y="1417320"/>
            <a:ext cx="4233672" cy="4572000"/>
          </a:xfrm>
          <a:prstGeom prst="roundRect">
            <a:avLst>
              <a:gd name="adj" fmla="val 6000"/>
            </a:avLst>
          </a:prstGeom>
          <a:solidFill>
            <a:srgbClr val="E6F0FC"/>
          </a:solidFill>
          <a:ln>
            <a:noFill/>
          </a:ln>
        </p:spPr>
        <p:txBody>
          <a:bodyPr wrap="square" lIns="274320" tIns="192024" rIns="274320" bIns="192024" rtlCol="0" anchor="ctr">
            <a:noAutofit/>
          </a:bodyPr>
          <a:lstStyle/>
          <a:p>
            <a:pPr marL="0" indent="0" algn="l">
              <a:lnSpc>
                <a:spcPct val="100000"/>
              </a:lnSpc>
              <a:spcBef>
                <a:spcPts val="0"/>
              </a:spcBef>
              <a:spcAft>
                <a:spcPts val="1000"/>
              </a:spcAft>
              <a:buNone/>
            </a:pPr>
            <a:r>
              <a:rPr lang="en-IN" sz="1600" b="1" dirty="0">
                <a:solidFill>
                  <a:srgbClr val="2A78D6"/>
                </a:solidFill>
                <a:latin typeface="Times New Roman" panose="02020603050405020304" pitchFamily="18" charset="0"/>
                <a:cs typeface="Times New Roman" panose="02020603050405020304" pitchFamily="18" charset="0"/>
              </a:rPr>
              <a:t>The question we asked</a:t>
            </a:r>
          </a:p>
          <a:p>
            <a:pPr marL="0" indent="0" algn="l">
              <a:lnSpc>
                <a:spcPct val="100000"/>
              </a:lnSpc>
              <a:spcBef>
                <a:spcPts val="0"/>
              </a:spcBef>
              <a:spcAft>
                <a:spcPts val="0"/>
              </a:spcAft>
              <a:buNone/>
            </a:pPr>
            <a:r>
              <a:rPr lang="en-IN" sz="2600" i="1" dirty="0">
                <a:solidFill>
                  <a:srgbClr val="1F2328"/>
                </a:solidFill>
                <a:latin typeface="Times New Roman" panose="02020603050405020304" pitchFamily="18" charset="0"/>
                <a:cs typeface="Times New Roman" panose="02020603050405020304" pitchFamily="18" charset="0"/>
              </a:rPr>
              <a:t>When a workflow with many entities is flattened to one case notion, what do we actually lose?</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3</a:t>
            </a:fld>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Abstract</a:t>
            </a:r>
          </a:p>
        </p:txBody>
      </p:sp>
      <p:sp>
        <p:nvSpPr>
          <p:cNvPr id="3" name="Abstract text 3"/>
          <p:cNvSpPr txBox="1"/>
          <p:nvPr/>
        </p:nvSpPr>
        <p:spPr>
          <a:xfrm>
            <a:off x="457200" y="1417320"/>
            <a:ext cx="7315200" cy="475488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Process mining normally assigns each event to one case. A capstone event, however, concerns a project, a team, a guide, a report version and a score at once. Flattening it to a single case notion can duplicate events, drop others, or hide how cases share people and resources.</a:t>
            </a:r>
          </a:p>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Production portal logs were unavailable, so we built a reproducible OCEL 2.0 pipeline and measured flattening on seven real public logs: code review, education, legislation, e-mail, blockchain and gameplay.</a:t>
            </a:r>
          </a:p>
          <a:p>
            <a:pPr marL="0" indent="0" algn="l">
              <a:lnSpc>
                <a:spcPct val="100000"/>
              </a:lnSpc>
              <a:spcBef>
                <a:spcPts val="0"/>
              </a:spcBef>
              <a:spcAft>
                <a:spcPts val="0"/>
              </a:spcAft>
              <a:buNone/>
            </a:pPr>
            <a:r>
              <a:rPr lang="en-IN" sz="1700" dirty="0">
                <a:solidFill>
                  <a:srgbClr val="1F2328"/>
                </a:solidFill>
                <a:latin typeface="Times New Roman" panose="02020603050405020304" pitchFamily="18" charset="0"/>
                <a:cs typeface="Times New Roman" panose="02020603050405020304" pitchFamily="18" charset="0"/>
              </a:rPr>
              <a:t>Duplication from flattening turned out to be small except in fan-out logs. The larger effect is narrowing: one case notion shows only a slice of the process, and a model mined from that slice still scores a near-perfect fitness, so nothing warns the analyst. Every number is re-computed by open code, carries a bootstrap interval and is checked by independent implementations.</a:t>
            </a:r>
          </a:p>
        </p:txBody>
      </p:sp>
      <p:sp>
        <p:nvSpPr>
          <p:cNvPr id="4" name="Stat 4"/>
          <p:cNvSpPr txBox="1"/>
          <p:nvPr/>
        </p:nvSpPr>
        <p:spPr>
          <a:xfrm>
            <a:off x="8138160" y="14173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2A78D6"/>
                </a:solidFill>
                <a:latin typeface="Times New Roman" panose="02020603050405020304" pitchFamily="18" charset="0"/>
                <a:cs typeface="Times New Roman" panose="02020603050405020304" pitchFamily="18" charset="0"/>
              </a:rPr>
              <a:t>7</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real public logs, none synthetic</a:t>
            </a:r>
          </a:p>
        </p:txBody>
      </p:sp>
      <p:sp>
        <p:nvSpPr>
          <p:cNvPr id="5" name="Stat 5"/>
          <p:cNvSpPr txBox="1"/>
          <p:nvPr/>
        </p:nvSpPr>
        <p:spPr>
          <a:xfrm>
            <a:off x="8138160" y="27889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EB6834"/>
                </a:solidFill>
                <a:latin typeface="Times New Roman" panose="02020603050405020304" pitchFamily="18" charset="0"/>
                <a:cs typeface="Times New Roman" panose="02020603050405020304" pitchFamily="18" charset="0"/>
              </a:rPr>
              <a:t>38</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case notions compared against the object-centric reference</a:t>
            </a:r>
          </a:p>
        </p:txBody>
      </p:sp>
      <p:sp>
        <p:nvSpPr>
          <p:cNvPr id="6" name="Stat 6"/>
          <p:cNvSpPr txBox="1"/>
          <p:nvPr/>
        </p:nvSpPr>
        <p:spPr>
          <a:xfrm>
            <a:off x="8138160" y="41605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1BAF7A"/>
                </a:solidFill>
                <a:latin typeface="Times New Roman" panose="02020603050405020304" pitchFamily="18" charset="0"/>
                <a:cs typeface="Times New Roman" panose="02020603050405020304" pitchFamily="18" charset="0"/>
              </a:rPr>
              <a:t>0</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results from simulated or injected data</a:t>
            </a:r>
          </a:p>
        </p:txBody>
      </p:sp>
      <p:sp>
        <p:nvSpPr>
          <p:cNvPr id="7"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8" name="Footer Placeholder"/>
          <p:cNvSpPr>
            <a:spLocks noGrp="1"/>
          </p:cNvSpPr>
          <p:nvPr>
            <p:ph type="ftr" sz="quarter" idx="11"/>
          </p:nvPr>
        </p:nvSpPr>
        <p:spPr/>
        <p:txBody>
          <a:bodyPr/>
          <a:lstStyle/>
          <a:p>
            <a:r>
              <a:rPr lang="en-IN"/>
              <a:t>SCOPE</a:t>
            </a:r>
          </a:p>
        </p:txBody>
      </p:sp>
      <p:sp>
        <p:nvSpPr>
          <p:cNvPr id="9" name="Slide Number Placeholder"/>
          <p:cNvSpPr>
            <a:spLocks noGrp="1"/>
          </p:cNvSpPr>
          <p:nvPr>
            <p:ph type="sldNum" sz="quarter" idx="12"/>
          </p:nvPr>
        </p:nvSpPr>
        <p:spPr/>
        <p:txBody>
          <a:bodyPr/>
          <a:lstStyle/>
          <a:p>
            <a:fld id="{65201FD4-9D8D-4491-815B-63C7BF4F0034}" type="slidenum">
              <a:rPr lang="en-IN" smtClean="0"/>
              <a:t>4</a:t>
            </a:fld>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(1/2)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van der Aalst (2019) [1]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Name the problems of one-case-per-event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Conceptual analysis with worked examples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defines convergence, divergence. Con: no measurement on real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Flattening copies events across cases or mis-orders them</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Berti et al. (2024) [2]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 standard exchange format for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OCEL 2.0 specification: JSON, XML, SQLite, qualifiers, o2o links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expressive, tool support. Con: extraction needs domain decisions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One event can relate to many typed objects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Waibel et al. (2022) [5]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structure from relational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event graph, one food-company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avoids false edges. Con: single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1:N and N:M links give spurious directly-follows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Adams, Park, van der Aalst (2023) [3]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Keep object-centric graph structure for ML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Compare graph encodings with flattened features on predictive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shows value of structure. Con: prediction focus, not analysis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Structure-preserving encodings are favoured over flattening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5</a:t>
            </a:fld>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(2/2)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Kabierski et al. (2026) [6]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Classify quality issues in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Classification checked on real logs and practitioner interviews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practitioner-validated. Con: classifies issues, gives no distortion rates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data has its own quality problems, e.g. wrong object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Miri et al. (2026) [7]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educational process mining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Moodle to OCEL conversion (PM4Moodle), real course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first educational use. Con: one LMS course, not a transactional lifecycle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Group and resource links are invisible in student-centric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Premchaiswadi, Porouhan (2015) [11]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Mine an online peer-review process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log from review handling, discovery and conformance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review workflow on real data. Con: single case notion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Bottlenecks and rule violations found in reviewer handling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Hassani et al. (2018) [10]</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Manage more than 250 computing final-year projects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Case study of supervision, panels, rubrics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real capstone practice. Con: no event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Capstones need coordinated supervision, submission and assessment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6</a:t>
            </a:fld>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Research Gap</a:t>
            </a:r>
          </a:p>
        </p:txBody>
      </p:sp>
      <p:sp>
        <p:nvSpPr>
          <p:cNvPr id="3" name="Shape 3"/>
          <p:cNvSpPr/>
          <p:nvPr/>
        </p:nvSpPr>
        <p:spPr>
          <a:xfrm>
            <a:off x="457200" y="1490472"/>
            <a:ext cx="685800" cy="685800"/>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1</a:t>
            </a:r>
          </a:p>
        </p:txBody>
      </p:sp>
      <p:sp>
        <p:nvSpPr>
          <p:cNvPr id="4" name="Gap 4"/>
          <p:cNvSpPr txBox="1"/>
          <p:nvPr/>
        </p:nvSpPr>
        <p:spPr>
          <a:xfrm>
            <a:off x="1371600" y="1325880"/>
            <a:ext cx="10332720" cy="1261872"/>
          </a:xfrm>
          <a:prstGeom prst="roundRect">
            <a:avLst>
              <a:gd name="adj" fmla="val 6000"/>
            </a:avLst>
          </a:prstGeom>
          <a:solidFill>
            <a:srgbClr val="F3F6FA"/>
          </a:solidFill>
          <a:ln>
            <a:noFill/>
          </a:ln>
        </p:spPr>
        <p:txBody>
          <a:bodyPr wrap="square" lIns="146304" tIns="102413" rIns="146304" bIns="102413" rtlCol="0" anchor="ctr">
            <a:noAutofit/>
          </a:bodyPr>
          <a:lstStyle/>
          <a:p>
            <a:pPr marL="0" indent="0" algn="l">
              <a:lnSpc>
                <a:spcPct val="100000"/>
              </a:lnSpc>
              <a:spcBef>
                <a:spcPts val="0"/>
              </a:spcBef>
              <a:spcAft>
                <a:spcPts val="200"/>
              </a:spcAft>
              <a:buNone/>
            </a:pPr>
            <a:r>
              <a:rPr lang="en-IN" sz="1800" b="1" dirty="0">
                <a:solidFill>
                  <a:srgbClr val="1F2328"/>
                </a:solidFill>
                <a:latin typeface="Times New Roman" panose="02020603050405020304" pitchFamily="18" charset="0"/>
                <a:cs typeface="Times New Roman" panose="02020603050405020304" pitchFamily="18" charset="0"/>
              </a:rPr>
              <a:t>Flattening is described, but not measured</a:t>
            </a:r>
          </a:p>
          <a:p>
            <a:pPr marL="0" indent="0" algn="l">
              <a:lnSpc>
                <a:spcPct val="100000"/>
              </a:lnSpc>
              <a:spcBef>
                <a:spcPts val="0"/>
              </a:spcBef>
              <a:spcAft>
                <a:spcPts val="300"/>
              </a:spcAft>
              <a:buNone/>
            </a:pPr>
            <a:r>
              <a:rPr lang="en-IN" sz="1300" dirty="0">
                <a:solidFill>
                  <a:srgbClr val="5B616B"/>
                </a:solidFill>
                <a:latin typeface="Times New Roman" panose="02020603050405020304" pitchFamily="18" charset="0"/>
                <a:cs typeface="Times New Roman" panose="02020603050405020304" pitchFamily="18" charset="0"/>
              </a:rPr>
              <a:t>Convergence, divergence and deficiency are defined conceptually [1, 4] and shown on single case studies [5]. No study reports how often they occur across several real logs from different domains.</a:t>
            </a:r>
          </a:p>
          <a:p>
            <a:pPr marL="0" indent="0" algn="l">
              <a:lnSpc>
                <a:spcPct val="100000"/>
              </a:lnSpc>
              <a:spcBef>
                <a:spcPts val="0"/>
              </a:spcBef>
              <a:spcAft>
                <a:spcPts val="0"/>
              </a:spcAft>
              <a:buNone/>
            </a:pPr>
            <a:r>
              <a:rPr lang="en-IN" sz="1300" b="1" dirty="0">
                <a:solidFill>
                  <a:srgbClr val="2A78D6"/>
                </a:solidFill>
                <a:latin typeface="Times New Roman" panose="02020603050405020304" pitchFamily="18" charset="0"/>
                <a:cs typeface="Times New Roman" panose="02020603050405020304" pitchFamily="18" charset="0"/>
              </a:rPr>
              <a:t>Addressed by: </a:t>
            </a:r>
            <a:r>
              <a:rPr lang="en-IN" sz="1300" dirty="0">
                <a:solidFill>
                  <a:srgbClr val="1F2328"/>
                </a:solidFill>
                <a:latin typeface="Times New Roman" panose="02020603050405020304" pitchFamily="18" charset="0"/>
                <a:cs typeface="Times New Roman" panose="02020603050405020304" pitchFamily="18" charset="0"/>
              </a:rPr>
              <a:t>Distortion metrics for 38 case notions on 7 real public logs; three regimes</a:t>
            </a:r>
          </a:p>
        </p:txBody>
      </p:sp>
      <p:sp>
        <p:nvSpPr>
          <p:cNvPr id="5" name="Shape 5"/>
          <p:cNvSpPr/>
          <p:nvPr/>
        </p:nvSpPr>
        <p:spPr>
          <a:xfrm>
            <a:off x="457200" y="2862072"/>
            <a:ext cx="685800" cy="685800"/>
          </a:xfrm>
          <a:prstGeom prst="ellipse">
            <a:avLst/>
          </a:prstGeom>
          <a:solidFill>
            <a:srgbClr val="EB683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2</a:t>
            </a:r>
          </a:p>
        </p:txBody>
      </p:sp>
      <p:sp>
        <p:nvSpPr>
          <p:cNvPr id="6" name="Gap 6"/>
          <p:cNvSpPr txBox="1"/>
          <p:nvPr/>
        </p:nvSpPr>
        <p:spPr>
          <a:xfrm>
            <a:off x="1371600" y="2697480"/>
            <a:ext cx="10332720" cy="1261872"/>
          </a:xfrm>
          <a:prstGeom prst="roundRect">
            <a:avLst>
              <a:gd name="adj" fmla="val 6000"/>
            </a:avLst>
          </a:prstGeom>
          <a:solidFill>
            <a:srgbClr val="F3F6FA"/>
          </a:solidFill>
          <a:ln>
            <a:noFill/>
          </a:ln>
        </p:spPr>
        <p:txBody>
          <a:bodyPr wrap="square" lIns="146304" tIns="102413" rIns="146304" bIns="102413" rtlCol="0" anchor="ctr">
            <a:noAutofit/>
          </a:bodyPr>
          <a:lstStyle/>
          <a:p>
            <a:pPr marL="0" indent="0" algn="l">
              <a:lnSpc>
                <a:spcPct val="100000"/>
              </a:lnSpc>
              <a:spcBef>
                <a:spcPts val="0"/>
              </a:spcBef>
              <a:spcAft>
                <a:spcPts val="200"/>
              </a:spcAft>
              <a:buNone/>
            </a:pPr>
            <a:r>
              <a:rPr lang="en-IN" sz="1800" b="1" dirty="0">
                <a:solidFill>
                  <a:srgbClr val="1F2328"/>
                </a:solidFill>
                <a:latin typeface="Times New Roman" panose="02020603050405020304" pitchFamily="18" charset="0"/>
                <a:cs typeface="Times New Roman" panose="02020603050405020304" pitchFamily="18" charset="0"/>
              </a:rPr>
              <a:t>Its effect on what an analyst reads is unknown</a:t>
            </a:r>
          </a:p>
          <a:p>
            <a:pPr marL="0" indent="0" algn="l">
              <a:lnSpc>
                <a:spcPct val="100000"/>
              </a:lnSpc>
              <a:spcBef>
                <a:spcPts val="0"/>
              </a:spcBef>
              <a:spcAft>
                <a:spcPts val="300"/>
              </a:spcAft>
              <a:buNone/>
            </a:pPr>
            <a:r>
              <a:rPr lang="en-IN" sz="1300" dirty="0">
                <a:solidFill>
                  <a:srgbClr val="5B616B"/>
                </a:solidFill>
                <a:latin typeface="Times New Roman" panose="02020603050405020304" pitchFamily="18" charset="0"/>
                <a:cs typeface="Times New Roman" panose="02020603050405020304" pitchFamily="18" charset="0"/>
              </a:rPr>
              <a:t>Prior work compares machine-learning performance [3] or classifies data-quality issues [6]. None measures, across logs, whether flattening changes rankings, process paths or discovered models, or separates fixable duplication from unfixable narrowing.</a:t>
            </a:r>
          </a:p>
          <a:p>
            <a:pPr marL="0" indent="0" algn="l">
              <a:lnSpc>
                <a:spcPct val="100000"/>
              </a:lnSpc>
              <a:spcBef>
                <a:spcPts val="0"/>
              </a:spcBef>
              <a:spcAft>
                <a:spcPts val="0"/>
              </a:spcAft>
              <a:buNone/>
            </a:pPr>
            <a:r>
              <a:rPr lang="en-IN" sz="1300" b="1" dirty="0">
                <a:solidFill>
                  <a:srgbClr val="EB6834"/>
                </a:solidFill>
                <a:latin typeface="Times New Roman" panose="02020603050405020304" pitchFamily="18" charset="0"/>
                <a:cs typeface="Times New Roman" panose="02020603050405020304" pitchFamily="18" charset="0"/>
              </a:rPr>
              <a:t>Addressed by: </a:t>
            </a:r>
            <a:r>
              <a:rPr lang="en-IN" sz="1300" dirty="0">
                <a:solidFill>
                  <a:srgbClr val="1F2328"/>
                </a:solidFill>
                <a:latin typeface="Times New Roman" panose="02020603050405020304" pitchFamily="18" charset="0"/>
                <a:cs typeface="Times New Roman" panose="02020603050405020304" pitchFamily="18" charset="0"/>
              </a:rPr>
              <a:t>Five outputs (C1 to C5) compared with an object-centric reference, with bootstrap intervals</a:t>
            </a:r>
          </a:p>
        </p:txBody>
      </p:sp>
      <p:sp>
        <p:nvSpPr>
          <p:cNvPr id="7" name="Shape 7"/>
          <p:cNvSpPr/>
          <p:nvPr/>
        </p:nvSpPr>
        <p:spPr>
          <a:xfrm>
            <a:off x="457200" y="4233672"/>
            <a:ext cx="685800" cy="685800"/>
          </a:xfrm>
          <a:prstGeom prst="ellipse">
            <a:avLst/>
          </a:prstGeom>
          <a:solidFill>
            <a:srgbClr val="1BAF7A"/>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3</a:t>
            </a:r>
          </a:p>
        </p:txBody>
      </p:sp>
      <p:sp>
        <p:nvSpPr>
          <p:cNvPr id="8" name="Gap 8"/>
          <p:cNvSpPr txBox="1"/>
          <p:nvPr/>
        </p:nvSpPr>
        <p:spPr>
          <a:xfrm>
            <a:off x="1371600" y="4069080"/>
            <a:ext cx="10332720" cy="1261872"/>
          </a:xfrm>
          <a:prstGeom prst="roundRect">
            <a:avLst>
              <a:gd name="adj" fmla="val 6000"/>
            </a:avLst>
          </a:prstGeom>
          <a:solidFill>
            <a:srgbClr val="F3F6FA"/>
          </a:solidFill>
          <a:ln>
            <a:noFill/>
          </a:ln>
        </p:spPr>
        <p:txBody>
          <a:bodyPr wrap="square" lIns="146304" tIns="102413" rIns="146304" bIns="102413" rtlCol="0" anchor="ctr">
            <a:noAutofit/>
          </a:bodyPr>
          <a:lstStyle/>
          <a:p>
            <a:pPr marL="0" indent="0" algn="l">
              <a:lnSpc>
                <a:spcPct val="100000"/>
              </a:lnSpc>
              <a:spcBef>
                <a:spcPts val="0"/>
              </a:spcBef>
              <a:spcAft>
                <a:spcPts val="200"/>
              </a:spcAft>
              <a:buNone/>
            </a:pPr>
            <a:r>
              <a:rPr lang="en-IN" sz="1800" b="1" dirty="0">
                <a:solidFill>
                  <a:srgbClr val="1F2328"/>
                </a:solidFill>
                <a:latin typeface="Times New Roman" panose="02020603050405020304" pitchFamily="18" charset="0"/>
                <a:cs typeface="Times New Roman" panose="02020603050405020304" pitchFamily="18" charset="0"/>
              </a:rPr>
              <a:t>Review workflows have no object-centric model</a:t>
            </a:r>
          </a:p>
          <a:p>
            <a:pPr marL="0" indent="0" algn="l">
              <a:lnSpc>
                <a:spcPct val="100000"/>
              </a:lnSpc>
              <a:spcBef>
                <a:spcPts val="0"/>
              </a:spcBef>
              <a:spcAft>
                <a:spcPts val="300"/>
              </a:spcAft>
              <a:buNone/>
            </a:pPr>
            <a:r>
              <a:rPr lang="en-IN" sz="1300" dirty="0">
                <a:solidFill>
                  <a:srgbClr val="5B616B"/>
                </a:solidFill>
                <a:latin typeface="Times New Roman" panose="02020603050405020304" pitchFamily="18" charset="0"/>
                <a:cs typeface="Times New Roman" panose="02020603050405020304" pitchFamily="18" charset="0"/>
              </a:rPr>
              <a:t>Object-centric educational mining uses learning-platform activity [7], and review processes have been mined with one case notion only [11]. A submit, review, reject, resubmit and score lifecycle has no object-centric model that we could find.</a:t>
            </a:r>
          </a:p>
          <a:p>
            <a:pPr marL="0" indent="0" algn="l">
              <a:lnSpc>
                <a:spcPct val="100000"/>
              </a:lnSpc>
              <a:spcBef>
                <a:spcPts val="0"/>
              </a:spcBef>
              <a:spcAft>
                <a:spcPts val="0"/>
              </a:spcAft>
              <a:buNone/>
            </a:pPr>
            <a:r>
              <a:rPr lang="en-IN" sz="1300" b="1" dirty="0">
                <a:solidFill>
                  <a:srgbClr val="1BAF7A"/>
                </a:solidFill>
                <a:latin typeface="Times New Roman" panose="02020603050405020304" pitchFamily="18" charset="0"/>
                <a:cs typeface="Times New Roman" panose="02020603050405020304" pitchFamily="18" charset="0"/>
              </a:rPr>
              <a:t>Addressed by: </a:t>
            </a:r>
            <a:r>
              <a:rPr lang="en-IN" sz="1300" dirty="0">
                <a:solidFill>
                  <a:srgbClr val="1F2328"/>
                </a:solidFill>
                <a:latin typeface="Times New Roman" panose="02020603050405020304" pitchFamily="18" charset="0"/>
                <a:cs typeface="Times New Roman" panose="02020603050405020304" pitchFamily="18" charset="0"/>
              </a:rPr>
              <a:t>OCEL 2.0 model of the capstone lifecycle, plus real review-like logs (code review, assessment)</a:t>
            </a:r>
          </a:p>
        </p:txBody>
      </p:sp>
      <p:sp>
        <p:nvSpPr>
          <p:cNvPr id="9" name="Angle 9"/>
          <p:cNvSpPr txBox="1"/>
          <p:nvPr/>
        </p:nvSpPr>
        <p:spPr>
          <a:xfrm>
            <a:off x="457200" y="5532120"/>
            <a:ext cx="11274552" cy="548640"/>
          </a:xfrm>
          <a:prstGeom prst="rect">
            <a:avLst/>
          </a:prstGeom>
          <a:no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Our angle: </a:t>
            </a:r>
            <a:r>
              <a:rPr lang="en-IN" sz="1700" dirty="0">
                <a:solidFill>
                  <a:srgbClr val="1F2328"/>
                </a:solidFill>
                <a:latin typeface="Times New Roman" panose="02020603050405020304" pitchFamily="18" charset="0"/>
                <a:cs typeface="Times New Roman" panose="02020603050405020304" pitchFamily="18" charset="0"/>
              </a:rPr>
              <a:t>measure first, on real data only, and check every number with independent code.</a:t>
            </a:r>
          </a:p>
        </p:txBody>
      </p:sp>
      <p:sp>
        <p:nvSpPr>
          <p:cNvPr id="1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1" name="Footer Placeholder"/>
          <p:cNvSpPr>
            <a:spLocks noGrp="1"/>
          </p:cNvSpPr>
          <p:nvPr>
            <p:ph type="ftr" sz="quarter" idx="11"/>
          </p:nvPr>
        </p:nvSpPr>
        <p:spPr/>
        <p:txBody>
          <a:bodyPr/>
          <a:lstStyle/>
          <a:p>
            <a:r>
              <a:rPr lang="en-IN"/>
              <a:t>SCOPE</a:t>
            </a:r>
          </a:p>
        </p:txBody>
      </p:sp>
      <p:sp>
        <p:nvSpPr>
          <p:cNvPr id="12" name="Slide Number Placeholder"/>
          <p:cNvSpPr>
            <a:spLocks noGrp="1"/>
          </p:cNvSpPr>
          <p:nvPr>
            <p:ph type="sldNum" sz="quarter" idx="12"/>
          </p:nvPr>
        </p:nvSpPr>
        <p:spPr/>
        <p:txBody>
          <a:bodyPr/>
          <a:lstStyle/>
          <a:p>
            <a:fld id="{65201FD4-9D8D-4491-815B-63C7BF4F0034}" type="slidenum">
              <a:rPr lang="en-IN" smtClean="0"/>
              <a:t>7</a:t>
            </a:fld>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Objectives</a:t>
            </a:r>
          </a:p>
        </p:txBody>
      </p:sp>
      <p:sp>
        <p:nvSpPr>
          <p:cNvPr id="3" name="Objectives 3"/>
          <p:cNvSpPr txBox="1"/>
          <p:nvPr/>
        </p:nvSpPr>
        <p:spPr>
          <a:xfrm>
            <a:off x="457200" y="1371600"/>
            <a:ext cx="6766560" cy="4846320"/>
          </a:xfrm>
          <a:prstGeom prst="rect">
            <a:avLst/>
          </a:prstGeom>
          <a:noFill/>
          <a:ln>
            <a:noFill/>
          </a:ln>
        </p:spPr>
        <p:txBody>
          <a:bodyPr wrap="square" lIns="109728" tIns="76810" rIns="109728" bIns="76810" rtlCol="0" anchor="t">
            <a:noAutofit/>
          </a:bodyPr>
          <a:lstStyle/>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Model the capstone lifecycle as OCEL 2.0 from the documented portal behaviour.</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Build a reproducible pipeline: download, verify, convert, load, analyse.</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Measure flattening distortion on seven real logs without hand-picked rules.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Compare standard outputs (rankings, directly-follows, variants, entity counts, discovered models) between flat and object-centric views.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Verify every result with independent checks and release the code.</a:t>
            </a:r>
          </a:p>
        </p:txBody>
      </p:sp>
      <p:sp>
        <p:nvSpPr>
          <p:cNvPr id="4" name="Identified 4"/>
          <p:cNvSpPr txBox="1"/>
          <p:nvPr/>
        </p:nvSpPr>
        <p:spPr>
          <a:xfrm>
            <a:off x="7498080" y="1371600"/>
            <a:ext cx="4233672" cy="36576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Identified</a:t>
            </a:r>
          </a:p>
        </p:txBody>
      </p:sp>
      <p:sp>
        <p:nvSpPr>
          <p:cNvPr id="5" name="SDG label 5"/>
          <p:cNvSpPr txBox="1"/>
          <p:nvPr/>
        </p:nvSpPr>
        <p:spPr>
          <a:xfrm>
            <a:off x="7498080" y="1783080"/>
            <a:ext cx="4233672" cy="566928"/>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Sustainable Development Goals</a:t>
            </a:r>
          </a:p>
        </p:txBody>
      </p:sp>
      <p:sp>
        <p:nvSpPr>
          <p:cNvPr id="6" name="Shape 6"/>
          <p:cNvSpPr/>
          <p:nvPr/>
        </p:nvSpPr>
        <p:spPr>
          <a:xfrm>
            <a:off x="7498080" y="2057400"/>
            <a:ext cx="566928" cy="566928"/>
          </a:xfrm>
          <a:prstGeom prst="rect">
            <a:avLst/>
          </a:prstGeom>
          <a:solidFill>
            <a:srgbClr val="C5192D"/>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4</a:t>
            </a:r>
          </a:p>
        </p:txBody>
      </p:sp>
      <p:sp>
        <p:nvSpPr>
          <p:cNvPr id="7" name="SDG4 7"/>
          <p:cNvSpPr txBox="1"/>
          <p:nvPr/>
        </p:nvSpPr>
        <p:spPr>
          <a:xfrm>
            <a:off x="8138160" y="20574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Quality Education</a:t>
            </a:r>
          </a:p>
        </p:txBody>
      </p:sp>
      <p:sp>
        <p:nvSpPr>
          <p:cNvPr id="8" name="Shape 8"/>
          <p:cNvSpPr/>
          <p:nvPr/>
        </p:nvSpPr>
        <p:spPr>
          <a:xfrm>
            <a:off x="7498080" y="2743200"/>
            <a:ext cx="566928" cy="566928"/>
          </a:xfrm>
          <a:prstGeom prst="rect">
            <a:avLst/>
          </a:prstGeom>
          <a:solidFill>
            <a:srgbClr val="F36E2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9</a:t>
            </a:r>
          </a:p>
        </p:txBody>
      </p:sp>
      <p:sp>
        <p:nvSpPr>
          <p:cNvPr id="9" name="SDG9 9"/>
          <p:cNvSpPr txBox="1"/>
          <p:nvPr/>
        </p:nvSpPr>
        <p:spPr>
          <a:xfrm>
            <a:off x="8138160" y="27432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Industry, Innovation and Infrastructure</a:t>
            </a:r>
          </a:p>
        </p:txBody>
      </p:sp>
      <p:sp>
        <p:nvSpPr>
          <p:cNvPr id="10" name="TRL 10"/>
          <p:cNvSpPr txBox="1"/>
          <p:nvPr/>
        </p:nvSpPr>
        <p:spPr>
          <a:xfrm>
            <a:off x="7498080" y="3520440"/>
            <a:ext cx="4233672" cy="1234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Technology Readiness Level</a:t>
            </a:r>
          </a:p>
          <a:p>
            <a:pPr marL="0" indent="0" algn="l">
              <a:lnSpc>
                <a:spcPct val="100000"/>
              </a:lnSpc>
              <a:spcBef>
                <a:spcPts val="200"/>
              </a:spcBef>
              <a:spcAft>
                <a:spcPts val="0"/>
              </a:spcAft>
              <a:buNone/>
            </a:pPr>
            <a:r>
              <a:rPr lang="en-IN" sz="1700" b="1" dirty="0">
                <a:solidFill>
                  <a:srgbClr val="1F2328"/>
                </a:solidFill>
                <a:latin typeface="Times New Roman" panose="02020603050405020304" pitchFamily="18" charset="0"/>
                <a:cs typeface="Times New Roman" panose="02020603050405020304" pitchFamily="18" charset="0"/>
              </a:rPr>
              <a:t>TRL 4: validated in the lab</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Pipeline reproduces on 7 public logs; portal integration is TRL 2-3</a:t>
            </a:r>
          </a:p>
        </p:txBody>
      </p:sp>
      <p:sp>
        <p:nvSpPr>
          <p:cNvPr id="11" name="Outcome 11"/>
          <p:cNvSpPr txBox="1"/>
          <p:nvPr/>
        </p:nvSpPr>
        <p:spPr>
          <a:xfrm>
            <a:off x="7498080" y="4846320"/>
            <a:ext cx="4233672" cy="1325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Outcome</a:t>
            </a:r>
          </a:p>
          <a:p>
            <a:pPr marL="0" indent="0" algn="l">
              <a:lnSpc>
                <a:spcPct val="100000"/>
              </a:lnSpc>
              <a:spcBef>
                <a:spcPts val="200"/>
              </a:spcBef>
              <a:spcAft>
                <a:spcPts val="0"/>
              </a:spcAft>
              <a:buNone/>
            </a:pPr>
            <a:r>
              <a:rPr lang="en-IN" sz="1600" b="1" dirty="0">
                <a:solidFill>
                  <a:srgbClr val="1F2328"/>
                </a:solidFill>
                <a:latin typeface="Times New Roman" panose="02020603050405020304" pitchFamily="18" charset="0"/>
                <a:cs typeface="Times New Roman" panose="02020603050405020304" pitchFamily="18" charset="0"/>
              </a:rPr>
              <a:t>Journal paper (Scopus, SCIE): submitted to JIIS, Springer; under review</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Open, re-runnable code in the project repository</a:t>
            </a:r>
          </a:p>
        </p:txBody>
      </p:sp>
      <p:sp>
        <p:nvSpPr>
          <p:cNvPr id="12"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3" name="Footer Placeholder"/>
          <p:cNvSpPr>
            <a:spLocks noGrp="1"/>
          </p:cNvSpPr>
          <p:nvPr>
            <p:ph type="ftr" sz="quarter" idx="11"/>
          </p:nvPr>
        </p:nvSpPr>
        <p:spPr/>
        <p:txBody>
          <a:bodyPr/>
          <a:lstStyle/>
          <a:p>
            <a:r>
              <a:rPr lang="en-IN"/>
              <a:t>SCOPE</a:t>
            </a:r>
          </a:p>
        </p:txBody>
      </p:sp>
      <p:sp>
        <p:nvSpPr>
          <p:cNvPr id="14" name="Slide Number Placeholder"/>
          <p:cNvSpPr>
            <a:spLocks noGrp="1"/>
          </p:cNvSpPr>
          <p:nvPr>
            <p:ph type="sldNum" sz="quarter" idx="12"/>
          </p:nvPr>
        </p:nvSpPr>
        <p:spPr/>
        <p:txBody>
          <a:bodyPr/>
          <a:lstStyle/>
          <a:p>
            <a:fld id="{65201FD4-9D8D-4491-815B-63C7BF4F0034}" type="slidenum">
              <a:rPr lang="en-IN" smtClean="0"/>
              <a:t>8</a:t>
            </a:fld>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Framework: OCEL 2.0 Model of the Capstone Lifecycle</a:t>
            </a:r>
          </a:p>
        </p:txBody>
      </p:sp>
      <p:pic>
        <p:nvPicPr>
          <p:cNvPr id="3" name="Picture 3" descr="Object types and relations of the capstone lifecycle"/>
          <p:cNvPicPr>
            <a:picLocks noChangeAspect="1"/>
          </p:cNvPicPr>
          <p:nvPr/>
        </p:nvPicPr>
        <p:blipFill>
          <a:blip r:embed="rId2"/>
          <a:stretch>
            <a:fillRect/>
          </a:stretch>
        </p:blipFill>
        <p:spPr>
          <a:xfrm>
            <a:off x="457200" y="1371600"/>
            <a:ext cx="7406640" cy="4144191"/>
          </a:xfrm>
          <a:prstGeom prst="rect">
            <a:avLst/>
          </a:prstGeom>
        </p:spPr>
      </p:pic>
      <p:sp>
        <p:nvSpPr>
          <p:cNvPr id="4" name="Facts 4"/>
          <p:cNvSpPr txBox="1"/>
          <p:nvPr/>
        </p:nvSpPr>
        <p:spPr>
          <a:xfrm>
            <a:off x="8092440" y="1371600"/>
            <a:ext cx="3639312" cy="45262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Documented in the portal docs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object types: student, team, project, guide, report, report version, review stage, 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audited actions become event types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Qualifiers name each role (member-of, guides, has-score)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Scores are write-once; each rejection uses one of 3 attempts</a:t>
            </a:r>
          </a:p>
          <a:p>
            <a:pPr marL="0" indent="0" algn="l">
              <a:lnSpc>
                <a:spcPct val="100000"/>
              </a:lnSpc>
              <a:spcBef>
                <a:spcPts val="1200"/>
              </a:spcBef>
              <a:spcAft>
                <a:spcPts val="0"/>
              </a:spcAft>
              <a:buNone/>
            </a:pPr>
            <a:r>
              <a:rPr lang="en-IN" sz="1400" b="1" dirty="0">
                <a:solidFill>
                  <a:srgbClr val="EB6834"/>
                </a:solidFill>
                <a:latin typeface="Times New Roman" panose="02020603050405020304" pitchFamily="18" charset="0"/>
                <a:cs typeface="Times New Roman" panose="02020603050405020304" pitchFamily="18" charset="0"/>
              </a:rPr>
              <a:t>Design only: </a:t>
            </a:r>
            <a:r>
              <a:rPr lang="en-IN" sz="1400" dirty="0">
                <a:solidFill>
                  <a:srgbClr val="5B616B"/>
                </a:solidFill>
                <a:latin typeface="Times New Roman" panose="02020603050405020304" pitchFamily="18" charset="0"/>
                <a:cs typeface="Times New Roman" panose="02020603050405020304" pitchFamily="18" charset="0"/>
              </a:rPr>
              <a:t>no portal data exists in this study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9</a:t>
            </a:fld>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Architecture / Block Diagram</a:t>
            </a:r>
          </a:p>
        </p:txBody>
      </p:sp>
      <p:pic>
        <p:nvPicPr>
          <p:cNvPr id="3" name="Picture 3" descr="Pipeline from public sources to analysis engines and validation"/>
          <p:cNvPicPr>
            <a:picLocks noChangeAspect="1"/>
          </p:cNvPicPr>
          <p:nvPr/>
        </p:nvPicPr>
        <p:blipFill>
          <a:blip r:embed="rId2"/>
          <a:stretch>
            <a:fillRect/>
          </a:stretch>
        </p:blipFill>
        <p:spPr>
          <a:xfrm>
            <a:off x="1737360" y="1234440"/>
            <a:ext cx="8516876" cy="4937760"/>
          </a:xfrm>
          <a:prstGeom prst="rect">
            <a:avLst/>
          </a:prstGeom>
        </p:spPr>
      </p:pic>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10</a:t>
            </a:fld>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Functional Requirements</a:t>
            </a:r>
          </a:p>
        </p:txBody>
      </p:sp>
      <p:sp>
        <p:nvSpPr>
          <p:cNvPr id="3" name="Shape 3"/>
          <p:cNvSpPr/>
          <p:nvPr/>
        </p:nvSpPr>
        <p:spPr>
          <a:xfrm>
            <a:off x="457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1</a:t>
            </a:r>
          </a:p>
        </p:txBody>
      </p:sp>
      <p:sp>
        <p:nvSpPr>
          <p:cNvPr id="4" name="FR 4"/>
          <p:cNvSpPr txBox="1"/>
          <p:nvPr/>
        </p:nvSpPr>
        <p:spPr>
          <a:xfrm>
            <a:off x="1143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Download datasets from a manifest; check size and MD5 (Zenodo) and record SHA-256</a:t>
            </a:r>
          </a:p>
        </p:txBody>
      </p:sp>
      <p:sp>
        <p:nvSpPr>
          <p:cNvPr id="5" name="Shape 5"/>
          <p:cNvSpPr/>
          <p:nvPr/>
        </p:nvSpPr>
        <p:spPr>
          <a:xfrm>
            <a:off x="457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2</a:t>
            </a:r>
          </a:p>
        </p:txBody>
      </p:sp>
      <p:sp>
        <p:nvSpPr>
          <p:cNvPr id="6" name="FR 6"/>
          <p:cNvSpPr txBox="1"/>
          <p:nvPr/>
        </p:nvSpPr>
        <p:spPr>
          <a:xfrm>
            <a:off x="1143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Extract archives without trusting member paths</a:t>
            </a:r>
          </a:p>
        </p:txBody>
      </p:sp>
      <p:sp>
        <p:nvSpPr>
          <p:cNvPr id="7" name="Shape 7"/>
          <p:cNvSpPr/>
          <p:nvPr/>
        </p:nvSpPr>
        <p:spPr>
          <a:xfrm>
            <a:off x="457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3</a:t>
            </a:r>
          </a:p>
        </p:txBody>
      </p:sp>
      <p:sp>
        <p:nvSpPr>
          <p:cNvPr id="8" name="FR 8"/>
          <p:cNvSpPr txBox="1"/>
          <p:nvPr/>
        </p:nvSpPr>
        <p:spPr>
          <a:xfrm>
            <a:off x="1143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Convert Gerrit (CROP) and OULAD into OCEL 2.0 SQLite</a:t>
            </a:r>
          </a:p>
        </p:txBody>
      </p:sp>
      <p:sp>
        <p:nvSpPr>
          <p:cNvPr id="9" name="Shape 9"/>
          <p:cNvSpPr/>
          <p:nvPr/>
        </p:nvSpPr>
        <p:spPr>
          <a:xfrm>
            <a:off x="457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4</a:t>
            </a:r>
          </a:p>
        </p:txBody>
      </p:sp>
      <p:sp>
        <p:nvSpPr>
          <p:cNvPr id="10" name="FR 10"/>
          <p:cNvSpPr txBox="1"/>
          <p:nvPr/>
        </p:nvSpPr>
        <p:spPr>
          <a:xfrm>
            <a:off x="1143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Load OCEL from SQLite, JSON, XML and parquet bundles, with hashed identifiers</a:t>
            </a:r>
          </a:p>
        </p:txBody>
      </p:sp>
      <p:sp>
        <p:nvSpPr>
          <p:cNvPr id="11" name="Shape 11"/>
          <p:cNvSpPr/>
          <p:nvPr/>
        </p:nvSpPr>
        <p:spPr>
          <a:xfrm>
            <a:off x="6172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5</a:t>
            </a:r>
          </a:p>
        </p:txBody>
      </p:sp>
      <p:sp>
        <p:nvSpPr>
          <p:cNvPr id="12" name="FR 12"/>
          <p:cNvSpPr txBox="1"/>
          <p:nvPr/>
        </p:nvSpPr>
        <p:spPr>
          <a:xfrm>
            <a:off x="6858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Compute flattening distortion for every object type</a:t>
            </a:r>
          </a:p>
        </p:txBody>
      </p:sp>
      <p:sp>
        <p:nvSpPr>
          <p:cNvPr id="13" name="Shape 13"/>
          <p:cNvSpPr/>
          <p:nvPr/>
        </p:nvSpPr>
        <p:spPr>
          <a:xfrm>
            <a:off x="6172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6</a:t>
            </a:r>
          </a:p>
        </p:txBody>
      </p:sp>
      <p:sp>
        <p:nvSpPr>
          <p:cNvPr id="14" name="FR 14"/>
          <p:cNvSpPr txBox="1"/>
          <p:nvPr/>
        </p:nvSpPr>
        <p:spPr>
          <a:xfrm>
            <a:off x="6858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Compare flat and object-centric outputs: rankings, edges, variants, entities</a:t>
            </a:r>
          </a:p>
        </p:txBody>
      </p:sp>
      <p:sp>
        <p:nvSpPr>
          <p:cNvPr id="15" name="Shape 15"/>
          <p:cNvSpPr/>
          <p:nvPr/>
        </p:nvSpPr>
        <p:spPr>
          <a:xfrm>
            <a:off x="6172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7</a:t>
            </a:r>
          </a:p>
        </p:txBody>
      </p:sp>
      <p:sp>
        <p:nvSpPr>
          <p:cNvPr id="16" name="FR 16"/>
          <p:cNvSpPr txBox="1"/>
          <p:nvPr/>
        </p:nvSpPr>
        <p:spPr>
          <a:xfrm>
            <a:off x="6858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Validate with independent implementations</a:t>
            </a:r>
          </a:p>
        </p:txBody>
      </p:sp>
      <p:sp>
        <p:nvSpPr>
          <p:cNvPr id="17" name="Shape 17"/>
          <p:cNvSpPr/>
          <p:nvPr/>
        </p:nvSpPr>
        <p:spPr>
          <a:xfrm>
            <a:off x="6172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8</a:t>
            </a:r>
          </a:p>
        </p:txBody>
      </p:sp>
      <p:sp>
        <p:nvSpPr>
          <p:cNvPr id="18" name="FR 18"/>
          <p:cNvSpPr txBox="1"/>
          <p:nvPr/>
        </p:nvSpPr>
        <p:spPr>
          <a:xfrm>
            <a:off x="6858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Export CSV, JSON and Markdown tables; re-run end to end with one command</a:t>
            </a:r>
          </a:p>
        </p:txBody>
      </p:sp>
      <p:sp>
        <p:nvSpPr>
          <p:cNvPr id="19" name="NFR 19"/>
          <p:cNvSpPr txBox="1"/>
          <p:nvPr/>
        </p:nvSpPr>
        <p:spPr>
          <a:xfrm>
            <a:off x="457200" y="5532120"/>
            <a:ext cx="11274552" cy="68580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Non-functional: </a:t>
            </a:r>
            <a:r>
              <a:rPr lang="en-IN" sz="1500" dirty="0">
                <a:solidFill>
                  <a:srgbClr val="1F2328"/>
                </a:solidFill>
                <a:latin typeface="Times New Roman" panose="02020603050405020304" pitchFamily="18" charset="0"/>
                <a:cs typeface="Times New Roman" panose="02020603050405020304" pitchFamily="18" charset="0"/>
              </a:rPr>
              <a:t>results are byte-for-byte reproducible; personal identifiers are hashed; runs on an 8.6 GB laptop; only openly licensed (CC BY 4.0) data.</a:t>
            </a:r>
          </a:p>
        </p:txBody>
      </p:sp>
      <p:sp>
        <p:nvSpPr>
          <p:cNvPr id="2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21" name="Footer Placeholder"/>
          <p:cNvSpPr>
            <a:spLocks noGrp="1"/>
          </p:cNvSpPr>
          <p:nvPr>
            <p:ph type="ftr" sz="quarter" idx="11"/>
          </p:nvPr>
        </p:nvSpPr>
        <p:spPr/>
        <p:txBody>
          <a:bodyPr/>
          <a:lstStyle/>
          <a:p>
            <a:r>
              <a:rPr lang="en-IN"/>
              <a:t>SCOPE</a:t>
            </a:r>
          </a:p>
        </p:txBody>
      </p:sp>
      <p:sp>
        <p:nvSpPr>
          <p:cNvPr id="22" name="Slide Number Placeholder"/>
          <p:cNvSpPr>
            <a:spLocks noGrp="1"/>
          </p:cNvSpPr>
          <p:nvPr>
            <p:ph type="sldNum" sz="quarter" idx="12"/>
          </p:nvPr>
        </p:nvSpPr>
        <p:spPr/>
        <p:txBody>
          <a:bodyPr/>
          <a:lstStyle/>
          <a:p>
            <a:fld id="{65201FD4-9D8D-4491-815B-63C7BF4F0034}" type="slidenum">
              <a:rPr lang="en-IN" smtClean="0"/>
              <a:t>11</a:t>
            </a:fld>
            <a:endParaRPr lang="en-I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Modules</a:t>
            </a:r>
          </a:p>
        </p:txBody>
      </p:sp>
      <p:graphicFrame>
        <p:nvGraphicFramePr>
          <p:cNvPr id="3" name="Table 3"/>
          <p:cNvGraphicFramePr>
            <a:graphicFrameLocks noGrp="1"/>
          </p:cNvGraphicFramePr>
          <p:nvPr/>
        </p:nvGraphicFramePr>
        <p:xfrm>
          <a:off x="457200" y="1371600"/>
          <a:ext cx="11274552" cy="4379976"/>
        </p:xfrm>
        <a:graphic>
          <a:graphicData uri="http://schemas.openxmlformats.org/drawingml/2006/table">
            <a:tbl>
              <a:tblPr firstRow="1" bandRow="1"/>
              <a:tblGrid>
                <a:gridCol w="640080"/>
                <a:gridCol w="2926080"/>
                <a:gridCol w="3931920"/>
                <a:gridCol w="377647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Module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does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Acquire and verify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fetch_sources.py, extract_archives.py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Resumable download, size + MD5 check (Zenodo), SHA-256 record, safe extraction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 and load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convert_crop.py, convert_oulad.py, ocel_io.py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Gerrit and OULAD to OCEL; load OCEL 2.x; hash identifiers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metrics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Deficiency, convergence, divergence, coupling per object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M4</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consequence.py, discovery.py, bootstrap.py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 vs object-centric rankings, edges, variants, entities, mined models; bootstrap intervals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engine (appendix)</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cooc.py, registry.py, run_cooc.py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11 natural rules on CROP and OULAD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Validation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sql_crosscheck.py, check_consequence.py, check_distortion.py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SQL, brute-force and full-log plain-Python re-implementations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summarize_*.py (distortion, log level, consequence, discovery)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Tables for the report and the 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12</a:t>
            </a:fld>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Live Demonstration</a:t>
            </a:r>
          </a:p>
        </p:txBody>
      </p:sp>
      <p:sp>
        <p:nvSpPr>
          <p:cNvPr id="3" name="Terminal 3"/>
          <p:cNvSpPr txBox="1"/>
          <p:nvPr/>
        </p:nvSpPr>
        <p:spPr>
          <a:xfrm>
            <a:off x="457200" y="1371600"/>
            <a:ext cx="7223760" cy="4663440"/>
          </a:xfrm>
          <a:prstGeom prst="roundRect">
            <a:avLst>
              <a:gd name="adj" fmla="val 6000"/>
            </a:avLst>
          </a:prstGeom>
          <a:solidFill>
            <a:srgbClr val="1F2328"/>
          </a:solidFill>
          <a:ln>
            <a:noFill/>
          </a:ln>
        </p:spPr>
        <p:txBody>
          <a:bodyPr wrap="square" lIns="228600" tIns="160020" rIns="228600" bIns="160020" rtlCol="0" anchor="ctr">
            <a:noAutofit/>
          </a:bodyPr>
          <a:lstStyle/>
          <a:p>
            <a:pPr marL="0" indent="0" algn="l">
              <a:lnSpc>
                <a:spcPct val="100000"/>
              </a:lnSpc>
              <a:spcBef>
                <a:spcPts val="0"/>
              </a:spcBef>
              <a:spcAft>
                <a:spcPts val="600"/>
              </a:spcAft>
              <a:buNone/>
            </a:pPr>
            <a:r>
              <a:rPr lang="en-IN" sz="1700" dirty="0">
                <a:solidFill>
                  <a:srgbClr val="9AD0FF"/>
                </a:solidFill>
                <a:latin typeface="Courier New"/>
                <a:cs typeface="Courier New"/>
              </a:rPr>
              <a:t>cd realdata</a:t>
            </a:r>
          </a:p>
          <a:p>
            <a:pPr marL="0" indent="0" algn="l">
              <a:lnSpc>
                <a:spcPct val="100000"/>
              </a:lnSpc>
              <a:spcBef>
                <a:spcPts val="1400"/>
              </a:spcBef>
              <a:spcAft>
                <a:spcPts val="0"/>
              </a:spcAft>
              <a:buNone/>
            </a:pPr>
            <a:r>
              <a:rPr lang="en-IN" sz="1700" b="1" dirty="0">
                <a:solidFill>
                  <a:srgbClr val="FFB86B"/>
                </a:solidFill>
                <a:latin typeface="Courier New"/>
                <a:cs typeface="Courier New"/>
              </a:rPr>
              <a:t>1  </a:t>
            </a:r>
            <a:r>
              <a:rPr lang="en-IN" sz="1700" dirty="0">
                <a:solidFill>
                  <a:srgbClr val="F5F5F5"/>
                </a:solidFill>
                <a:latin typeface="Courier New"/>
                <a:cs typeface="Courier New"/>
              </a:rPr>
              <a:t>python3 -I src/fetch_sources.py</a:t>
            </a:r>
          </a:p>
          <a:p>
            <a:pPr marL="0" indent="0" algn="l">
              <a:lnSpc>
                <a:spcPct val="100000"/>
              </a:lnSpc>
              <a:spcBef>
                <a:spcPts val="1400"/>
              </a:spcBef>
              <a:spcAft>
                <a:spcPts val="0"/>
              </a:spcAft>
              <a:buNone/>
            </a:pPr>
            <a:r>
              <a:rPr lang="en-IN" sz="1700" b="1" dirty="0">
                <a:solidFill>
                  <a:srgbClr val="FFB86B"/>
                </a:solidFill>
                <a:latin typeface="Courier New"/>
                <a:cs typeface="Courier New"/>
              </a:rPr>
              <a:t>2  </a:t>
            </a:r>
            <a:r>
              <a:rPr lang="en-IN" sz="1700" dirty="0">
                <a:solidFill>
                  <a:srgbClr val="F5F5F5"/>
                </a:solidFill>
                <a:latin typeface="Courier New"/>
                <a:cs typeface="Courier New"/>
              </a:rPr>
              <a:t>.venv/bin/python -I src/check_consequence.py</a:t>
            </a:r>
          </a:p>
          <a:p>
            <a:pPr marL="0" indent="0" algn="l">
              <a:lnSpc>
                <a:spcPct val="100000"/>
              </a:lnSpc>
              <a:spcBef>
                <a:spcPts val="1400"/>
              </a:spcBef>
              <a:spcAft>
                <a:spcPts val="0"/>
              </a:spcAft>
              <a:buNone/>
            </a:pPr>
            <a:r>
              <a:rPr lang="en-IN" sz="1700" b="1" dirty="0">
                <a:solidFill>
                  <a:srgbClr val="FFB86B"/>
                </a:solidFill>
                <a:latin typeface="Courier New"/>
                <a:cs typeface="Courier New"/>
              </a:rPr>
              <a:t>3  </a:t>
            </a:r>
            <a:r>
              <a:rPr lang="en-IN" sz="1700" dirty="0">
                <a:solidFill>
                  <a:srgbClr val="F5F5F5"/>
                </a:solidFill>
                <a:latin typeface="Courier New"/>
                <a:cs typeface="Courier New"/>
              </a:rPr>
              <a:t>.venv/bin/python -I src/distortion.py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4  </a:t>
            </a:r>
            <a:r>
              <a:rPr lang="en-IN" sz="1700" dirty="0">
                <a:solidFill>
                  <a:srgbClr val="F5F5F5"/>
                </a:solidFill>
                <a:latin typeface="Courier New"/>
                <a:cs typeface="Courier New"/>
              </a:rPr>
              <a:t>.venv/bin/python -I src/consequence.py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5  </a:t>
            </a:r>
            <a:r>
              <a:rPr lang="en-IN" sz="1700" dirty="0">
                <a:solidFill>
                  <a:srgbClr val="F5F5F5"/>
                </a:solidFill>
                <a:latin typeface="Courier New"/>
                <a:cs typeface="Courier New"/>
              </a:rPr>
              <a:t>open results/consequence_by_log.md</a:t>
            </a:r>
          </a:p>
        </p:txBody>
      </p:sp>
      <p:sp>
        <p:nvSpPr>
          <p:cNvPr id="4" name="Explain 4"/>
          <p:cNvSpPr txBox="1"/>
          <p:nvPr/>
        </p:nvSpPr>
        <p:spPr>
          <a:xfrm>
            <a:off x="7909560" y="1371600"/>
            <a:ext cx="3822192" cy="4663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the panel will see</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all 8 sources already present</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self-check against a plain-Python version</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flat[...] table for Enron (about 10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rankings, edges, variants (about 4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the cross-log summary table</a:t>
            </a:r>
          </a:p>
          <a:p>
            <a:pPr marL="0" indent="0" algn="l">
              <a:lnSpc>
                <a:spcPct val="100000"/>
              </a:lnSpc>
              <a:spcBef>
                <a:spcPts val="1400"/>
              </a:spcBef>
              <a:spcAft>
                <a:spcPts val="0"/>
              </a:spcAft>
              <a:buNone/>
            </a:pPr>
            <a:r>
              <a:rPr lang="en-IN" sz="1300" i="1" dirty="0">
                <a:solidFill>
                  <a:srgbClr val="5B616B"/>
                </a:solidFill>
                <a:latin typeface="Times New Roman" panose="02020603050405020304" pitchFamily="18" charset="0"/>
                <a:cs typeface="Times New Roman" panose="02020603050405020304" pitchFamily="18" charset="0"/>
              </a:rPr>
              <a:t>Full run: make study (6 min 6 s on our laptop)</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13</a:t>
            </a:fld>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Distortion</a:t>
            </a:r>
          </a:p>
        </p:txBody>
      </p:sp>
      <p:pic>
        <p:nvPicPr>
          <p:cNvPr id="3" name="Picture 3" descr="Event duplication versus events dropped for seven real logs"/>
          <p:cNvPicPr>
            <a:picLocks noChangeAspect="1"/>
          </p:cNvPicPr>
          <p:nvPr/>
        </p:nvPicPr>
        <p:blipFill>
          <a:blip r:embed="rId2"/>
          <a:stretch>
            <a:fillRect/>
          </a:stretch>
        </p:blipFill>
        <p:spPr>
          <a:xfrm>
            <a:off x="365760" y="1325880"/>
            <a:ext cx="7223760" cy="4352778"/>
          </a:xfrm>
          <a:prstGeom prst="rect">
            <a:avLst/>
          </a:prstGeom>
        </p:spPr>
      </p:pic>
      <p:sp>
        <p:nvSpPr>
          <p:cNvPr id="4" name="Takeaways 4"/>
          <p:cNvSpPr txBox="1"/>
          <p:nvPr/>
        </p:nvSpPr>
        <p:spPr>
          <a:xfrm>
            <a:off x="7772400" y="1371600"/>
            <a:ext cx="3959352"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Three kinds of log</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2A78D6"/>
                </a:solidFill>
                <a:latin typeface="Times New Roman" panose="02020603050405020304" pitchFamily="18" charset="0"/>
                <a:cs typeface="Times New Roman" panose="02020603050405020304" pitchFamily="18" charset="0"/>
              </a:rPr>
              <a:t>Star </a:t>
            </a:r>
            <a:r>
              <a:rPr lang="en-IN" sz="1500" dirty="0">
                <a:solidFill>
                  <a:srgbClr val="1F2328"/>
                </a:solidFill>
                <a:latin typeface="Times New Roman" panose="02020603050405020304" pitchFamily="18" charset="0"/>
                <a:cs typeface="Times New Roman" panose="02020603050405020304" pitchFamily="18" charset="0"/>
              </a:rPr>
              <a:t>(CROP, OULAD): one object per type per event, no duplication</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EB6834"/>
                </a:solidFill>
                <a:latin typeface="Times New Roman" panose="02020603050405020304" pitchFamily="18" charset="0"/>
                <a:cs typeface="Times New Roman" panose="02020603050405020304" pitchFamily="18" charset="0"/>
              </a:rPr>
              <a:t>Partitioned </a:t>
            </a:r>
            <a:r>
              <a:rPr lang="en-IN" sz="1500" dirty="0">
                <a:solidFill>
                  <a:srgbClr val="1F2328"/>
                </a:solidFill>
                <a:latin typeface="Times New Roman" panose="02020603050405020304" pitchFamily="18" charset="0"/>
                <a:cs typeface="Times New Roman" panose="02020603050405020304" pitchFamily="18" charset="0"/>
              </a:rPr>
              <a:t>(Bundestag, Age of Empires, Ethereum): one case notion drops 69-91% of events</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1BAF7A"/>
                </a:solidFill>
                <a:latin typeface="Times New Roman" panose="02020603050405020304" pitchFamily="18" charset="0"/>
                <a:cs typeface="Times New Roman" panose="02020603050405020304" pitchFamily="18" charset="0"/>
              </a:rPr>
              <a:t>Fan-out </a:t>
            </a:r>
            <a:r>
              <a:rPr lang="en-IN" sz="1500" dirty="0">
                <a:solidFill>
                  <a:srgbClr val="1F2328"/>
                </a:solidFill>
                <a:latin typeface="Times New Roman" panose="02020603050405020304" pitchFamily="18" charset="0"/>
                <a:cs typeface="Times New Roman" panose="02020603050405020304" pitchFamily="18" charset="0"/>
              </a:rPr>
              <a:t>(Angular, Enron): real duplication, up to 81.7 copies of an event</a:t>
            </a:r>
          </a:p>
          <a:p>
            <a:pPr marL="0" indent="0" algn="l">
              <a:lnSpc>
                <a:spcPct val="100000"/>
              </a:lnSpc>
              <a:spcBef>
                <a:spcPts val="120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Across all logs, most object types share more than half their objects between cases.</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14</a:t>
            </a:fld>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Consequences</a:t>
            </a:r>
          </a:p>
        </p:txBody>
      </p:sp>
      <p:pic>
        <p:nvPicPr>
          <p:cNvPr id="3" name="Picture 3" descr="Activity ranking agreement per log"/>
          <p:cNvPicPr>
            <a:picLocks noChangeAspect="1"/>
          </p:cNvPicPr>
          <p:nvPr/>
        </p:nvPicPr>
        <p:blipFill>
          <a:blip r:embed="rId2"/>
          <a:stretch>
            <a:fillRect/>
          </a:stretch>
        </p:blipFill>
        <p:spPr>
          <a:xfrm>
            <a:off x="365760" y="1234440"/>
            <a:ext cx="5669280" cy="3543300"/>
          </a:xfrm>
          <a:prstGeom prst="rect">
            <a:avLst/>
          </a:prstGeom>
        </p:spPr>
      </p:pic>
      <p:pic>
        <p:nvPicPr>
          <p:cNvPr id="4" name="Picture 4" descr="Entity ranking agreement per log"/>
          <p:cNvPicPr>
            <a:picLocks noChangeAspect="1"/>
          </p:cNvPicPr>
          <p:nvPr/>
        </p:nvPicPr>
        <p:blipFill>
          <a:blip r:embed="rId3"/>
          <a:stretch>
            <a:fillRect/>
          </a:stretch>
        </p:blipFill>
        <p:spPr>
          <a:xfrm>
            <a:off x="6172200" y="1234440"/>
            <a:ext cx="5669280" cy="3543300"/>
          </a:xfrm>
          <a:prstGeom prst="rect">
            <a:avLst/>
          </a:prstGeom>
        </p:spPr>
      </p:pic>
      <p:sp>
        <p:nvSpPr>
          <p:cNvPr id="5" name="Findings 5"/>
          <p:cNvSpPr txBox="1"/>
          <p:nvPr/>
        </p:nvSpPr>
        <p:spPr>
          <a:xfrm>
            <a:off x="457200" y="4846320"/>
            <a:ext cx="11274552" cy="1417320"/>
          </a:xfrm>
          <a:prstGeom prst="rect">
            <a:avLst/>
          </a:prstGeom>
          <a:noFill/>
          <a:ln>
            <a:noFill/>
          </a:ln>
        </p:spPr>
        <p:txBody>
          <a:bodyPr wrap="square" lIns="109728" tIns="76810" rIns="109728" bIns="76810" rtlCol="0" anchor="t">
            <a:noAutofit/>
          </a:bodyPr>
          <a:lstStyle/>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Duplication alone barely reorders activity rankings: </a:t>
            </a:r>
            <a:r>
              <a:rPr lang="en-IN" sz="1400" dirty="0">
                <a:solidFill>
                  <a:srgbClr val="1F2328"/>
                </a:solidFill>
                <a:latin typeface="Times New Roman" panose="02020603050405020304" pitchFamily="18" charset="0"/>
                <a:cs typeface="Times New Roman" panose="02020603050405020304" pitchFamily="18" charset="0"/>
              </a:rPr>
              <a:t>only 2 of 38 case notions fall below rank correlation 0.95.</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Narrowing is the real effect: </a:t>
            </a:r>
            <a:r>
              <a:rPr lang="en-IN" sz="1400" dirty="0">
                <a:solidFill>
                  <a:srgbClr val="1F2328"/>
                </a:solidFill>
                <a:latin typeface="Times New Roman" panose="02020603050405020304" pitchFamily="18" charset="0"/>
                <a:cs typeface="Times New Roman" panose="02020603050405020304" pitchFamily="18" charset="0"/>
              </a:rPr>
              <a:t>in 20 of 38 case notions the flat log shows fewer than half of the process's activities.</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Careless counting is risky: </a:t>
            </a:r>
            <a:r>
              <a:rPr lang="en-IN" sz="1400" dirty="0">
                <a:solidFill>
                  <a:srgbClr val="1F2328"/>
                </a:solidFill>
                <a:latin typeface="Times New Roman" panose="02020603050405020304" pitchFamily="18" charset="0"/>
                <a:cs typeface="Times New Roman" panose="02020603050405020304" pitchFamily="18" charset="0"/>
              </a:rPr>
              <a:t>entity rankings from a denormalised export reach correlation 0.16 (Enron), -0.01 (Ethereum) and -0.41 (Age of Empires) in the worst case.</a:t>
            </a:r>
          </a:p>
        </p:txBody>
      </p:sp>
      <p:sp>
        <p:nvSpPr>
          <p:cNvPr id="6"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7" name="Footer Placeholder"/>
          <p:cNvSpPr>
            <a:spLocks noGrp="1"/>
          </p:cNvSpPr>
          <p:nvPr>
            <p:ph type="ftr" sz="quarter" idx="11"/>
          </p:nvPr>
        </p:nvSpPr>
        <p:spPr/>
        <p:txBody>
          <a:bodyPr/>
          <a:lstStyle/>
          <a:p>
            <a:r>
              <a:rPr lang="en-IN"/>
              <a:t>SCOPE</a:t>
            </a:r>
          </a:p>
        </p:txBody>
      </p:sp>
      <p:sp>
        <p:nvSpPr>
          <p:cNvPr id="8" name="Slide Number Placeholder"/>
          <p:cNvSpPr>
            <a:spLocks noGrp="1"/>
          </p:cNvSpPr>
          <p:nvPr>
            <p:ph type="sldNum" sz="quarter" idx="12"/>
          </p:nvPr>
        </p:nvSpPr>
        <p:spPr/>
        <p:txBody>
          <a:bodyPr/>
          <a:lstStyle/>
          <a:p>
            <a:fld id="{65201FD4-9D8D-4491-815B-63C7BF4F0034}" type="slidenum">
              <a:rPr lang="en-IN" smtClean="0"/>
              <a:t>15</a:t>
            </a:fld>
            <a:endParaRPr lang="en-I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Process Discovery</a:t>
            </a:r>
          </a:p>
        </p:txBody>
      </p:sp>
      <p:pic>
        <p:nvPicPr>
          <p:cNvPr id="3" name="Picture 3" descr="Replay fitness against the share of activities in the discovered model"/>
          <p:cNvPicPr>
            <a:picLocks noChangeAspect="1"/>
          </p:cNvPicPr>
          <p:nvPr/>
        </p:nvPicPr>
        <p:blipFill>
          <a:blip r:embed="rId2"/>
          <a:stretch>
            <a:fillRect/>
          </a:stretch>
        </p:blipFill>
        <p:spPr>
          <a:xfrm>
            <a:off x="365760" y="1280160"/>
            <a:ext cx="7223760" cy="4260166"/>
          </a:xfrm>
          <a:prstGeom prst="rect">
            <a:avLst/>
          </a:prstGeom>
        </p:spPr>
      </p:pic>
      <p:sp>
        <p:nvSpPr>
          <p:cNvPr id="4" name="Takeaways 4"/>
          <p:cNvSpPr txBox="1"/>
          <p:nvPr/>
        </p:nvSpPr>
        <p:spPr>
          <a:xfrm>
            <a:off x="7772400" y="1371600"/>
            <a:ext cx="3959352" cy="4754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a miner gives you</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37 of 38 </a:t>
            </a:r>
            <a:r>
              <a:rPr lang="en-IN" sz="1500" dirty="0">
                <a:solidFill>
                  <a:srgbClr val="1F2328"/>
                </a:solidFill>
                <a:latin typeface="Times New Roman" panose="02020603050405020304" pitchFamily="18" charset="0"/>
                <a:cs typeface="Times New Roman" panose="02020603050405020304" pitchFamily="18" charset="0"/>
              </a:rPr>
              <a:t>case notions mined (Inductive Miner)</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Fitness 0.955 to 1.000 </a:t>
            </a:r>
            <a:r>
              <a:rPr lang="en-IN" sz="1500" dirty="0">
                <a:solidFill>
                  <a:srgbClr val="1F2328"/>
                </a:solidFill>
                <a:latin typeface="Times New Roman" panose="02020603050405020304" pitchFamily="18" charset="0"/>
                <a:cs typeface="Times New Roman" panose="02020603050405020304" pitchFamily="18" charset="0"/>
              </a:rPr>
              <a:t>for every model, yet 20 show under half the activities</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Divergence becomes loops: </a:t>
            </a:r>
            <a:r>
              <a:rPr lang="en-IN" sz="1500" dirty="0">
                <a:solidFill>
                  <a:srgbClr val="1F2328"/>
                </a:solidFill>
                <a:latin typeface="Times New Roman" panose="02020603050405020304" pitchFamily="18" charset="0"/>
                <a:cs typeface="Times New Roman" panose="02020603050405020304" pitchFamily="18" charset="0"/>
              </a:rPr>
              <a:t>loop share rises with divergence (rho 0.69)</a:t>
            </a:r>
          </a:p>
          <a:p>
            <a:pPr marL="285750" indent="-285750" algn="l">
              <a:lnSpc>
                <a:spcPct val="100000"/>
              </a:lnSpc>
              <a:spcBef>
                <a:spcPts val="900"/>
              </a:spcBef>
              <a:spcAft>
                <a:spcPts val="0"/>
              </a:spcAft>
              <a:buFont typeface="Arial" panose="020B0604020202020204" pitchFamily="34" charset="0"/>
              <a:buChar char="•"/>
            </a:pPr>
            <a:r>
              <a:rPr lang="en-IN" sz="1500" b="1" dirty="0">
                <a:solidFill>
                  <a:srgbClr val="1F2328"/>
                </a:solidFill>
                <a:latin typeface="Times New Roman" panose="02020603050405020304" pitchFamily="18" charset="0"/>
                <a:cs typeface="Times New Roman" panose="02020603050405020304" pitchFamily="18" charset="0"/>
              </a:rPr>
              <a:t>Precision as low as 0.04 </a:t>
            </a:r>
            <a:r>
              <a:rPr lang="en-IN" sz="1500" dirty="0">
                <a:solidFill>
                  <a:srgbClr val="1F2328"/>
                </a:solidFill>
                <a:latin typeface="Times New Roman" panose="02020603050405020304" pitchFamily="18" charset="0"/>
                <a:cs typeface="Times New Roman" panose="02020603050405020304" pitchFamily="18" charset="0"/>
              </a:rPr>
              <a:t>in models that loop over almost everything</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16</a:t>
            </a:fld>
            <a:endParaRPr lang="en-I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Testing and Validation</a:t>
            </a:r>
          </a:p>
        </p:txBody>
      </p:sp>
      <p:graphicFrame>
        <p:nvGraphicFramePr>
          <p:cNvPr id="3" name="Table 3"/>
          <p:cNvGraphicFramePr>
            <a:graphicFrameLocks noGrp="1"/>
          </p:cNvGraphicFramePr>
          <p:nvPr/>
        </p:nvGraphicFramePr>
        <p:xfrm>
          <a:off x="457200" y="1371600"/>
          <a:ext cx="11274552" cy="3822192"/>
        </p:xfrm>
        <a:graphic>
          <a:graphicData uri="http://schemas.openxmlformats.org/drawingml/2006/table">
            <a:tbl>
              <a:tblPr firstRow="1" bandRow="1"/>
              <a:tblGrid>
                <a:gridCol w="3108960"/>
                <a:gridCol w="5120640"/>
                <a:gridCol w="3044952"/>
              </a:tblGrid>
              <a:tr h="384048">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proves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Result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Download integrity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files match the published size and MD5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size + MD5 checked; every file: SHA-256 recorded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Reproducibility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Re-running gives the same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All tracked results byte-identical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 cross-check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code matches independent SQL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4 of 4 CROP rules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Brute-force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Fast code equals plain Python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pairs identical on 4 case notions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Pandas metrics equal a plain-Python version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Identical on all 7 full logs: 87 notions, 294 type pairs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Bootstrap reproduction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Resampling code matches the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38 of 38 case notions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recomputation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OULAD counts match raw CSVs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15,348 / 415 / 29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4297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Bugs our own checks found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Verification is not a formality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 fixed: duplicate events, missed abandon form, tie-breaking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Limits 4"/>
          <p:cNvSpPr txBox="1"/>
          <p:nvPr/>
        </p:nvSpPr>
        <p:spPr>
          <a:xfrm>
            <a:off x="457200" y="5715000"/>
            <a:ext cx="11274552" cy="64008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EB6834"/>
                </a:solidFill>
                <a:latin typeface="Times New Roman" panose="02020603050405020304" pitchFamily="18" charset="0"/>
                <a:cs typeface="Times New Roman" panose="02020603050405020304" pitchFamily="18" charset="0"/>
              </a:rPr>
              <a:t>What we did not do: </a:t>
            </a:r>
            <a:r>
              <a:rPr lang="en-IN" sz="1500" dirty="0">
                <a:solidFill>
                  <a:srgbClr val="1F2328"/>
                </a:solidFill>
                <a:latin typeface="Times New Roman" panose="02020603050405020304" pitchFamily="18" charset="0"/>
                <a:cs typeface="Times New Roman" panose="02020603050405020304" pitchFamily="18" charset="0"/>
              </a:rPr>
              <a:t>independent human labelling; the activity rankings are re-checked only by the bootstrap code; the converters are checked by us only.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17</a:t>
            </a:fld>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Conclusion and Future Work</a:t>
            </a:r>
          </a:p>
        </p:txBody>
      </p:sp>
      <p:sp>
        <p:nvSpPr>
          <p:cNvPr id="3" name="Conclusion 3"/>
          <p:cNvSpPr txBox="1"/>
          <p:nvPr/>
        </p:nvSpPr>
        <p:spPr>
          <a:xfrm>
            <a:off x="457200"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2A78D6"/>
                </a:solidFill>
                <a:latin typeface="Times New Roman" panose="02020603050405020304" pitchFamily="18" charset="0"/>
                <a:cs typeface="Times New Roman" panose="02020603050405020304" pitchFamily="18" charset="0"/>
              </a:rPr>
              <a:t>Conclusion</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We built a reproducible, checked OCEL 2.0 pipeline on 7 real public logs.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Flattening duplicates events only in fan-out logs; the common effect is narrowing.</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Mined models look healthy (fitness 0.955 or more) even when they show a sliver of the process.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Naive entity counts from flat exports can mislead badly.</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The capstone model is a design; no portal data was available to test it.</a:t>
            </a:r>
          </a:p>
        </p:txBody>
      </p:sp>
      <p:sp>
        <p:nvSpPr>
          <p:cNvPr id="4" name="Future 4"/>
          <p:cNvSpPr txBox="1"/>
          <p:nvPr/>
        </p:nvSpPr>
        <p:spPr>
          <a:xfrm>
            <a:off x="6199632"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EB6834"/>
                </a:solidFill>
                <a:latin typeface="Times New Roman" panose="02020603050405020304" pitchFamily="18" charset="0"/>
                <a:cs typeface="Times New Roman" panose="02020603050405020304" pitchFamily="18" charset="0"/>
              </a:rPr>
              <a:t>Future work</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Independent two-rater labelling of the real-data findings.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Predictive-monitoring comparisons, and the discovery comparison with other miners.</a:t>
            </a:r>
          </a:p>
          <a:p>
            <a:pPr marL="285750" indent="-285750" algn="l">
              <a:lnSpc>
                <a:spcPct val="100000"/>
              </a:lnSpc>
              <a:spcBef>
                <a:spcPts val="1200"/>
              </a:spcBef>
              <a:spcAft>
                <a:spcPts val="0"/>
              </a:spcAft>
              <a:buFont typeface="Arial" panose="020B0604020202020204" pitchFamily="34" charset="0"/>
              <a:buChar char="•"/>
            </a:pPr>
            <a:r>
              <a:rPr lang="en-IN" sz="1800" dirty="0">
                <a:solidFill>
                  <a:srgbClr val="1F2328"/>
                </a:solidFill>
                <a:latin typeface="Times New Roman" panose="02020603050405020304" pitchFamily="18" charset="0"/>
                <a:cs typeface="Times New Roman" panose="02020603050405020304" pitchFamily="18" charset="0"/>
              </a:rPr>
              <a:t>Answer the JIIS reviewers and revise the paper.</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18</a:t>
            </a:fld>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Outcome Achieved</a:t>
            </a:r>
          </a:p>
        </p:txBody>
      </p:sp>
      <p:graphicFrame>
        <p:nvGraphicFramePr>
          <p:cNvPr id="3" name="Table 3"/>
          <p:cNvGraphicFramePr>
            <a:graphicFrameLocks noGrp="1"/>
          </p:cNvGraphicFramePr>
          <p:nvPr/>
        </p:nvGraphicFramePr>
        <p:xfrm>
          <a:off x="457200" y="1371600"/>
          <a:ext cx="11274552" cy="3429000"/>
        </p:xfrm>
        <a:graphic>
          <a:graphicData uri="http://schemas.openxmlformats.org/drawingml/2006/table">
            <a:tbl>
              <a:tblPr firstRow="1" bandRow="1"/>
              <a:tblGrid>
                <a:gridCol w="3840480"/>
                <a:gridCol w="7434072"/>
              </a:tblGrid>
              <a:tr h="457200">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Outcome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Status today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Patent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filed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International conference proceedings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submitted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Journal publication (Scopus-indexed)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Submitted to the Journal of Intelligent Information Systems (Springer; Scopus, SCIE), 27 Oct 2026; under review</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Start-up</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Others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Open, re-runnable code and result tables in the project repository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Proof 4"/>
          <p:cNvSpPr txBox="1"/>
          <p:nvPr/>
        </p:nvSpPr>
        <p:spPr>
          <a:xfrm>
            <a:off x="457200" y="4937760"/>
            <a:ext cx="11274552" cy="118872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Proof to upload: </a:t>
            </a:r>
            <a:r>
              <a:rPr lang="en-IN" sz="1500" dirty="0">
                <a:solidFill>
                  <a:srgbClr val="1F2328"/>
                </a:solidFill>
                <a:latin typeface="Times New Roman" panose="02020603050405020304" pitchFamily="18" charset="0"/>
                <a:cs typeface="Times New Roman" panose="02020603050405020304" pitchFamily="18" charset="0"/>
              </a:rPr>
              <a:t>the Springer submission acknowledgement e-mail, manuscript number </a:t>
            </a:r>
            <a:r>
              <a:rPr lang="en-IN" sz="15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500" dirty="0">
                <a:solidFill>
                  <a:srgbClr val="1F2328"/>
                </a:solidFill>
                <a:latin typeface="Times New Roman" panose="02020603050405020304" pitchFamily="18" charset="0"/>
                <a:cs typeface="Times New Roman" panose="02020603050405020304" pitchFamily="18" charset="0"/>
              </a:rPr>
              <a:t>. Acceptance is not yet decided.</a:t>
            </a:r>
          </a:p>
          <a:p>
            <a:pPr marL="0" indent="0" algn="l">
              <a:lnSpc>
                <a:spcPct val="100000"/>
              </a:lnSpc>
              <a:spcBef>
                <a:spcPts val="800"/>
              </a:spcBef>
              <a:spcAft>
                <a:spcPts val="0"/>
              </a:spcAft>
              <a:buNone/>
            </a:pPr>
            <a:r>
              <a:rPr lang="en-IN" sz="1400" b="1" dirty="0">
                <a:solidFill>
                  <a:srgbClr val="5B616B"/>
                </a:solidFill>
                <a:latin typeface="Times New Roman" panose="02020603050405020304" pitchFamily="18" charset="0"/>
                <a:cs typeface="Times New Roman" panose="02020603050405020304" pitchFamily="18" charset="0"/>
              </a:rPr>
              <a:t>Outcome form (Google form, due 27 Oct 2026): </a:t>
            </a:r>
            <a:r>
              <a:rPr lang="en-IN" sz="1400" dirty="0">
                <a:solidFill>
                  <a:srgbClr val="1F2328"/>
                </a:solidFill>
                <a:highlight>
                  <a:srgbClr val="FFFF00"/>
                </a:highlight>
                <a:latin typeface="Times New Roman" panose="02020603050405020304" pitchFamily="18" charset="0"/>
                <a:cs typeface="Times New Roman" panose="02020603050405020304" pitchFamily="18" charset="0"/>
              </a:rPr>
              <a:t>[confirm submitted]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19</a:t>
            </a:fld>
            <a:endParaRPr lang="en-I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References</a:t>
            </a:r>
          </a:p>
        </p:txBody>
      </p:sp>
      <p:sp>
        <p:nvSpPr>
          <p:cNvPr id="3" name="Refs left 3"/>
          <p:cNvSpPr txBox="1"/>
          <p:nvPr/>
        </p:nvSpPr>
        <p:spPr>
          <a:xfrm>
            <a:off x="457200" y="1280160"/>
            <a:ext cx="5577840" cy="5029200"/>
          </a:xfrm>
          <a:prstGeom prst="rect">
            <a:avLst/>
          </a:prstGeom>
          <a:noFill/>
          <a:ln>
            <a:noFill/>
          </a:ln>
        </p:spPr>
        <p:txBody>
          <a:bodyPr wrap="square" lIns="109728" tIns="76810" rIns="109728" bIns="76810" rtlCol="0" anchor="t">
            <a:noAutofit/>
          </a:bodyPr>
          <a:lstStyle/>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 W. M. P. van der Aalst, "Object-centric process mining: Dealing with divergence and convergence in event data," in SEFM, LNCS, Springer, 2019, pp. 3-25.</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[2] A. Berti et al., "OCEL (Object-Centric Event Log) 2.0 specification," arXiv:2403.01975, 2024.</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[3] J. N. Adams, G. Park, and W. M. P. van der Aalst, "Preserving complex object-centric graph structures to improve machine learning tasks in process mining," Eng. Appl. Artif. Intell., vol. 125, p. 106764, 2023.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[4] J. N. Adams and W. M. P. van der Aalst, "Addressing convergence, divergence, and deficiency issues," LNBIP, Springer, 2024.</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[5] P. Waibel, L. Pfahlsberger, K. Revoredo, and J. Mendling, "Causal process mining from relational databases with domain knowledge," arXiv:2202.08314, 2022.</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[6] M. Kabierski et al., "Data quality in object-centric event data: Issues classification and evaluation," Process Science, vol. 3, 2026.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[7] N. Miri, S. Khayatbashi, J. Zdravkovic, and A. Jalali, "An object-centric approach to multi-entity educational process mining," Decis. Anal. J., vol. 19, p. 100724, 2026.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[8] J. Kuzilek, M. Hlosta, and Z. Zdrahal, "Open University Learning Analytics dataset," Sci. Data, vol. 4, p. 170171, 2017.</a:t>
            </a:r>
          </a:p>
        </p:txBody>
      </p:sp>
      <p:sp>
        <p:nvSpPr>
          <p:cNvPr id="4" name="Refs right 4"/>
          <p:cNvSpPr txBox="1"/>
          <p:nvPr/>
        </p:nvSpPr>
        <p:spPr>
          <a:xfrm>
            <a:off x="6172200" y="1280160"/>
            <a:ext cx="5577840" cy="5029200"/>
          </a:xfrm>
          <a:prstGeom prst="rect">
            <a:avLst/>
          </a:prstGeom>
          <a:noFill/>
          <a:ln>
            <a:noFill/>
          </a:ln>
        </p:spPr>
        <p:txBody>
          <a:bodyPr wrap="square" lIns="109728" tIns="76810" rIns="109728" bIns="76810" rtlCol="0" anchor="t">
            <a:noAutofit/>
          </a:bodyPr>
          <a:lstStyle/>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[9] M. Paixao, J. Krinke, D. Han, and M. Harman, "CROP: Linking code reviews to source code changes," in Proc. MSR, 2018.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[10] H. Hassani et al., "Supervision of undergraduate final year projects in computing: A case study," Educ. Sci., vol. 8, no. 4, p. 210, 2018.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[11] W. Premchaiswadi and P. Porouhan, "Process modeling and bottleneck mining in online peer-review systems," SpringerPlus, vol. 4, p. 441, 2015.</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[12] S. J. J. Leemans, D. Fahland, and W. M. P. van der Aalst, "Discovering block-structured process models from event logs containing infrequent behaviour," in BPM Workshops, LNBIP 171, Springer, 2014, pp. 66-78.</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[13] A. Berti and W. M. P. van der Aalst, "Reviving token-based replay: Increasing speed while improving diagnostics," in ATAED, CEUR-WS 2371, 2019, pp. 87-103.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[14] J. Munoz-Gama and J. Carmona, "A fresh look at precision in process conformance," in BPM, LNCS 6336, Springer, 2010, pp. 211-226.</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[15] A. Berti, S. van Zelst, and D. Schuster, "PM4Py: A process mining library for Python," Softw. Impacts, vol. 17, p. 100556, 2023.</a:t>
            </a:r>
          </a:p>
          <a:p>
            <a:pPr marL="0" indent="0" algn="l">
              <a:lnSpc>
                <a:spcPct val="100000"/>
              </a:lnSpc>
              <a:spcBef>
                <a:spcPts val="500"/>
              </a:spcBef>
              <a:spcAft>
                <a:spcPts val="0"/>
              </a:spcAft>
              <a:buNone/>
            </a:pPr>
            <a:r>
              <a:rPr lang="en-IN" sz="1200" dirty="0">
                <a:solidFill>
                  <a:srgbClr val="1F2328"/>
                </a:solidFill>
                <a:latin typeface="Times New Roman" panose="02020603050405020304" pitchFamily="18" charset="0"/>
                <a:cs typeface="Times New Roman" panose="02020603050405020304" pitchFamily="18" charset="0"/>
              </a:rPr>
              <a:t>[16] Datasets (CC BY 4.0): Zenodo 16811928 (Bundestag), 21989732 (Enron), 21989580 (Ethereum), 13365584 (Age of Empires), 8430332 (Angular), 3599150 (CROP); UCI 10.24432/C5KK69 (OULAD).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20</a:t>
            </a:fld>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20</Slides>
  <Notes>20</Notes>
  <HiddenSlides>0</HiddenSlides>
  <MMClips>0</MMClips>
  <ScaleCrop>false</ScaleCrop>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