
<file path=[Content_Types].xml><?xml version="1.0" encoding="utf-8"?>
<Types xmlns="http://schemas.openxmlformats.org/package/2006/content-types">
  <Default Extension="xml" ContentType="application/xml"/>
  <Default Extension="jpeg" ContentType="image/jpeg"/>
  <Default Extension="bin" ContentType="application/vnd.openxmlformats-officedocument.presentationml.printerSettings"/>
  <Default Extension="png" ContentType="image/png"/>
  <Default Extension="rels" ContentType="application/vnd.openxmlformats-package.relationships+xml"/>
  <Override PartName="/ppt/presentation.xml" ContentType="application/vnd.openxmlformats-officedocument.presentationml.presentation.main+xml"/>
  <Override PartName="/ppt/slideMasters/slideMaster1.xml" ContentType="application/vnd.openxmlformats-officedocument.presentationml.slideMaster+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4" Type="http://schemas.openxmlformats.org/officeDocument/2006/relationships/extended-properties" Target="docProps/app.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16"/>
  </p:notesMasterIdLst>
  <p:sldIdLst>
    <p:sldId id="256" r:id="rId101"/>
    <p:sldId id="257" r:id="rId102"/>
    <p:sldId id="258" r:id="rId103"/>
    <p:sldId id="259" r:id="rId104"/>
    <p:sldId id="260" r:id="rId105"/>
    <p:sldId id="261" r:id="rId106"/>
    <p:sldId id="262" r:id="rId107"/>
    <p:sldId id="263" r:id="rId108"/>
    <p:sldId id="264" r:id="rId109"/>
    <p:sldId id="265" r:id="rId110"/>
    <p:sldId id="266" r:id="rId111"/>
    <p:sldId id="267" r:id="rId112"/>
    <p:sldId id="268" r:id="rId113"/>
    <p:sldId id="269" r:id="rId114"/>
    <p:sldId id="270" r:id="rId115"/>
    <p:sldId id="271" r:id="rId116"/>
    <p:sldId id="272" r:id="rId117"/>
    <p:sldId id="273" r:id="rId118"/>
    <p:sldId id="274" r:id="rId1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6" d="100"/>
          <a:sy n="76" d="100"/>
        </p:scale>
        <p:origin x="-1232" y="-104"/>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0" Type="http://schemas.openxmlformats.org/officeDocument/2006/relationships/theme" Target="theme/theme1.xml"/><Relationship Id="rId21" Type="http://schemas.openxmlformats.org/officeDocument/2006/relationships/tableStyles" Target="tableStyles.xml"/><Relationship Id="rId16" Type="http://schemas.openxmlformats.org/officeDocument/2006/relationships/notesMaster" Target="notesMasters/notesMaster1.xml"/><Relationship Id="rId17" Type="http://schemas.openxmlformats.org/officeDocument/2006/relationships/printerSettings" Target="printerSettings/printerSettings1.bin"/><Relationship Id="rId18" Type="http://schemas.openxmlformats.org/officeDocument/2006/relationships/presProps" Target="presProps.xml"/><Relationship Id="rId19" Type="http://schemas.openxmlformats.org/officeDocument/2006/relationships/viewProps" Target="viewProps.xml"/><Relationship Id="rId1" Type="http://schemas.openxmlformats.org/officeDocument/2006/relationships/slideMaster" Target="slideMasters/slideMaster1.xml"/><Relationship Id="rId101" Type="http://schemas.openxmlformats.org/officeDocument/2006/relationships/slide" Target="slides/slide1.xml"/><Relationship Id="rId102" Type="http://schemas.openxmlformats.org/officeDocument/2006/relationships/slide" Target="slides/slide2.xml"/><Relationship Id="rId103" Type="http://schemas.openxmlformats.org/officeDocument/2006/relationships/slide" Target="slides/slide3.xml"/><Relationship Id="rId104" Type="http://schemas.openxmlformats.org/officeDocument/2006/relationships/slide" Target="slides/slide4.xml"/><Relationship Id="rId105" Type="http://schemas.openxmlformats.org/officeDocument/2006/relationships/slide" Target="slides/slide5.xml"/><Relationship Id="rId106" Type="http://schemas.openxmlformats.org/officeDocument/2006/relationships/slide" Target="slides/slide6.xml"/><Relationship Id="rId107" Type="http://schemas.openxmlformats.org/officeDocument/2006/relationships/slide" Target="slides/slide7.xml"/><Relationship Id="rId108" Type="http://schemas.openxmlformats.org/officeDocument/2006/relationships/slide" Target="slides/slide8.xml"/><Relationship Id="rId109" Type="http://schemas.openxmlformats.org/officeDocument/2006/relationships/slide" Target="slides/slide9.xml"/><Relationship Id="rId110" Type="http://schemas.openxmlformats.org/officeDocument/2006/relationships/slide" Target="slides/slide10.xml"/><Relationship Id="rId111" Type="http://schemas.openxmlformats.org/officeDocument/2006/relationships/slide" Target="slides/slide11.xml"/><Relationship Id="rId112" Type="http://schemas.openxmlformats.org/officeDocument/2006/relationships/slide" Target="slides/slide12.xml"/><Relationship Id="rId113" Type="http://schemas.openxmlformats.org/officeDocument/2006/relationships/slide" Target="slides/slide13.xml"/><Relationship Id="rId114" Type="http://schemas.openxmlformats.org/officeDocument/2006/relationships/slide" Target="slides/slide14.xml"/><Relationship Id="rId115" Type="http://schemas.openxmlformats.org/officeDocument/2006/relationships/slide" Target="slides/slide15.xml"/><Relationship Id="rId116" Type="http://schemas.openxmlformats.org/officeDocument/2006/relationships/slide" Target="slides/slide16.xml"/><Relationship Id="rId117" Type="http://schemas.openxmlformats.org/officeDocument/2006/relationships/slide" Target="slides/slide17.xml"/><Relationship Id="rId118" Type="http://schemas.openxmlformats.org/officeDocument/2006/relationships/slide" Target="slides/slide18.xml"/><Relationship Id="rId119" Type="http://schemas.openxmlformats.org/officeDocument/2006/relationships/slide" Target="slides/slide1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058E2E1-8886-43B2-B986-F2B06DAA2FAC}" type="datetimeFigureOut">
              <a:rPr lang="en-IN" smtClean="0"/>
              <a:t>05/10/26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959FDF3-42B5-4A41-B75E-186C389084C2}" type="slidenum">
              <a:rPr lang="en-IN" smtClean="0"/>
              <a:t>‹#›</a:t>
            </a:fld>
            <a:endParaRPr lang="en-IN"/>
          </a:p>
        </p:txBody>
      </p:sp>
    </p:spTree>
    <p:extLst>
      <p:ext uri="{BB962C8B-B14F-4D97-AF65-F5344CB8AC3E}">
        <p14:creationId xmlns:p14="http://schemas.microsoft.com/office/powerpoint/2010/main" val="10298584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Good morning, panel! Quick question before we start: have you ever tried to answer a simple question from a spreadsheet, and then realised the spreadsheet was built to answer a completely different one? That is basically our project. We are Team 1, and this is Object-Centric Event Log Mining for Academic Capstone Processes. The title is the same one we locked in Review 1. What changed is the evidence behind it, and we will be upfront about that as we go.</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Quick honesty first. This slide is meant to show our guide's approval mail, and we do not have that screenshot in the file yet, so it is marked as a placeholder, in yellow, on purpose. We would rather show an empty box than a made-up one. The right side lists the six things the mail has to confirm, including the Turnitin numbers, which we will fill in from the real report. One thing we can already say truthfully: the project outcome is ongoing. Our journal manuscript is still being written.</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Have you ever flattened a messy spreadsheet into one clean column and then wondered what just disappeared? That is our aim in one line. A capstone event is never about one thing. A single submission touches the project, the team, three students, the guide, a report version and, later, a score. Process mining normally forces one case identifier per event. So we asked: what is lost when we do that? We could not test it on the portal itself, because we do not have its logs. So the aim became two things: model the capstone lifecycle properly, and measure the loss on real public data, with code that anyone can re-run.</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Here is the whole project in one breath. Process mining likes one case per event. Real workflows do not work like that. We built a pipeline around OCEL 2.0, which lets one event point at many objects, and we pointed it at seven real public logs: Gerrit code review, the Open University student data, Angular commits, the German Bundestag, Enron e-mails, Ethereum, and Age of Empires. Our honest finding is a little less dramatic than we expected. Flattening rarely duplicates events, except in fan-out logs. The bigger effect is narrowing, you only see a slice. And one more thing worth saying out loud: none of these numbers come from synthetic data.</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Four papers here, and I will go quickly. First, van der Aalst named the problem: flatten, and events get copied or mis-ordered. Second, the OCEL 2.0 specification is the format we build on. Third, Waibel and colleagues showed that one-to-many links create fake edges, but on one company's data. And fourth, Adams and colleagues showed that keeping the object graph helps machine learning. Notice the pattern in the Cons column. Lots of theory, a few case studies, very little measurement across real logs. That is the hole we walk into on the next slide.</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Second half. Kabierski and colleagues list what goes wrong in object-centric data, which is useful, but they classify problems, they do not count them. Miri and colleagues did object-centric mining in education, on Moodle, and that is the closest neighbour to us. So we are clear we are not the first to use OCEL in education. Premchaiswadi looked at an online peer-review system, and Hassani described how a department really runs more than two hundred and fifty capstones. Put together: capstone practice is well described, object-centric mining exists, but nobody has tied them to measured evidence on real logs.</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So where is the gap? Number one: everyone agrees flattening is a problem, but we could not find a study that counts it across several real logs. Most of the evidence is simulated or one company's case. Number two: in education, object-centric work is about Moodle clicks. A capstone is different, it is a chain of submit, review, reject, resubmit, score. And number three, the awkward one: nobody publishes capstone portal logs. We searched. So we cannot prove anything about the portal itself. What we can do is measure the effect on real logs that look like it, and be upfront about that limit.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Five objectives, in the order we did them. One, model the capstone lifecycle. Two, build a pipeline you can re-run. Three, measure the distortion without us picking the rules, because rules we pick can flatter our own idea. Four, compare what an analyst would actually look at, rankings, edge counts, variants. Five, check everything twice. On the right: the goals this touches are Quality Education and Industry, Innovation and Infrastructure. We rate the technology at level four, validated in the lab, and we say level two to three for plugging it into the real portal. The outcome we are aiming at is a journal paper. It is in preparation. It is not submitted, and we are not going to pretend otherwise.</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This is the model we designed from the portal's documentation, and I want to be careful with the wording: it is a design, not a result. A project is executed by a team of students and guided by a faculty member. A report has versions, a version can get a score, and the score is write-once. Every audited action in the portal, create, compile, submit, verify, accept, reject, becomes an event that can point at several of these objects at once. That is exactly the shape a single case id cannot hold, and it is why we chose OCEL 2.0.</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Read this left to right. Seven public logs come in. The first box downloads each file, checks the size and MD5 against the Zenodo record, writes down a SHA-256, and can resume if the network drops, which it did on us once. Then we extract safely, convert Gerrit and Open University data into OCEL, and load everything into the same tables. The orange boxes are the analysis: distortion metrics, the consequence analysis, and a small rule-based engine we keep as an appendix. The green box is the one we care about most: validation, three different ways of checking our own code. The dashed box on top is the future: an adapter from the portal's audit log, once we are allowed to see one.</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Eight things the system has to do, and four rules it has to obey. The functional ones follow the pipeline: download and verify, extract safely, convert, load, measure, compare, validate, export. The rules at the bottom matter just as much. Same input must give the same bytes out, which we tested. Names and e-mail addresses are hashed, especially in the Enron data. It has to run on a normal laptop, ours has about eight and a half gigabytes of memory, which is why Ethereum is analysed as a window. And only openly licensed data goes in.</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Seven modules, one per box in the architecture. M1 gets the data safely. M2 turns it into OCEL. M3 and M4 are the heart of the project: M3 asks how much a flat view distorts, and M4 asks what an analyst would actually see differently. M5 is the rule engine from our earlier idea. We kept it in the appendix because with real data only, eleven rules on two logs is simply too few to conclude anything. M6 is the checker that keeps us honest. And M7 produces the tables you see in the results.</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This is the part where, if the laptop is kind to us, we run it live. Five commands, about a minute in total. First, the download manifest, which should say all eight sources are already present, so nothing is downloaded again. Second, the self-check, our own code against a slow, plain Python version of itself, it should say passed. Third and fourth, we run the distortion and consequence analysis on the Enron e-mails, because that log has a real many-to-many structure and a nice, visible result. Last, we open the summary table. If anything misbehaves, we have the saved outputs for every step, so the story does not depend on the Wi-Fi.</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Each dot is one real log. Left to right is how much flattening copies events, and up is how much of the process one case notion throws away. Look at the bottom left: CROP and OULAD sit at one-times, zero percent. Every event touches exactly one object of each type, so flattening is harmless there, at least for copying. Top left: the Bundestag, Age of Empires and Ethereum. Nothing is copied, but a single case notion drops seventy to ninety percent of the events. You see a slice, not the process. And bottom right: Angular, where one commit touches dozens of files, so an event gets copied eighty times. Three logs types, three different problems.</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Same seven logs, but now we asked what an analyst would actually read off a chart. On the left: if we only count duplication, activity rankings barely move, the blue dots sit near one. But compare them with the whole process, the orange dots, and in the Bundestag the correlation falls to about 0.17. That gap is narrowing, not duplication. On the right, the scary one. If you rank entities from a flat export and just count rows, the worst case in Enron is 0.16 and in Age of Empires it is actually negative. An analyst who de-duplicates by event id would avoid it, so this is about careless counting, not an unavoidable loss. We are saying that plainly.</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We tested the project the way we would test someone else's. Downloads are checked against the published size and MD5 where the publisher gives one, and every file gets a SHA-256 on record. Re-running reproduces every result file byte for byte. Our fast code is compared with a slow, plain Python version, and our rule code with independent SQL, and the OULAD counts with a separate read of the raw files. And here is the part we are actually proud of: those checks found three real bugs of our own. Duplicate Gerrit comments, an abandon message we missed, and a tie-breaking problem in event order. We fixed all three and re-ran everything. What we have not done is get a second person to label the findings independently. That is on the limits list.</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So, what do we conclude? That the pipeline works, that it is checked, and that on real data the story is narrowing more than duplication. And one limit we repeat on purpose: the capstone model is a design. We could not test it on portal data. Next steps, in order of importance: get someone independent to label our findings, add the harder comparisons like discovery quality and prediction, add a few more real logs, and, if the university allows it, plug in the real audit log. Thank you. We are happy to take questions.</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This slide is short because the honest answer is short. No patent, no conference paper, no journal acceptance. What we do have is a manuscript draft, version zero point two, and a working, checked code base. We would rather tell you that now than have you find it in Q and A. Once there is a real submission receipt, that is the proof we will upload.</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References in IEEE style. Everything on this slide was checked against its publisher record or its arXiv entry before it went on the slide. The last line lists the datasets, all openly licensed. Thank you.</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42592BF-19BE-9BF0-E2FC-07A36D054E1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xmlns="" id="{383AB4F9-CBB3-B18D-E917-C3B06418676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xmlns="" id="{F50F18A0-E201-1900-A139-E830DD3EA1D1}"/>
              </a:ext>
            </a:extLst>
          </p:cNvPr>
          <p:cNvSpPr>
            <a:spLocks noGrp="1"/>
          </p:cNvSpPr>
          <p:nvPr>
            <p:ph type="dt" sz="half" idx="10"/>
          </p:nvPr>
        </p:nvSpPr>
        <p:spPr/>
        <p:txBody>
          <a:bodyPr/>
          <a:lstStyle/>
          <a:p>
            <a:fld id="{8F3E78AE-7F97-4550-9DD8-BF69171FDC30}" type="datetime1">
              <a:rPr lang="en-IN" smtClean="0"/>
              <a:t>05/10/26</a:t>
            </a:fld>
            <a:endParaRPr lang="en-IN"/>
          </a:p>
        </p:txBody>
      </p:sp>
      <p:sp>
        <p:nvSpPr>
          <p:cNvPr id="5" name="Footer Placeholder 4">
            <a:extLst>
              <a:ext uri="{FF2B5EF4-FFF2-40B4-BE49-F238E27FC236}">
                <a16:creationId xmlns:a16="http://schemas.microsoft.com/office/drawing/2014/main" xmlns="" id="{ED0906B9-B1F6-B52E-2EE0-7595B1EBF0FF}"/>
              </a:ext>
            </a:extLst>
          </p:cNvPr>
          <p:cNvSpPr>
            <a:spLocks noGrp="1"/>
          </p:cNvSpPr>
          <p:nvPr>
            <p:ph type="ftr" sz="quarter" idx="11"/>
          </p:nvPr>
        </p:nvSpPr>
        <p:spPr/>
        <p:txBody>
          <a:bodyPr/>
          <a:lstStyle/>
          <a:p>
            <a:r>
              <a:rPr lang="en-IN"/>
              <a:t>SCOPE</a:t>
            </a:r>
          </a:p>
        </p:txBody>
      </p:sp>
      <p:sp>
        <p:nvSpPr>
          <p:cNvPr id="6" name="Slide Number Placeholder 5">
            <a:extLst>
              <a:ext uri="{FF2B5EF4-FFF2-40B4-BE49-F238E27FC236}">
                <a16:creationId xmlns:a16="http://schemas.microsoft.com/office/drawing/2014/main" xmlns="" id="{97A13AE1-F96E-D540-8DE1-8D903DB30CE2}"/>
              </a:ext>
            </a:extLst>
          </p:cNvPr>
          <p:cNvSpPr>
            <a:spLocks noGrp="1"/>
          </p:cNvSpPr>
          <p:nvPr>
            <p:ph type="sldNum" sz="quarter" idx="12"/>
          </p:nvPr>
        </p:nvSpPr>
        <p:spPr/>
        <p:txBody>
          <a:bodyPr/>
          <a:lstStyle/>
          <a:p>
            <a:fld id="{65201FD4-9D8D-4491-815B-63C7BF4F0034}" type="slidenum">
              <a:rPr lang="en-IN" smtClean="0"/>
              <a:t>‹#›</a:t>
            </a:fld>
            <a:endParaRPr lang="en-IN"/>
          </a:p>
        </p:txBody>
      </p:sp>
    </p:spTree>
    <p:extLst>
      <p:ext uri="{BB962C8B-B14F-4D97-AF65-F5344CB8AC3E}">
        <p14:creationId xmlns:p14="http://schemas.microsoft.com/office/powerpoint/2010/main" val="17651971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532F7EA-3EC9-99AF-13A9-22A3F8B2D21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xmlns="" id="{FC71419B-73DB-15DA-D2EE-0FC01B435F2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AB080259-8D20-E29B-4DC5-312C3DB01BB3}"/>
              </a:ext>
            </a:extLst>
          </p:cNvPr>
          <p:cNvSpPr>
            <a:spLocks noGrp="1"/>
          </p:cNvSpPr>
          <p:nvPr>
            <p:ph type="dt" sz="half" idx="10"/>
          </p:nvPr>
        </p:nvSpPr>
        <p:spPr/>
        <p:txBody>
          <a:bodyPr/>
          <a:lstStyle/>
          <a:p>
            <a:fld id="{FEA886FF-1BA7-4533-94E6-869CE1E2970B}" type="datetime1">
              <a:rPr lang="en-IN" smtClean="0"/>
              <a:t>05/10/26</a:t>
            </a:fld>
            <a:endParaRPr lang="en-IN"/>
          </a:p>
        </p:txBody>
      </p:sp>
      <p:sp>
        <p:nvSpPr>
          <p:cNvPr id="5" name="Footer Placeholder 4">
            <a:extLst>
              <a:ext uri="{FF2B5EF4-FFF2-40B4-BE49-F238E27FC236}">
                <a16:creationId xmlns:a16="http://schemas.microsoft.com/office/drawing/2014/main" xmlns="" id="{E101830E-3502-194A-88FA-DC3E0F1B309A}"/>
              </a:ext>
            </a:extLst>
          </p:cNvPr>
          <p:cNvSpPr>
            <a:spLocks noGrp="1"/>
          </p:cNvSpPr>
          <p:nvPr>
            <p:ph type="ftr" sz="quarter" idx="11"/>
          </p:nvPr>
        </p:nvSpPr>
        <p:spPr/>
        <p:txBody>
          <a:bodyPr/>
          <a:lstStyle/>
          <a:p>
            <a:r>
              <a:rPr lang="en-IN"/>
              <a:t>SCOPE</a:t>
            </a:r>
          </a:p>
        </p:txBody>
      </p:sp>
      <p:sp>
        <p:nvSpPr>
          <p:cNvPr id="6" name="Slide Number Placeholder 5">
            <a:extLst>
              <a:ext uri="{FF2B5EF4-FFF2-40B4-BE49-F238E27FC236}">
                <a16:creationId xmlns:a16="http://schemas.microsoft.com/office/drawing/2014/main" xmlns="" id="{ECF6703C-229C-43C6-0484-38EC263AD4A9}"/>
              </a:ext>
            </a:extLst>
          </p:cNvPr>
          <p:cNvSpPr>
            <a:spLocks noGrp="1"/>
          </p:cNvSpPr>
          <p:nvPr>
            <p:ph type="sldNum" sz="quarter" idx="12"/>
          </p:nvPr>
        </p:nvSpPr>
        <p:spPr/>
        <p:txBody>
          <a:bodyPr/>
          <a:lstStyle/>
          <a:p>
            <a:fld id="{65201FD4-9D8D-4491-815B-63C7BF4F0034}" type="slidenum">
              <a:rPr lang="en-IN" smtClean="0"/>
              <a:t>‹#›</a:t>
            </a:fld>
            <a:endParaRPr lang="en-IN"/>
          </a:p>
        </p:txBody>
      </p:sp>
    </p:spTree>
    <p:extLst>
      <p:ext uri="{BB962C8B-B14F-4D97-AF65-F5344CB8AC3E}">
        <p14:creationId xmlns:p14="http://schemas.microsoft.com/office/powerpoint/2010/main" val="26939907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E0CE344-6494-09A6-A5E4-811EEE0CD2A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xmlns="" id="{7351A0E2-2B9B-B96E-A3FD-0B26BDDBEB4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xmlns="" id="{A767CE67-8E8A-4D0D-42DF-DDC842B1B17A}"/>
              </a:ext>
            </a:extLst>
          </p:cNvPr>
          <p:cNvSpPr>
            <a:spLocks noGrp="1"/>
          </p:cNvSpPr>
          <p:nvPr>
            <p:ph type="dt" sz="half" idx="10"/>
          </p:nvPr>
        </p:nvSpPr>
        <p:spPr/>
        <p:txBody>
          <a:bodyPr/>
          <a:lstStyle/>
          <a:p>
            <a:fld id="{93E22BD8-A2C4-424B-809A-C64DDCC305D9}" type="datetime1">
              <a:rPr lang="en-IN" smtClean="0"/>
              <a:t>05/10/26</a:t>
            </a:fld>
            <a:endParaRPr lang="en-IN"/>
          </a:p>
        </p:txBody>
      </p:sp>
      <p:sp>
        <p:nvSpPr>
          <p:cNvPr id="5" name="Footer Placeholder 4">
            <a:extLst>
              <a:ext uri="{FF2B5EF4-FFF2-40B4-BE49-F238E27FC236}">
                <a16:creationId xmlns:a16="http://schemas.microsoft.com/office/drawing/2014/main" xmlns="" id="{73A78C3E-C139-1FD1-979B-D71679959D2B}"/>
              </a:ext>
            </a:extLst>
          </p:cNvPr>
          <p:cNvSpPr>
            <a:spLocks noGrp="1"/>
          </p:cNvSpPr>
          <p:nvPr>
            <p:ph type="ftr" sz="quarter" idx="11"/>
          </p:nvPr>
        </p:nvSpPr>
        <p:spPr/>
        <p:txBody>
          <a:bodyPr/>
          <a:lstStyle/>
          <a:p>
            <a:r>
              <a:rPr lang="en-IN"/>
              <a:t>SCOPE</a:t>
            </a:r>
          </a:p>
        </p:txBody>
      </p:sp>
      <p:sp>
        <p:nvSpPr>
          <p:cNvPr id="6" name="Slide Number Placeholder 5">
            <a:extLst>
              <a:ext uri="{FF2B5EF4-FFF2-40B4-BE49-F238E27FC236}">
                <a16:creationId xmlns:a16="http://schemas.microsoft.com/office/drawing/2014/main" xmlns="" id="{9932F297-889B-B694-6DD5-92F8A6AAFF71}"/>
              </a:ext>
            </a:extLst>
          </p:cNvPr>
          <p:cNvSpPr>
            <a:spLocks noGrp="1"/>
          </p:cNvSpPr>
          <p:nvPr>
            <p:ph type="sldNum" sz="quarter" idx="12"/>
          </p:nvPr>
        </p:nvSpPr>
        <p:spPr/>
        <p:txBody>
          <a:bodyPr/>
          <a:lstStyle/>
          <a:p>
            <a:fld id="{65201FD4-9D8D-4491-815B-63C7BF4F0034}" type="slidenum">
              <a:rPr lang="en-IN" smtClean="0"/>
              <a:t>‹#›</a:t>
            </a:fld>
            <a:endParaRPr lang="en-IN"/>
          </a:p>
        </p:txBody>
      </p:sp>
    </p:spTree>
    <p:extLst>
      <p:ext uri="{BB962C8B-B14F-4D97-AF65-F5344CB8AC3E}">
        <p14:creationId xmlns:p14="http://schemas.microsoft.com/office/powerpoint/2010/main" val="3958143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792C89C-FEA2-11F6-7988-ADD14A7B22F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xmlns="" id="{60E5DE7B-A406-1142-36EA-1C149874023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xmlns="" id="{D4355A2B-361E-86CB-ABBE-C510D2B2215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xmlns="" id="{50DA5E84-A1E0-A1C4-F7E6-DA9E7B124C77}"/>
              </a:ext>
            </a:extLst>
          </p:cNvPr>
          <p:cNvSpPr>
            <a:spLocks noGrp="1"/>
          </p:cNvSpPr>
          <p:nvPr>
            <p:ph type="dt" sz="half" idx="10"/>
          </p:nvPr>
        </p:nvSpPr>
        <p:spPr/>
        <p:txBody>
          <a:bodyPr/>
          <a:lstStyle/>
          <a:p>
            <a:fld id="{B620F4BC-B3A4-46AF-9AEC-8478EF1369D5}" type="datetime1">
              <a:rPr lang="en-IN" smtClean="0"/>
              <a:t>05/10/26</a:t>
            </a:fld>
            <a:endParaRPr lang="en-IN"/>
          </a:p>
        </p:txBody>
      </p:sp>
      <p:sp>
        <p:nvSpPr>
          <p:cNvPr id="6" name="Footer Placeholder 5">
            <a:extLst>
              <a:ext uri="{FF2B5EF4-FFF2-40B4-BE49-F238E27FC236}">
                <a16:creationId xmlns:a16="http://schemas.microsoft.com/office/drawing/2014/main" xmlns="" id="{D5DDA460-54C8-F2AC-C053-53FF3FAFCCD5}"/>
              </a:ext>
            </a:extLst>
          </p:cNvPr>
          <p:cNvSpPr>
            <a:spLocks noGrp="1"/>
          </p:cNvSpPr>
          <p:nvPr>
            <p:ph type="ftr" sz="quarter" idx="11"/>
          </p:nvPr>
        </p:nvSpPr>
        <p:spPr/>
        <p:txBody>
          <a:bodyPr/>
          <a:lstStyle/>
          <a:p>
            <a:r>
              <a:rPr lang="en-IN"/>
              <a:t>SCOPE</a:t>
            </a:r>
          </a:p>
        </p:txBody>
      </p:sp>
      <p:sp>
        <p:nvSpPr>
          <p:cNvPr id="7" name="Slide Number Placeholder 6">
            <a:extLst>
              <a:ext uri="{FF2B5EF4-FFF2-40B4-BE49-F238E27FC236}">
                <a16:creationId xmlns:a16="http://schemas.microsoft.com/office/drawing/2014/main" xmlns="" id="{EE6F132A-BD40-58D2-CEEC-A1BA2B9E2EF2}"/>
              </a:ext>
            </a:extLst>
          </p:cNvPr>
          <p:cNvSpPr>
            <a:spLocks noGrp="1"/>
          </p:cNvSpPr>
          <p:nvPr>
            <p:ph type="sldNum" sz="quarter" idx="12"/>
          </p:nvPr>
        </p:nvSpPr>
        <p:spPr/>
        <p:txBody>
          <a:bodyPr/>
          <a:lstStyle/>
          <a:p>
            <a:fld id="{65201FD4-9D8D-4491-815B-63C7BF4F0034}" type="slidenum">
              <a:rPr lang="en-IN" smtClean="0"/>
              <a:t>‹#›</a:t>
            </a:fld>
            <a:endParaRPr lang="en-IN"/>
          </a:p>
        </p:txBody>
      </p:sp>
    </p:spTree>
    <p:extLst>
      <p:ext uri="{BB962C8B-B14F-4D97-AF65-F5344CB8AC3E}">
        <p14:creationId xmlns:p14="http://schemas.microsoft.com/office/powerpoint/2010/main" val="24382236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05823BE-2514-8722-ED45-41E13E46B674}"/>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xmlns="" id="{64BFEE3B-6ABA-1D24-97FE-717EBBC999E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xmlns="" id="{5C653C42-4C6D-988F-42A0-8639A508A61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xmlns="" id="{F2B662B4-F942-A78F-394F-74F6037179B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xmlns="" id="{5B445FBE-A81E-92E1-36E3-99D1586F831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xmlns="" id="{B6D20C02-77C2-CB2A-62F8-60B8C62629ED}"/>
              </a:ext>
            </a:extLst>
          </p:cNvPr>
          <p:cNvSpPr>
            <a:spLocks noGrp="1"/>
          </p:cNvSpPr>
          <p:nvPr>
            <p:ph type="dt" sz="half" idx="10"/>
          </p:nvPr>
        </p:nvSpPr>
        <p:spPr/>
        <p:txBody>
          <a:bodyPr/>
          <a:lstStyle/>
          <a:p>
            <a:fld id="{4C9A2993-B405-4F4D-B968-A01C27211659}" type="datetime1">
              <a:rPr lang="en-IN" smtClean="0"/>
              <a:t>05/10/26</a:t>
            </a:fld>
            <a:endParaRPr lang="en-IN"/>
          </a:p>
        </p:txBody>
      </p:sp>
      <p:sp>
        <p:nvSpPr>
          <p:cNvPr id="8" name="Footer Placeholder 7">
            <a:extLst>
              <a:ext uri="{FF2B5EF4-FFF2-40B4-BE49-F238E27FC236}">
                <a16:creationId xmlns:a16="http://schemas.microsoft.com/office/drawing/2014/main" xmlns="" id="{AD033241-EB08-777E-F678-5D641F6495A5}"/>
              </a:ext>
            </a:extLst>
          </p:cNvPr>
          <p:cNvSpPr>
            <a:spLocks noGrp="1"/>
          </p:cNvSpPr>
          <p:nvPr>
            <p:ph type="ftr" sz="quarter" idx="11"/>
          </p:nvPr>
        </p:nvSpPr>
        <p:spPr/>
        <p:txBody>
          <a:bodyPr/>
          <a:lstStyle/>
          <a:p>
            <a:r>
              <a:rPr lang="en-IN"/>
              <a:t>SCOPE</a:t>
            </a:r>
          </a:p>
        </p:txBody>
      </p:sp>
      <p:sp>
        <p:nvSpPr>
          <p:cNvPr id="9" name="Slide Number Placeholder 8">
            <a:extLst>
              <a:ext uri="{FF2B5EF4-FFF2-40B4-BE49-F238E27FC236}">
                <a16:creationId xmlns:a16="http://schemas.microsoft.com/office/drawing/2014/main" xmlns="" id="{40D711ED-181F-C690-A3B3-1D82670FC5D5}"/>
              </a:ext>
            </a:extLst>
          </p:cNvPr>
          <p:cNvSpPr>
            <a:spLocks noGrp="1"/>
          </p:cNvSpPr>
          <p:nvPr>
            <p:ph type="sldNum" sz="quarter" idx="12"/>
          </p:nvPr>
        </p:nvSpPr>
        <p:spPr/>
        <p:txBody>
          <a:bodyPr/>
          <a:lstStyle/>
          <a:p>
            <a:fld id="{65201FD4-9D8D-4491-815B-63C7BF4F0034}" type="slidenum">
              <a:rPr lang="en-IN" smtClean="0"/>
              <a:t>‹#›</a:t>
            </a:fld>
            <a:endParaRPr lang="en-IN"/>
          </a:p>
        </p:txBody>
      </p:sp>
    </p:spTree>
    <p:extLst>
      <p:ext uri="{BB962C8B-B14F-4D97-AF65-F5344CB8AC3E}">
        <p14:creationId xmlns:p14="http://schemas.microsoft.com/office/powerpoint/2010/main" val="315927247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77468B4-E355-69B3-7598-80ADF2F9CC18}"/>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xmlns="" id="{E2F1AB3B-AFC6-3627-62E6-22313061FA80}"/>
              </a:ext>
            </a:extLst>
          </p:cNvPr>
          <p:cNvSpPr>
            <a:spLocks noGrp="1"/>
          </p:cNvSpPr>
          <p:nvPr>
            <p:ph type="dt" sz="half" idx="10"/>
          </p:nvPr>
        </p:nvSpPr>
        <p:spPr/>
        <p:txBody>
          <a:bodyPr/>
          <a:lstStyle/>
          <a:p>
            <a:fld id="{79378C8C-5FBB-4DD7-A06D-BE263480794B}" type="datetime1">
              <a:rPr lang="en-IN" smtClean="0"/>
              <a:t>05/10/26</a:t>
            </a:fld>
            <a:endParaRPr lang="en-IN"/>
          </a:p>
        </p:txBody>
      </p:sp>
      <p:sp>
        <p:nvSpPr>
          <p:cNvPr id="4" name="Footer Placeholder 3">
            <a:extLst>
              <a:ext uri="{FF2B5EF4-FFF2-40B4-BE49-F238E27FC236}">
                <a16:creationId xmlns:a16="http://schemas.microsoft.com/office/drawing/2014/main" xmlns="" id="{2B2C6591-48E4-480E-7965-DE9F830154A3}"/>
              </a:ext>
            </a:extLst>
          </p:cNvPr>
          <p:cNvSpPr>
            <a:spLocks noGrp="1"/>
          </p:cNvSpPr>
          <p:nvPr>
            <p:ph type="ftr" sz="quarter" idx="11"/>
          </p:nvPr>
        </p:nvSpPr>
        <p:spPr/>
        <p:txBody>
          <a:bodyPr/>
          <a:lstStyle/>
          <a:p>
            <a:r>
              <a:rPr lang="en-IN"/>
              <a:t>SCOPE</a:t>
            </a:r>
          </a:p>
        </p:txBody>
      </p:sp>
      <p:sp>
        <p:nvSpPr>
          <p:cNvPr id="5" name="Slide Number Placeholder 4">
            <a:extLst>
              <a:ext uri="{FF2B5EF4-FFF2-40B4-BE49-F238E27FC236}">
                <a16:creationId xmlns:a16="http://schemas.microsoft.com/office/drawing/2014/main" xmlns="" id="{F10C9D68-A16A-B2D3-C8A6-B5221AF744BC}"/>
              </a:ext>
            </a:extLst>
          </p:cNvPr>
          <p:cNvSpPr>
            <a:spLocks noGrp="1"/>
          </p:cNvSpPr>
          <p:nvPr>
            <p:ph type="sldNum" sz="quarter" idx="12"/>
          </p:nvPr>
        </p:nvSpPr>
        <p:spPr/>
        <p:txBody>
          <a:bodyPr/>
          <a:lstStyle/>
          <a:p>
            <a:fld id="{65201FD4-9D8D-4491-815B-63C7BF4F0034}" type="slidenum">
              <a:rPr lang="en-IN" smtClean="0"/>
              <a:t>‹#›</a:t>
            </a:fld>
            <a:endParaRPr lang="en-IN"/>
          </a:p>
        </p:txBody>
      </p:sp>
    </p:spTree>
    <p:extLst>
      <p:ext uri="{BB962C8B-B14F-4D97-AF65-F5344CB8AC3E}">
        <p14:creationId xmlns:p14="http://schemas.microsoft.com/office/powerpoint/2010/main" val="10750615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xmlns="" id="{A23F289A-3AD7-C11D-1594-90A35E592B5C}"/>
              </a:ext>
            </a:extLst>
          </p:cNvPr>
          <p:cNvSpPr>
            <a:spLocks noGrp="1"/>
          </p:cNvSpPr>
          <p:nvPr>
            <p:ph type="dt" sz="half" idx="10"/>
          </p:nvPr>
        </p:nvSpPr>
        <p:spPr/>
        <p:txBody>
          <a:bodyPr/>
          <a:lstStyle/>
          <a:p>
            <a:fld id="{31FD2985-06EC-459B-80C8-F6F4362A1C03}" type="datetime1">
              <a:rPr lang="en-IN" smtClean="0"/>
              <a:t>05/10/26</a:t>
            </a:fld>
            <a:endParaRPr lang="en-IN"/>
          </a:p>
        </p:txBody>
      </p:sp>
      <p:sp>
        <p:nvSpPr>
          <p:cNvPr id="3" name="Footer Placeholder 2">
            <a:extLst>
              <a:ext uri="{FF2B5EF4-FFF2-40B4-BE49-F238E27FC236}">
                <a16:creationId xmlns:a16="http://schemas.microsoft.com/office/drawing/2014/main" xmlns="" id="{8C252269-BBE3-199F-299B-38D4E9CC1899}"/>
              </a:ext>
            </a:extLst>
          </p:cNvPr>
          <p:cNvSpPr>
            <a:spLocks noGrp="1"/>
          </p:cNvSpPr>
          <p:nvPr>
            <p:ph type="ftr" sz="quarter" idx="11"/>
          </p:nvPr>
        </p:nvSpPr>
        <p:spPr/>
        <p:txBody>
          <a:bodyPr/>
          <a:lstStyle/>
          <a:p>
            <a:r>
              <a:rPr lang="en-IN"/>
              <a:t>SCOPE</a:t>
            </a:r>
          </a:p>
        </p:txBody>
      </p:sp>
      <p:sp>
        <p:nvSpPr>
          <p:cNvPr id="4" name="Slide Number Placeholder 3">
            <a:extLst>
              <a:ext uri="{FF2B5EF4-FFF2-40B4-BE49-F238E27FC236}">
                <a16:creationId xmlns:a16="http://schemas.microsoft.com/office/drawing/2014/main" xmlns="" id="{F7407FDC-B2A9-1304-047F-5808A0B6B226}"/>
              </a:ext>
            </a:extLst>
          </p:cNvPr>
          <p:cNvSpPr>
            <a:spLocks noGrp="1"/>
          </p:cNvSpPr>
          <p:nvPr>
            <p:ph type="sldNum" sz="quarter" idx="12"/>
          </p:nvPr>
        </p:nvSpPr>
        <p:spPr/>
        <p:txBody>
          <a:bodyPr/>
          <a:lstStyle/>
          <a:p>
            <a:fld id="{65201FD4-9D8D-4491-815B-63C7BF4F0034}" type="slidenum">
              <a:rPr lang="en-IN" smtClean="0"/>
              <a:t>‹#›</a:t>
            </a:fld>
            <a:endParaRPr lang="en-IN"/>
          </a:p>
        </p:txBody>
      </p:sp>
    </p:spTree>
    <p:extLst>
      <p:ext uri="{BB962C8B-B14F-4D97-AF65-F5344CB8AC3E}">
        <p14:creationId xmlns:p14="http://schemas.microsoft.com/office/powerpoint/2010/main" val="30472659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25A4847-FC20-D9BF-0BDE-26EC7EF7435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xmlns="" id="{68D9C584-AC19-D7B4-9DFE-7C1BC2E1BCC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xmlns="" id="{2F4A3262-CE8D-2419-DCCC-C536E9FDAC3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294758D6-7AF2-29C5-E0EE-3B7BE155EC20}"/>
              </a:ext>
            </a:extLst>
          </p:cNvPr>
          <p:cNvSpPr>
            <a:spLocks noGrp="1"/>
          </p:cNvSpPr>
          <p:nvPr>
            <p:ph type="dt" sz="half" idx="10"/>
          </p:nvPr>
        </p:nvSpPr>
        <p:spPr/>
        <p:txBody>
          <a:bodyPr/>
          <a:lstStyle/>
          <a:p>
            <a:fld id="{71D7E9DA-13C6-48A4-9305-B592482DE8CE}" type="datetime1">
              <a:rPr lang="en-IN" smtClean="0"/>
              <a:t>05/10/26</a:t>
            </a:fld>
            <a:endParaRPr lang="en-IN"/>
          </a:p>
        </p:txBody>
      </p:sp>
      <p:sp>
        <p:nvSpPr>
          <p:cNvPr id="6" name="Footer Placeholder 5">
            <a:extLst>
              <a:ext uri="{FF2B5EF4-FFF2-40B4-BE49-F238E27FC236}">
                <a16:creationId xmlns:a16="http://schemas.microsoft.com/office/drawing/2014/main" xmlns="" id="{45AAC7E7-68C4-7616-2DE1-0333E2C446CC}"/>
              </a:ext>
            </a:extLst>
          </p:cNvPr>
          <p:cNvSpPr>
            <a:spLocks noGrp="1"/>
          </p:cNvSpPr>
          <p:nvPr>
            <p:ph type="ftr" sz="quarter" idx="11"/>
          </p:nvPr>
        </p:nvSpPr>
        <p:spPr/>
        <p:txBody>
          <a:bodyPr/>
          <a:lstStyle/>
          <a:p>
            <a:r>
              <a:rPr lang="en-IN"/>
              <a:t>SCOPE</a:t>
            </a:r>
          </a:p>
        </p:txBody>
      </p:sp>
      <p:sp>
        <p:nvSpPr>
          <p:cNvPr id="7" name="Slide Number Placeholder 6">
            <a:extLst>
              <a:ext uri="{FF2B5EF4-FFF2-40B4-BE49-F238E27FC236}">
                <a16:creationId xmlns:a16="http://schemas.microsoft.com/office/drawing/2014/main" xmlns="" id="{5E9EF51B-1685-66FF-0783-23584C251751}"/>
              </a:ext>
            </a:extLst>
          </p:cNvPr>
          <p:cNvSpPr>
            <a:spLocks noGrp="1"/>
          </p:cNvSpPr>
          <p:nvPr>
            <p:ph type="sldNum" sz="quarter" idx="12"/>
          </p:nvPr>
        </p:nvSpPr>
        <p:spPr/>
        <p:txBody>
          <a:bodyPr/>
          <a:lstStyle/>
          <a:p>
            <a:fld id="{65201FD4-9D8D-4491-815B-63C7BF4F0034}" type="slidenum">
              <a:rPr lang="en-IN" smtClean="0"/>
              <a:t>‹#›</a:t>
            </a:fld>
            <a:endParaRPr lang="en-IN"/>
          </a:p>
        </p:txBody>
      </p:sp>
    </p:spTree>
    <p:extLst>
      <p:ext uri="{BB962C8B-B14F-4D97-AF65-F5344CB8AC3E}">
        <p14:creationId xmlns:p14="http://schemas.microsoft.com/office/powerpoint/2010/main" val="37563877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3939D0E-3A71-7252-C837-B8281F0DED9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xmlns="" id="{AFE3D557-6893-299F-57A8-A7B173F1014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xmlns="" id="{C4CC8BA2-BB08-F4E3-5660-C7370BA568C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CE57E1CE-C7CA-966D-8661-1E99A7DA2174}"/>
              </a:ext>
            </a:extLst>
          </p:cNvPr>
          <p:cNvSpPr>
            <a:spLocks noGrp="1"/>
          </p:cNvSpPr>
          <p:nvPr>
            <p:ph type="dt" sz="half" idx="10"/>
          </p:nvPr>
        </p:nvSpPr>
        <p:spPr/>
        <p:txBody>
          <a:bodyPr/>
          <a:lstStyle/>
          <a:p>
            <a:fld id="{F45E7C4B-C575-4DCF-9B63-045662930500}" type="datetime1">
              <a:rPr lang="en-IN" smtClean="0"/>
              <a:t>05/10/26</a:t>
            </a:fld>
            <a:endParaRPr lang="en-IN"/>
          </a:p>
        </p:txBody>
      </p:sp>
      <p:sp>
        <p:nvSpPr>
          <p:cNvPr id="6" name="Footer Placeholder 5">
            <a:extLst>
              <a:ext uri="{FF2B5EF4-FFF2-40B4-BE49-F238E27FC236}">
                <a16:creationId xmlns:a16="http://schemas.microsoft.com/office/drawing/2014/main" xmlns="" id="{66055516-3E64-07E5-10C5-DE056657E44B}"/>
              </a:ext>
            </a:extLst>
          </p:cNvPr>
          <p:cNvSpPr>
            <a:spLocks noGrp="1"/>
          </p:cNvSpPr>
          <p:nvPr>
            <p:ph type="ftr" sz="quarter" idx="11"/>
          </p:nvPr>
        </p:nvSpPr>
        <p:spPr/>
        <p:txBody>
          <a:bodyPr/>
          <a:lstStyle/>
          <a:p>
            <a:r>
              <a:rPr lang="en-IN"/>
              <a:t>SCOPE</a:t>
            </a:r>
          </a:p>
        </p:txBody>
      </p:sp>
      <p:sp>
        <p:nvSpPr>
          <p:cNvPr id="7" name="Slide Number Placeholder 6">
            <a:extLst>
              <a:ext uri="{FF2B5EF4-FFF2-40B4-BE49-F238E27FC236}">
                <a16:creationId xmlns:a16="http://schemas.microsoft.com/office/drawing/2014/main" xmlns="" id="{AFBA5AD5-9867-E76D-C035-2856CCFBC128}"/>
              </a:ext>
            </a:extLst>
          </p:cNvPr>
          <p:cNvSpPr>
            <a:spLocks noGrp="1"/>
          </p:cNvSpPr>
          <p:nvPr>
            <p:ph type="sldNum" sz="quarter" idx="12"/>
          </p:nvPr>
        </p:nvSpPr>
        <p:spPr/>
        <p:txBody>
          <a:bodyPr/>
          <a:lstStyle/>
          <a:p>
            <a:fld id="{65201FD4-9D8D-4491-815B-63C7BF4F0034}" type="slidenum">
              <a:rPr lang="en-IN" smtClean="0"/>
              <a:t>‹#›</a:t>
            </a:fld>
            <a:endParaRPr lang="en-IN"/>
          </a:p>
        </p:txBody>
      </p:sp>
    </p:spTree>
    <p:extLst>
      <p:ext uri="{BB962C8B-B14F-4D97-AF65-F5344CB8AC3E}">
        <p14:creationId xmlns:p14="http://schemas.microsoft.com/office/powerpoint/2010/main" val="29400179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E71D7EC-16EA-5009-5D33-ABFC55F28132}"/>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xmlns="" id="{EB09EC6D-8ED5-29E9-9444-CC2D6A1CB8A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3C1ADFC6-7CEA-ABEE-94C2-870B1E65737A}"/>
              </a:ext>
            </a:extLst>
          </p:cNvPr>
          <p:cNvSpPr>
            <a:spLocks noGrp="1"/>
          </p:cNvSpPr>
          <p:nvPr>
            <p:ph type="dt" sz="half" idx="10"/>
          </p:nvPr>
        </p:nvSpPr>
        <p:spPr/>
        <p:txBody>
          <a:bodyPr/>
          <a:lstStyle/>
          <a:p>
            <a:fld id="{5576931C-EA1A-43DD-B3B3-66F5BA587712}" type="datetime1">
              <a:rPr lang="en-IN" smtClean="0"/>
              <a:t>05/10/26</a:t>
            </a:fld>
            <a:endParaRPr lang="en-IN"/>
          </a:p>
        </p:txBody>
      </p:sp>
      <p:sp>
        <p:nvSpPr>
          <p:cNvPr id="5" name="Footer Placeholder 4">
            <a:extLst>
              <a:ext uri="{FF2B5EF4-FFF2-40B4-BE49-F238E27FC236}">
                <a16:creationId xmlns:a16="http://schemas.microsoft.com/office/drawing/2014/main" xmlns="" id="{7B1FA3A5-596E-6C2A-F853-30C5DC6FBF0D}"/>
              </a:ext>
            </a:extLst>
          </p:cNvPr>
          <p:cNvSpPr>
            <a:spLocks noGrp="1"/>
          </p:cNvSpPr>
          <p:nvPr>
            <p:ph type="ftr" sz="quarter" idx="11"/>
          </p:nvPr>
        </p:nvSpPr>
        <p:spPr/>
        <p:txBody>
          <a:bodyPr/>
          <a:lstStyle/>
          <a:p>
            <a:r>
              <a:rPr lang="en-IN"/>
              <a:t>SCOPE</a:t>
            </a:r>
          </a:p>
        </p:txBody>
      </p:sp>
      <p:sp>
        <p:nvSpPr>
          <p:cNvPr id="6" name="Slide Number Placeholder 5">
            <a:extLst>
              <a:ext uri="{FF2B5EF4-FFF2-40B4-BE49-F238E27FC236}">
                <a16:creationId xmlns:a16="http://schemas.microsoft.com/office/drawing/2014/main" xmlns="" id="{312CE6B1-CE87-B68F-9494-FA6D109F3896}"/>
              </a:ext>
            </a:extLst>
          </p:cNvPr>
          <p:cNvSpPr>
            <a:spLocks noGrp="1"/>
          </p:cNvSpPr>
          <p:nvPr>
            <p:ph type="sldNum" sz="quarter" idx="12"/>
          </p:nvPr>
        </p:nvSpPr>
        <p:spPr/>
        <p:txBody>
          <a:bodyPr/>
          <a:lstStyle/>
          <a:p>
            <a:fld id="{65201FD4-9D8D-4491-815B-63C7BF4F0034}" type="slidenum">
              <a:rPr lang="en-IN" smtClean="0"/>
              <a:t>‹#›</a:t>
            </a:fld>
            <a:endParaRPr lang="en-IN"/>
          </a:p>
        </p:txBody>
      </p:sp>
    </p:spTree>
    <p:extLst>
      <p:ext uri="{BB962C8B-B14F-4D97-AF65-F5344CB8AC3E}">
        <p14:creationId xmlns:p14="http://schemas.microsoft.com/office/powerpoint/2010/main" val="36598095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xmlns="" id="{AF0FF105-FC99-2BCB-131F-2B902F8BAE21}"/>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xmlns="" id="{50354FD6-064F-6E12-E8DE-81EC913CDB0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EF1D2109-32D1-4A0F-F903-5142A204EF48}"/>
              </a:ext>
            </a:extLst>
          </p:cNvPr>
          <p:cNvSpPr>
            <a:spLocks noGrp="1"/>
          </p:cNvSpPr>
          <p:nvPr>
            <p:ph type="dt" sz="half" idx="10"/>
          </p:nvPr>
        </p:nvSpPr>
        <p:spPr/>
        <p:txBody>
          <a:bodyPr/>
          <a:lstStyle/>
          <a:p>
            <a:fld id="{82C9B0E1-7C95-4C20-B9C6-BA51F388E878}" type="datetime1">
              <a:rPr lang="en-IN" smtClean="0"/>
              <a:t>05/10/26</a:t>
            </a:fld>
            <a:endParaRPr lang="en-IN"/>
          </a:p>
        </p:txBody>
      </p:sp>
      <p:sp>
        <p:nvSpPr>
          <p:cNvPr id="5" name="Footer Placeholder 4">
            <a:extLst>
              <a:ext uri="{FF2B5EF4-FFF2-40B4-BE49-F238E27FC236}">
                <a16:creationId xmlns:a16="http://schemas.microsoft.com/office/drawing/2014/main" xmlns="" id="{73E5353D-EEF9-CF3C-A97F-F0F0EBFA7C59}"/>
              </a:ext>
            </a:extLst>
          </p:cNvPr>
          <p:cNvSpPr>
            <a:spLocks noGrp="1"/>
          </p:cNvSpPr>
          <p:nvPr>
            <p:ph type="ftr" sz="quarter" idx="11"/>
          </p:nvPr>
        </p:nvSpPr>
        <p:spPr/>
        <p:txBody>
          <a:bodyPr/>
          <a:lstStyle/>
          <a:p>
            <a:r>
              <a:rPr lang="en-IN"/>
              <a:t>SCOPE</a:t>
            </a:r>
          </a:p>
        </p:txBody>
      </p:sp>
      <p:sp>
        <p:nvSpPr>
          <p:cNvPr id="6" name="Slide Number Placeholder 5">
            <a:extLst>
              <a:ext uri="{FF2B5EF4-FFF2-40B4-BE49-F238E27FC236}">
                <a16:creationId xmlns:a16="http://schemas.microsoft.com/office/drawing/2014/main" xmlns="" id="{3DF2F1DC-3958-BCDE-9A16-88E928E7ED2D}"/>
              </a:ext>
            </a:extLst>
          </p:cNvPr>
          <p:cNvSpPr>
            <a:spLocks noGrp="1"/>
          </p:cNvSpPr>
          <p:nvPr>
            <p:ph type="sldNum" sz="quarter" idx="12"/>
          </p:nvPr>
        </p:nvSpPr>
        <p:spPr/>
        <p:txBody>
          <a:bodyPr/>
          <a:lstStyle/>
          <a:p>
            <a:fld id="{65201FD4-9D8D-4491-815B-63C7BF4F0034}" type="slidenum">
              <a:rPr lang="en-IN" smtClean="0"/>
              <a:t>‹#›</a:t>
            </a:fld>
            <a:endParaRPr lang="en-IN"/>
          </a:p>
        </p:txBody>
      </p:sp>
    </p:spTree>
    <p:extLst>
      <p:ext uri="{BB962C8B-B14F-4D97-AF65-F5344CB8AC3E}">
        <p14:creationId xmlns:p14="http://schemas.microsoft.com/office/powerpoint/2010/main" val="3153354089"/>
      </p:ext>
    </p:extLst>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xmlns="" id="{85454249-E28B-CF91-F4A6-9762E4F38B7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xmlns="" id="{21E3D641-7C66-CA7D-30A7-7F95AC27EF4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B5E1D408-B228-838E-3E43-4304680A536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3827C3E-786B-4150-9177-1C28966A2ADC}" type="datetime1">
              <a:rPr lang="en-IN" smtClean="0"/>
              <a:t>05/10/26</a:t>
            </a:fld>
            <a:endParaRPr lang="en-IN"/>
          </a:p>
        </p:txBody>
      </p:sp>
      <p:sp>
        <p:nvSpPr>
          <p:cNvPr id="5" name="Footer Placeholder 4">
            <a:extLst>
              <a:ext uri="{FF2B5EF4-FFF2-40B4-BE49-F238E27FC236}">
                <a16:creationId xmlns:a16="http://schemas.microsoft.com/office/drawing/2014/main" xmlns="" id="{DCEC7A69-1922-F157-900C-FF956683161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IN"/>
              <a:t>SCOPE</a:t>
            </a:r>
          </a:p>
        </p:txBody>
      </p:sp>
      <p:sp>
        <p:nvSpPr>
          <p:cNvPr id="6" name="Slide Number Placeholder 5">
            <a:extLst>
              <a:ext uri="{FF2B5EF4-FFF2-40B4-BE49-F238E27FC236}">
                <a16:creationId xmlns:a16="http://schemas.microsoft.com/office/drawing/2014/main" xmlns="" id="{51B80E76-E345-1553-9664-0BCF569B55B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5201FD4-9D8D-4491-815B-63C7BF4F0034}" type="slidenum">
              <a:rPr lang="en-IN" smtClean="0"/>
              <a:t>‹#›</a:t>
            </a:fld>
            <a:endParaRPr lang="en-IN"/>
          </a:p>
        </p:txBody>
      </p:sp>
    </p:spTree>
    <p:extLst>
      <p:ext uri="{BB962C8B-B14F-4D97-AF65-F5344CB8AC3E}">
        <p14:creationId xmlns:p14="http://schemas.microsoft.com/office/powerpoint/2010/main" val="139184105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99"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99"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99"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99"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99"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99"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99"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99"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fig_capstone_schema.png"/><Relationship Id="rId99"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fig_architecture.png"/><Relationship Id="rId99"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99"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99"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99"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fig_regimes.png"/><Relationship Id="rId99"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fig_rank_activity.png"/><Relationship Id="rId3" Type="http://schemas.openxmlformats.org/officeDocument/2006/relationships/image" Target="../media/fig_rank_entity.png"/><Relationship Id="rId99"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99"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99"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99"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99"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xmlns="" id="{3E9E27CD-EF84-CB3A-3D07-A3152356892A}"/>
              </a:ext>
            </a:extLst>
          </p:cNvPr>
          <p:cNvPicPr>
            <a:picLocks noChangeAspect="1"/>
          </p:cNvPicPr>
          <p:nvPr/>
        </p:nvPicPr>
        <p:blipFill>
          <a:blip r:embed="rId2"/>
          <a:stretch>
            <a:fillRect/>
          </a:stretch>
        </p:blipFill>
        <p:spPr>
          <a:xfrm>
            <a:off x="3837236" y="-11493"/>
            <a:ext cx="4517528" cy="1871634"/>
          </a:xfrm>
          <a:prstGeom prst="rect">
            <a:avLst/>
          </a:prstGeom>
        </p:spPr>
      </p:pic>
      <p:sp>
        <p:nvSpPr>
          <p:cNvPr id="7" name="Title 6">
            <a:extLst>
              <a:ext uri="{FF2B5EF4-FFF2-40B4-BE49-F238E27FC236}">
                <a16:creationId xmlns:a16="http://schemas.microsoft.com/office/drawing/2014/main" xmlns="" id="{8BAD67C4-20B4-E1F6-A7E7-C8C33181D0C9}"/>
              </a:ext>
            </a:extLst>
          </p:cNvPr>
          <p:cNvSpPr txBox="1">
            <a:spLocks noGrp="1"/>
          </p:cNvSpPr>
          <p:nvPr>
            <p:ph type="ctrTitle"/>
          </p:nvPr>
        </p:nvSpPr>
        <p:spPr>
          <a:xfrm>
            <a:off x="822960" y="1783080"/>
            <a:ext cx="10543032" cy="1600200"/>
          </a:xfrm>
          <a:prstGeom prst="rect">
            <a:avLst/>
          </a:prstGeom>
          <a:noFill/>
        </p:spPr>
        <p:txBody>
          <a:bodyPr wrap="square" rtlCol="0" anchor="ctr">
            <a:noAutofit/>
          </a:bodyPr>
          <a:lstStyle/>
          <a:p>
            <a:pPr algn="ctr"/>
            <a:r>
              <a:rPr lang="en-IN" sz="2000" b="1" dirty="0">
                <a:latin typeface="Times New Roman" panose="02020603050405020304" pitchFamily="18" charset="0"/>
                <a:cs typeface="Times New Roman" panose="02020603050405020304" pitchFamily="18" charset="0"/>
              </a:rPr>
              <a:t>BCSE497J - Project I  |  B.Tech. Computer Science and Engineering</a:t>
            </a:r>
          </a:p>
          <a:p>
            <a:pPr algn="ctr">
              <a:spcBef>
                <a:spcPts val="800"/>
              </a:spcBef>
            </a:pPr>
            <a:r>
              <a:rPr lang="en-IN" sz="2800" b="1" dirty="0">
                <a:latin typeface="Times New Roman" panose="02020603050405020304" pitchFamily="18" charset="0"/>
                <a:cs typeface="Times New Roman" panose="02020603050405020304" pitchFamily="18" charset="0"/>
              </a:rPr>
              <a:t>Object-Centric Event Log Mining for Academic Capstone Processes: A Native OCEL 2.0 Approach</a:t>
            </a:r>
          </a:p>
        </p:txBody>
      </p:sp>
      <p:sp>
        <p:nvSpPr>
          <p:cNvPr id="9" name="object 3">
            <a:extLst>
              <a:ext uri="{FF2B5EF4-FFF2-40B4-BE49-F238E27FC236}">
                <a16:creationId xmlns:a16="http://schemas.microsoft.com/office/drawing/2014/main" xmlns="" id="{68BC382C-506F-4908-6AC3-C0AA73064F47}"/>
              </a:ext>
            </a:extLst>
          </p:cNvPr>
          <p:cNvSpPr txBox="1"/>
          <p:nvPr/>
        </p:nvSpPr>
        <p:spPr>
          <a:xfrm>
            <a:off x="2926080" y="3611880"/>
            <a:ext cx="6400800" cy="2468880"/>
          </a:xfrm>
          <a:prstGeom prst="rect">
            <a:avLst/>
          </a:prstGeom>
        </p:spPr>
        <p:txBody>
          <a:bodyPr vert="horz" wrap="square" lIns="0" tIns="12700" rIns="0" bIns="0" rtlCol="0">
            <a:noAutofit/>
          </a:bodyPr>
          <a:lstStyle/>
          <a:p>
            <a:pPr marL="12700">
              <a:lnSpc>
                <a:spcPct val="100000"/>
              </a:lnSpc>
              <a:spcBef>
                <a:spcPts val="0"/>
              </a:spcBef>
              <a:tabLst>
                <a:tab pos="3566160" algn="l"/>
              </a:tabLst>
            </a:pPr>
            <a:r>
              <a:rPr lang="en-IN" sz="2000" b="1" dirty="0">
                <a:latin typeface="Times New Roman" panose="02020603050405020304" pitchFamily="18" charset="0"/>
                <a:cs typeface="Times New Roman" panose="02020603050405020304" pitchFamily="18" charset="0"/>
              </a:rPr>
              <a:t>Team members:</a:t>
            </a:r>
          </a:p>
          <a:p>
            <a:pPr marL="12700">
              <a:lnSpc>
                <a:spcPct val="100000"/>
              </a:lnSpc>
              <a:spcBef>
                <a:spcPts val="300"/>
              </a:spcBef>
              <a:tabLst>
                <a:tab pos="3566160" algn="l"/>
              </a:tabLst>
            </a:pPr>
            <a:r>
              <a:rPr lang="en-IN" sz="2000" b="0" dirty="0">
                <a:latin typeface="Times New Roman" panose="02020603050405020304" pitchFamily="18" charset="0"/>
                <a:cs typeface="Times New Roman" panose="02020603050405020304" pitchFamily="18" charset="0"/>
              </a:rPr>
              <a:t>Mitisha Sharma	(23BCE0434)</a:t>
            </a:r>
          </a:p>
          <a:p>
            <a:pPr marL="12700">
              <a:lnSpc>
                <a:spcPct val="100000"/>
              </a:lnSpc>
              <a:spcBef>
                <a:spcPts val="300"/>
              </a:spcBef>
              <a:tabLst>
                <a:tab pos="3566160" algn="l"/>
              </a:tabLst>
            </a:pPr>
            <a:r>
              <a:rPr lang="en-IN" sz="2000" b="0" dirty="0">
                <a:latin typeface="Times New Roman" panose="02020603050405020304" pitchFamily="18" charset="0"/>
                <a:cs typeface="Times New Roman" panose="02020603050405020304" pitchFamily="18" charset="0"/>
              </a:rPr>
              <a:t>Tanmay Khambete	(23BCE0498)</a:t>
            </a:r>
          </a:p>
          <a:p>
            <a:pPr marL="12700">
              <a:lnSpc>
                <a:spcPct val="100000"/>
              </a:lnSpc>
              <a:spcBef>
                <a:spcPts val="300"/>
              </a:spcBef>
              <a:tabLst>
                <a:tab pos="3566160" algn="l"/>
              </a:tabLst>
            </a:pPr>
            <a:r>
              <a:rPr lang="en-IN" sz="2000" b="0" dirty="0">
                <a:latin typeface="Times New Roman" panose="02020603050405020304" pitchFamily="18" charset="0"/>
                <a:cs typeface="Times New Roman" panose="02020603050405020304" pitchFamily="18" charset="0"/>
              </a:rPr>
              <a:t>Aakaash Sathya Saravanan	(23BCE0500)</a:t>
            </a:r>
          </a:p>
          <a:p>
            <a:pPr marL="12700">
              <a:lnSpc>
                <a:spcPct val="100000"/>
              </a:lnSpc>
              <a:spcBef>
                <a:spcPts val="1400"/>
              </a:spcBef>
              <a:tabLst>
                <a:tab pos="3566160" algn="l"/>
              </a:tabLst>
            </a:pPr>
            <a:r>
              <a:rPr lang="en-IN" sz="2000" b="1" dirty="0">
                <a:latin typeface="Times New Roman" panose="02020603050405020304" pitchFamily="18" charset="0"/>
                <a:cs typeface="Times New Roman" panose="02020603050405020304" pitchFamily="18" charset="0"/>
              </a:rPr>
              <a:t>Faculty guide:</a:t>
            </a:r>
          </a:p>
          <a:p>
            <a:pPr marL="12700">
              <a:lnSpc>
                <a:spcPct val="100000"/>
              </a:lnSpc>
              <a:spcBef>
                <a:spcPts val="300"/>
              </a:spcBef>
              <a:tabLst>
                <a:tab pos="3566160" algn="l"/>
              </a:tabLst>
            </a:pPr>
            <a:r>
              <a:rPr lang="en-IN" sz="2000" b="0" dirty="0">
                <a:latin typeface="Times New Roman" panose="02020603050405020304" pitchFamily="18" charset="0"/>
                <a:cs typeface="Times New Roman" panose="02020603050405020304" pitchFamily="18" charset="0"/>
              </a:rPr>
              <a:t>Dr. Kalyanaraman P.</a:t>
            </a:r>
          </a:p>
        </p:txBody>
      </p:sp>
    </p:spTree>
    <p:extLst>
      <p:ext uri="{BB962C8B-B14F-4D97-AF65-F5344CB8AC3E}">
        <p14:creationId xmlns:p14="http://schemas.microsoft.com/office/powerpoint/2010/main" val="4243036810"/>
      </p:ext>
    </p:extLst>
  </p:cSld>
  <p:clrMapOvr>
    <a:masterClrMapping/>
  </p:clrMapOvr>
  <p:timing>
    <p:tnLst>
      <p:par>
        <p:cTn xmlns:p14="http://schemas.microsoft.com/office/powerpoint/2010/mai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a:spLocks noGrp="1"/>
          </p:cNvSpPr>
          <p:nvPr>
            <p:ph type="title"/>
          </p:nvPr>
        </p:nvSpPr>
        <p:spPr>
          <a:xfrm>
            <a:off x="457200" y="502920"/>
            <a:ext cx="11274552" cy="685800"/>
          </a:xfrm>
          <a:prstGeom prst="rect">
            <a:avLst/>
          </a:prstGeom>
        </p:spPr>
        <p:txBody>
          <a:bodyPr vert="horz" wrap="square" lIns="0" tIns="0" rIns="0" bIns="0" rtlCol="0" anchor="ctr">
            <a:noAutofit/>
          </a:bodyPr>
          <a:lstStyle/>
          <a:p>
            <a:pPr marL="0">
              <a:lnSpc>
                <a:spcPct val="100000"/>
              </a:lnSpc>
            </a:pPr>
            <a:r>
              <a:rPr lang="en-IN" sz="3000" b="1" dirty="0">
                <a:latin typeface="Times New Roman" panose="02020603050405020304" pitchFamily="18" charset="0"/>
                <a:cs typeface="Times New Roman" panose="02020603050405020304" pitchFamily="18" charset="0"/>
              </a:rPr>
              <a:t>Approval Mail From Guide</a:t>
            </a:r>
          </a:p>
        </p:txBody>
      </p:sp>
      <p:sp>
        <p:nvSpPr>
          <p:cNvPr id="3" name="Screenshot placeholder 3"/>
          <p:cNvSpPr txBox="1"/>
          <p:nvPr/>
        </p:nvSpPr>
        <p:spPr>
          <a:xfrm>
            <a:off x="457200" y="1417320"/>
            <a:ext cx="6583680" cy="4480560"/>
          </a:xfrm>
          <a:prstGeom prst="rect">
            <a:avLst/>
          </a:prstGeom>
          <a:solidFill>
            <a:srgbClr val="FFFFFF"/>
          </a:solidFill>
          <a:ln w="19050">
            <a:solidFill>
              <a:srgbClr val="5B616B"/>
            </a:solidFill>
            <a:prstDash val="dash"/>
          </a:ln>
        </p:spPr>
        <p:txBody>
          <a:bodyPr wrap="square" lIns="109728" tIns="76810" rIns="109728" bIns="76810" rtlCol="0" anchor="ctr">
            <a:noAutofit/>
          </a:bodyPr>
          <a:lstStyle/>
          <a:p>
            <a:pPr marL="0" indent="0" algn="ctr">
              <a:lnSpc>
                <a:spcPct val="100000"/>
              </a:lnSpc>
              <a:spcBef>
                <a:spcPts val="0"/>
              </a:spcBef>
              <a:spcAft>
                <a:spcPts val="0"/>
              </a:spcAft>
              <a:buNone/>
            </a:pPr>
            <a:r>
              <a:rPr lang="en-IN" sz="2800" b="1" dirty="0">
                <a:solidFill>
                  <a:srgbClr val="1F2328"/>
                </a:solidFill>
                <a:highlight>
                  <a:srgbClr val="FFFF00"/>
                </a:highlight>
                <a:latin typeface="Times New Roman" panose="02020603050405020304" pitchFamily="18" charset="0"/>
                <a:cs typeface="Times New Roman" panose="02020603050405020304" pitchFamily="18" charset="0"/>
              </a:rPr>
              <a:t>PLACEHOLDER</a:t>
            </a:r>
          </a:p>
          <a:p>
            <a:pPr marL="0" indent="0" algn="ctr">
              <a:lnSpc>
                <a:spcPct val="100000"/>
              </a:lnSpc>
              <a:spcBef>
                <a:spcPts val="1000"/>
              </a:spcBef>
              <a:spcAft>
                <a:spcPts val="0"/>
              </a:spcAft>
              <a:buNone/>
            </a:pPr>
            <a:r>
              <a:rPr lang="en-IN" sz="2000" dirty="0">
                <a:solidFill>
                  <a:srgbClr val="1F2328"/>
                </a:solidFill>
                <a:highlight>
                  <a:srgbClr val="FFFF00"/>
                </a:highlight>
                <a:latin typeface="Times New Roman" panose="02020603050405020304" pitchFamily="18" charset="0"/>
                <a:cs typeface="Times New Roman" panose="02020603050405020304" pitchFamily="18" charset="0"/>
              </a:rPr>
              <a:t>insert the guide's approval mail screenshot here</a:t>
            </a:r>
          </a:p>
          <a:p>
            <a:pPr marL="0" indent="0" algn="ctr">
              <a:lnSpc>
                <a:spcPct val="100000"/>
              </a:lnSpc>
              <a:spcBef>
                <a:spcPts val="1400"/>
              </a:spcBef>
              <a:spcAft>
                <a:spcPts val="0"/>
              </a:spcAft>
              <a:buNone/>
            </a:pPr>
            <a:r>
              <a:rPr lang="en-IN" sz="1400" i="1" dirty="0">
                <a:solidFill>
                  <a:srgbClr val="5B616B"/>
                </a:solidFill>
                <a:latin typeface="Times New Roman" panose="02020603050405020304" pitchFamily="18" charset="0"/>
                <a:cs typeface="Times New Roman" panose="02020603050405020304" pitchFamily="18" charset="0"/>
              </a:rPr>
              <a:t>(taken after the guide approves the points on the right)</a:t>
            </a:r>
          </a:p>
        </p:txBody>
      </p:sp>
      <p:sp>
        <p:nvSpPr>
          <p:cNvPr id="4" name="Checklist 4"/>
          <p:cNvSpPr txBox="1"/>
          <p:nvPr/>
        </p:nvSpPr>
        <p:spPr>
          <a:xfrm>
            <a:off x="7315200" y="1417320"/>
            <a:ext cx="4416552" cy="4480560"/>
          </a:xfrm>
          <a:prstGeom prst="roundRect">
            <a:avLst>
              <a:gd name="adj" fmla="val 6000"/>
            </a:avLst>
          </a:prstGeom>
          <a:solidFill>
            <a:srgbClr val="F3F6FA"/>
          </a:solidFill>
          <a:ln>
            <a:noFill/>
          </a:ln>
        </p:spPr>
        <p:txBody>
          <a:bodyPr wrap="square" lIns="109728" tIns="76810" rIns="109728" bIns="76810" rtlCol="0" anchor="t">
            <a:noAutofit/>
          </a:bodyPr>
          <a:lstStyle/>
          <a:p>
            <a:pPr marL="0" indent="0" algn="l">
              <a:lnSpc>
                <a:spcPct val="100000"/>
              </a:lnSpc>
              <a:spcBef>
                <a:spcPts val="0"/>
              </a:spcBef>
              <a:spcAft>
                <a:spcPts val="400"/>
              </a:spcAft>
              <a:buNone/>
            </a:pPr>
            <a:r>
              <a:rPr lang="en-IN" sz="1600" b="1" dirty="0">
                <a:solidFill>
                  <a:srgbClr val="2A78D6"/>
                </a:solidFill>
                <a:latin typeface="Times New Roman" panose="02020603050405020304" pitchFamily="18" charset="0"/>
                <a:cs typeface="Times New Roman" panose="02020603050405020304" pitchFamily="18" charset="0"/>
              </a:rPr>
              <a:t>The mail should confirm</a:t>
            </a:r>
          </a:p>
          <a:p>
            <a:pPr marL="285750" indent="-285750" algn="l">
              <a:lnSpc>
                <a:spcPct val="100000"/>
              </a:lnSpc>
              <a:spcBef>
                <a:spcPts val="700"/>
              </a:spcBef>
              <a:spcAft>
                <a:spcPts val="0"/>
              </a:spcAft>
              <a:buFont typeface="Arial" panose="020B0604020202020204" pitchFamily="34" charset="0"/>
              <a:buChar char="•"/>
            </a:pPr>
            <a:r>
              <a:rPr lang="en-IN" sz="1600" dirty="0">
                <a:solidFill>
                  <a:srgbClr val="1F2328"/>
                </a:solidFill>
                <a:latin typeface="Times New Roman" panose="02020603050405020304" pitchFamily="18" charset="0"/>
                <a:cs typeface="Times New Roman" panose="02020603050405020304" pitchFamily="18" charset="0"/>
              </a:rPr>
              <a:t>Meeting with guide: frequent</a:t>
            </a:r>
          </a:p>
          <a:p>
            <a:pPr marL="285750" indent="-285750" algn="l">
              <a:lnSpc>
                <a:spcPct val="100000"/>
              </a:lnSpc>
              <a:spcBef>
                <a:spcPts val="700"/>
              </a:spcBef>
              <a:spcAft>
                <a:spcPts val="0"/>
              </a:spcAft>
              <a:buFont typeface="Arial" panose="020B0604020202020204" pitchFamily="34" charset="0"/>
              <a:buChar char="•"/>
            </a:pPr>
            <a:r>
              <a:rPr lang="en-IN" sz="1600" dirty="0">
                <a:solidFill>
                  <a:srgbClr val="1F2328"/>
                </a:solidFill>
                <a:latin typeface="Times New Roman" panose="02020603050405020304" pitchFamily="18" charset="0"/>
                <a:cs typeface="Times New Roman" panose="02020603050405020304" pitchFamily="18" charset="0"/>
              </a:rPr>
              <a:t>PowerPoint presentation</a:t>
            </a:r>
          </a:p>
          <a:p>
            <a:pPr marL="285750" indent="-285750" algn="l">
              <a:lnSpc>
                <a:spcPct val="100000"/>
              </a:lnSpc>
              <a:spcBef>
                <a:spcPts val="700"/>
              </a:spcBef>
              <a:spcAft>
                <a:spcPts val="0"/>
              </a:spcAft>
              <a:buFont typeface="Arial" panose="020B0604020202020204" pitchFamily="34" charset="0"/>
              <a:buChar char="•"/>
            </a:pPr>
            <a:r>
              <a:rPr lang="en-IN" sz="1600" dirty="0">
                <a:solidFill>
                  <a:srgbClr val="1F2328"/>
                </a:solidFill>
                <a:latin typeface="Times New Roman" panose="02020603050405020304" pitchFamily="18" charset="0"/>
                <a:cs typeface="Times New Roman" panose="02020603050405020304" pitchFamily="18" charset="0"/>
              </a:rPr>
              <a:t>Project demonstration</a:t>
            </a:r>
          </a:p>
          <a:p>
            <a:pPr marL="285750" indent="-285750" algn="l">
              <a:lnSpc>
                <a:spcPct val="100000"/>
              </a:lnSpc>
              <a:spcBef>
                <a:spcPts val="700"/>
              </a:spcBef>
              <a:spcAft>
                <a:spcPts val="0"/>
              </a:spcAft>
              <a:buFont typeface="Arial" panose="020B0604020202020204" pitchFamily="34" charset="0"/>
              <a:buChar char="•"/>
            </a:pPr>
            <a:r>
              <a:rPr lang="en-IN" sz="1600" dirty="0">
                <a:solidFill>
                  <a:srgbClr val="1F2328"/>
                </a:solidFill>
                <a:latin typeface="Times New Roman" panose="02020603050405020304" pitchFamily="18" charset="0"/>
                <a:cs typeface="Times New Roman" panose="02020603050405020304" pitchFamily="18" charset="0"/>
              </a:rPr>
              <a:t>Final project report</a:t>
            </a:r>
          </a:p>
          <a:p>
            <a:pPr marL="285750" indent="-285750" algn="l">
              <a:lnSpc>
                <a:spcPct val="100000"/>
              </a:lnSpc>
              <a:spcBef>
                <a:spcPts val="700"/>
              </a:spcBef>
              <a:spcAft>
                <a:spcPts val="0"/>
              </a:spcAft>
              <a:buFont typeface="Arial" panose="020B0604020202020204" pitchFamily="34" charset="0"/>
              <a:buChar char="•"/>
            </a:pPr>
            <a:r>
              <a:rPr lang="en-IN" sz="1600" dirty="0">
                <a:solidFill>
                  <a:srgbClr val="1F2328"/>
                </a:solidFill>
                <a:latin typeface="Times New Roman" panose="02020603050405020304" pitchFamily="18" charset="0"/>
                <a:cs typeface="Times New Roman" panose="02020603050405020304" pitchFamily="18" charset="0"/>
              </a:rPr>
              <a:t>Project outcome: </a:t>
            </a:r>
            <a:r>
              <a:rPr lang="en-IN" sz="1600" b="1" dirty="0">
                <a:solidFill>
                  <a:srgbClr val="1F2328"/>
                </a:solidFill>
                <a:latin typeface="Times New Roman" panose="02020603050405020304" pitchFamily="18" charset="0"/>
                <a:cs typeface="Times New Roman" panose="02020603050405020304" pitchFamily="18" charset="0"/>
              </a:rPr>
              <a:t>Ongoing</a:t>
            </a:r>
            <a:r>
              <a:rPr lang="en-IN" sz="1600" dirty="0">
                <a:solidFill>
                  <a:srgbClr val="1F2328"/>
                </a:solidFill>
                <a:latin typeface="Times New Roman" panose="02020603050405020304" pitchFamily="18" charset="0"/>
                <a:cs typeface="Times New Roman" panose="02020603050405020304" pitchFamily="18" charset="0"/>
              </a:rPr>
              <a:t> (manuscript in preparation)</a:t>
            </a:r>
          </a:p>
          <a:p>
            <a:pPr marL="285750" indent="-285750" algn="l">
              <a:lnSpc>
                <a:spcPct val="100000"/>
              </a:lnSpc>
              <a:spcBef>
                <a:spcPts val="700"/>
              </a:spcBef>
              <a:spcAft>
                <a:spcPts val="0"/>
              </a:spcAft>
              <a:buFont typeface="Arial" panose="020B0604020202020204" pitchFamily="34" charset="0"/>
              <a:buChar char="•"/>
            </a:pPr>
            <a:r>
              <a:rPr lang="en-IN" sz="1600" dirty="0">
                <a:solidFill>
                  <a:srgbClr val="1F2328"/>
                </a:solidFill>
                <a:latin typeface="Times New Roman" panose="02020603050405020304" pitchFamily="18" charset="0"/>
                <a:cs typeface="Times New Roman" panose="02020603050405020304" pitchFamily="18" charset="0"/>
              </a:rPr>
              <a:t>Turnitin plagiarism: </a:t>
            </a:r>
            <a:r>
              <a:rPr lang="en-IN" sz="1600" dirty="0">
                <a:solidFill>
                  <a:srgbClr val="1F2328"/>
                </a:solidFill>
                <a:highlight>
                  <a:srgbClr val="FFFF00"/>
                </a:highlight>
                <a:latin typeface="Times New Roman" panose="02020603050405020304" pitchFamily="18" charset="0"/>
                <a:cs typeface="Times New Roman" panose="02020603050405020304" pitchFamily="18" charset="0"/>
              </a:rPr>
              <a:t>[fill in] %</a:t>
            </a:r>
          </a:p>
          <a:p>
            <a:pPr marL="285750" indent="-285750" algn="l">
              <a:lnSpc>
                <a:spcPct val="100000"/>
              </a:lnSpc>
              <a:spcBef>
                <a:spcPts val="700"/>
              </a:spcBef>
              <a:spcAft>
                <a:spcPts val="0"/>
              </a:spcAft>
              <a:buFont typeface="Arial" panose="020B0604020202020204" pitchFamily="34" charset="0"/>
              <a:buChar char="•"/>
            </a:pPr>
            <a:r>
              <a:rPr lang="en-IN" sz="1600" dirty="0">
                <a:solidFill>
                  <a:srgbClr val="1F2328"/>
                </a:solidFill>
                <a:latin typeface="Times New Roman" panose="02020603050405020304" pitchFamily="18" charset="0"/>
                <a:cs typeface="Times New Roman" panose="02020603050405020304" pitchFamily="18" charset="0"/>
              </a:rPr>
              <a:t>Turnitin AI score: </a:t>
            </a:r>
            <a:r>
              <a:rPr lang="en-IN" sz="1600" dirty="0">
                <a:solidFill>
                  <a:srgbClr val="1F2328"/>
                </a:solidFill>
                <a:highlight>
                  <a:srgbClr val="FFFF00"/>
                </a:highlight>
                <a:latin typeface="Times New Roman" panose="02020603050405020304" pitchFamily="18" charset="0"/>
                <a:cs typeface="Times New Roman" panose="02020603050405020304" pitchFamily="18" charset="0"/>
              </a:rPr>
              <a:t>[fill in]</a:t>
            </a:r>
            <a:r>
              <a:rPr lang="en-IN" sz="1600" dirty="0">
                <a:solidFill>
                  <a:srgbClr val="1F2328"/>
                </a:solidFill>
                <a:latin typeface="Times New Roman" panose="02020603050405020304" pitchFamily="18" charset="0"/>
                <a:cs typeface="Times New Roman" panose="02020603050405020304" pitchFamily="18" charset="0"/>
              </a:rPr>
              <a:t> (limit 25%)</a:t>
            </a:r>
          </a:p>
          <a:p>
            <a:pPr marL="285750" indent="-285750" algn="l">
              <a:lnSpc>
                <a:spcPct val="100000"/>
              </a:lnSpc>
              <a:spcBef>
                <a:spcPts val="700"/>
              </a:spcBef>
              <a:spcAft>
                <a:spcPts val="0"/>
              </a:spcAft>
              <a:buFont typeface="Arial" panose="020B0604020202020204" pitchFamily="34" charset="0"/>
              <a:buChar char="•"/>
            </a:pPr>
            <a:r>
              <a:rPr lang="en-IN" sz="1600" dirty="0">
                <a:solidFill>
                  <a:srgbClr val="1F2328"/>
                </a:solidFill>
                <a:latin typeface="Times New Roman" panose="02020603050405020304" pitchFamily="18" charset="0"/>
                <a:cs typeface="Times New Roman" panose="02020603050405020304" pitchFamily="18" charset="0"/>
              </a:rPr>
              <a:t>Project ID: </a:t>
            </a:r>
            <a:r>
              <a:rPr lang="en-IN" sz="1600" dirty="0">
                <a:solidFill>
                  <a:srgbClr val="1F2328"/>
                </a:solidFill>
                <a:highlight>
                  <a:srgbClr val="FFFF00"/>
                </a:highlight>
                <a:latin typeface="Times New Roman" panose="02020603050405020304" pitchFamily="18" charset="0"/>
                <a:cs typeface="Times New Roman" panose="02020603050405020304" pitchFamily="18" charset="0"/>
              </a:rPr>
              <a:t>[fill in]</a:t>
            </a:r>
          </a:p>
        </p:txBody>
      </p:sp>
      <p:sp>
        <p:nvSpPr>
          <p:cNvPr id="5" name="Date Placeholder"/>
          <p:cNvSpPr>
            <a:spLocks noGrp="1"/>
          </p:cNvSpPr>
          <p:nvPr>
            <p:ph type="dt" sz="half" idx="10"/>
          </p:nvPr>
        </p:nvSpPr>
        <p:spPr/>
        <p:txBody>
          <a:bodyPr/>
          <a:lstStyle/>
          <a:p>
            <a:fld id="{61736562-4E3F-4038-A291-A7AE35CC3E6A}" type="datetime1">
              <a:rPr lang="en-IN" smtClean="0"/>
              <a:t>28/10/26</a:t>
            </a:fld>
            <a:endParaRPr lang="en-IN"/>
          </a:p>
        </p:txBody>
      </p:sp>
      <p:sp>
        <p:nvSpPr>
          <p:cNvPr id="6" name="Footer Placeholder"/>
          <p:cNvSpPr>
            <a:spLocks noGrp="1"/>
          </p:cNvSpPr>
          <p:nvPr>
            <p:ph type="ftr" sz="quarter" idx="11"/>
          </p:nvPr>
        </p:nvSpPr>
        <p:spPr/>
        <p:txBody>
          <a:bodyPr/>
          <a:lstStyle/>
          <a:p>
            <a:r>
              <a:rPr lang="en-IN"/>
              <a:t>SCOPE</a:t>
            </a:r>
          </a:p>
        </p:txBody>
      </p:sp>
      <p:sp>
        <p:nvSpPr>
          <p:cNvPr id="7" name="Slide Number Placeholder"/>
          <p:cNvSpPr>
            <a:spLocks noGrp="1"/>
          </p:cNvSpPr>
          <p:nvPr>
            <p:ph type="sldNum" sz="quarter" idx="12"/>
          </p:nvPr>
        </p:nvSpPr>
        <p:spPr/>
        <p:txBody>
          <a:bodyPr/>
          <a:lstStyle/>
          <a:p>
            <a:fld id="{65201FD4-9D8D-4491-815B-63C7BF4F0034}" type="slidenum">
              <a:rPr lang="en-IN" smtClean="0"/>
              <a:t>2</a:t>
            </a:fld>
            <a:endParaRPr lang="en-IN"/>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a:spLocks noGrp="1"/>
          </p:cNvSpPr>
          <p:nvPr>
            <p:ph type="title"/>
          </p:nvPr>
        </p:nvSpPr>
        <p:spPr>
          <a:xfrm>
            <a:off x="457200" y="502920"/>
            <a:ext cx="11274552" cy="685800"/>
          </a:xfrm>
          <a:prstGeom prst="rect">
            <a:avLst/>
          </a:prstGeom>
        </p:spPr>
        <p:txBody>
          <a:bodyPr vert="horz" wrap="square" lIns="0" tIns="0" rIns="0" bIns="0" rtlCol="0" anchor="ctr">
            <a:noAutofit/>
          </a:bodyPr>
          <a:lstStyle/>
          <a:p>
            <a:pPr marL="0">
              <a:lnSpc>
                <a:spcPct val="100000"/>
              </a:lnSpc>
            </a:pPr>
            <a:r>
              <a:rPr lang="en-IN" sz="3000" b="1" dirty="0">
                <a:latin typeface="Times New Roman" panose="02020603050405020304" pitchFamily="18" charset="0"/>
                <a:cs typeface="Times New Roman" panose="02020603050405020304" pitchFamily="18" charset="0"/>
              </a:rPr>
              <a:t>Aim</a:t>
            </a:r>
          </a:p>
        </p:txBody>
      </p:sp>
      <p:sp>
        <p:nvSpPr>
          <p:cNvPr id="3" name="Aim text 3"/>
          <p:cNvSpPr txBox="1"/>
          <p:nvPr/>
        </p:nvSpPr>
        <p:spPr>
          <a:xfrm>
            <a:off x="457200" y="1417320"/>
            <a:ext cx="6675120" cy="4572000"/>
          </a:xfrm>
          <a:prstGeom prst="rect">
            <a:avLst/>
          </a:prstGeom>
          <a:noFill/>
          <a:ln>
            <a:noFill/>
          </a:ln>
        </p:spPr>
        <p:txBody>
          <a:bodyPr wrap="square" lIns="109728" tIns="76810" rIns="109728" bIns="76810" rtlCol="0" anchor="t">
            <a:noAutofit/>
          </a:bodyPr>
          <a:lstStyle/>
          <a:p>
            <a:pPr marL="285750" indent="-285750" algn="l">
              <a:lnSpc>
                <a:spcPct val="100000"/>
              </a:lnSpc>
              <a:spcBef>
                <a:spcPts val="1400"/>
              </a:spcBef>
              <a:spcAft>
                <a:spcPts val="0"/>
              </a:spcAft>
              <a:buFont typeface="Arial" panose="020B0604020202020204" pitchFamily="34" charset="0"/>
              <a:buChar char="•"/>
            </a:pPr>
            <a:r>
              <a:rPr lang="en-IN" sz="2000" dirty="0">
                <a:solidFill>
                  <a:srgbClr val="1F2328"/>
                </a:solidFill>
                <a:latin typeface="Times New Roman" panose="02020603050405020304" pitchFamily="18" charset="0"/>
                <a:cs typeface="Times New Roman" panose="02020603050405020304" pitchFamily="18" charset="0"/>
              </a:rPr>
              <a:t>Model the capstone review lifecycle (project, team, student, guide, report version, score) as an OCEL 2.0 object-centric event log.</a:t>
            </a:r>
          </a:p>
          <a:p>
            <a:pPr marL="285750" indent="-285750" algn="l">
              <a:lnSpc>
                <a:spcPct val="100000"/>
              </a:lnSpc>
              <a:spcBef>
                <a:spcPts val="1400"/>
              </a:spcBef>
              <a:spcAft>
                <a:spcPts val="0"/>
              </a:spcAft>
              <a:buFont typeface="Arial" panose="020B0604020202020204" pitchFamily="34" charset="0"/>
              <a:buChar char="•"/>
            </a:pPr>
            <a:r>
              <a:rPr lang="en-IN" sz="2000" dirty="0">
                <a:solidFill>
                  <a:srgbClr val="1F2328"/>
                </a:solidFill>
                <a:latin typeface="Times New Roman" panose="02020603050405020304" pitchFamily="18" charset="0"/>
                <a:cs typeface="Times New Roman" panose="02020603050405020304" pitchFamily="18" charset="0"/>
              </a:rPr>
              <a:t>Measure, on real public logs, what a flat single-case view hides or distorts, and what a flat export must carry to stay trustworthy.</a:t>
            </a:r>
          </a:p>
          <a:p>
            <a:pPr marL="285750" indent="-285750" algn="l">
              <a:lnSpc>
                <a:spcPct val="100000"/>
              </a:lnSpc>
              <a:spcBef>
                <a:spcPts val="1400"/>
              </a:spcBef>
              <a:spcAft>
                <a:spcPts val="0"/>
              </a:spcAft>
              <a:buFont typeface="Arial" panose="020B0604020202020204" pitchFamily="34" charset="0"/>
              <a:buChar char="•"/>
            </a:pPr>
            <a:r>
              <a:rPr lang="en-IN" sz="2000" dirty="0">
                <a:solidFill>
                  <a:srgbClr val="1F2328"/>
                </a:solidFill>
                <a:latin typeface="Times New Roman" panose="02020603050405020304" pitchFamily="18" charset="0"/>
                <a:cs typeface="Times New Roman" panose="02020603050405020304" pitchFamily="18" charset="0"/>
              </a:rPr>
              <a:t>Do it with reproducible, independently checked code, because production portal logs are not available to us.</a:t>
            </a:r>
          </a:p>
        </p:txBody>
      </p:sp>
      <p:sp>
        <p:nvSpPr>
          <p:cNvPr id="4" name="Question 4"/>
          <p:cNvSpPr txBox="1"/>
          <p:nvPr/>
        </p:nvSpPr>
        <p:spPr>
          <a:xfrm>
            <a:off x="7498080" y="1417320"/>
            <a:ext cx="4233672" cy="4572000"/>
          </a:xfrm>
          <a:prstGeom prst="roundRect">
            <a:avLst>
              <a:gd name="adj" fmla="val 6000"/>
            </a:avLst>
          </a:prstGeom>
          <a:solidFill>
            <a:srgbClr val="E6F0FC"/>
          </a:solidFill>
          <a:ln>
            <a:noFill/>
          </a:ln>
        </p:spPr>
        <p:txBody>
          <a:bodyPr wrap="square" lIns="274320" tIns="192024" rIns="274320" bIns="192024" rtlCol="0" anchor="ctr">
            <a:noAutofit/>
          </a:bodyPr>
          <a:lstStyle/>
          <a:p>
            <a:pPr marL="0" indent="0" algn="l">
              <a:lnSpc>
                <a:spcPct val="100000"/>
              </a:lnSpc>
              <a:spcBef>
                <a:spcPts val="0"/>
              </a:spcBef>
              <a:spcAft>
                <a:spcPts val="1000"/>
              </a:spcAft>
              <a:buNone/>
            </a:pPr>
            <a:r>
              <a:rPr lang="en-IN" sz="1600" b="1" dirty="0">
                <a:solidFill>
                  <a:srgbClr val="2A78D6"/>
                </a:solidFill>
                <a:latin typeface="Times New Roman" panose="02020603050405020304" pitchFamily="18" charset="0"/>
                <a:cs typeface="Times New Roman" panose="02020603050405020304" pitchFamily="18" charset="0"/>
              </a:rPr>
              <a:t>The question we asked</a:t>
            </a:r>
          </a:p>
          <a:p>
            <a:pPr marL="0" indent="0" algn="l">
              <a:lnSpc>
                <a:spcPct val="100000"/>
              </a:lnSpc>
              <a:spcBef>
                <a:spcPts val="0"/>
              </a:spcBef>
              <a:spcAft>
                <a:spcPts val="0"/>
              </a:spcAft>
              <a:buNone/>
            </a:pPr>
            <a:r>
              <a:rPr lang="en-IN" sz="2600" i="1" dirty="0">
                <a:solidFill>
                  <a:srgbClr val="1F2328"/>
                </a:solidFill>
                <a:latin typeface="Times New Roman" panose="02020603050405020304" pitchFamily="18" charset="0"/>
                <a:cs typeface="Times New Roman" panose="02020603050405020304" pitchFamily="18" charset="0"/>
              </a:rPr>
              <a:t>When a workflow with many entities is flattened to one case notion, what do we actually lose?</a:t>
            </a:r>
          </a:p>
        </p:txBody>
      </p:sp>
      <p:sp>
        <p:nvSpPr>
          <p:cNvPr id="5" name="Date Placeholder"/>
          <p:cNvSpPr>
            <a:spLocks noGrp="1"/>
          </p:cNvSpPr>
          <p:nvPr>
            <p:ph type="dt" sz="half" idx="10"/>
          </p:nvPr>
        </p:nvSpPr>
        <p:spPr/>
        <p:txBody>
          <a:bodyPr/>
          <a:lstStyle/>
          <a:p>
            <a:fld id="{61736562-4E3F-4038-A291-A7AE35CC3E6A}" type="datetime1">
              <a:rPr lang="en-IN" smtClean="0"/>
              <a:t>28/10/26</a:t>
            </a:fld>
            <a:endParaRPr lang="en-IN"/>
          </a:p>
        </p:txBody>
      </p:sp>
      <p:sp>
        <p:nvSpPr>
          <p:cNvPr id="6" name="Footer Placeholder"/>
          <p:cNvSpPr>
            <a:spLocks noGrp="1"/>
          </p:cNvSpPr>
          <p:nvPr>
            <p:ph type="ftr" sz="quarter" idx="11"/>
          </p:nvPr>
        </p:nvSpPr>
        <p:spPr/>
        <p:txBody>
          <a:bodyPr/>
          <a:lstStyle/>
          <a:p>
            <a:r>
              <a:rPr lang="en-IN"/>
              <a:t>SCOPE</a:t>
            </a:r>
          </a:p>
        </p:txBody>
      </p:sp>
      <p:sp>
        <p:nvSpPr>
          <p:cNvPr id="7" name="Slide Number Placeholder"/>
          <p:cNvSpPr>
            <a:spLocks noGrp="1"/>
          </p:cNvSpPr>
          <p:nvPr>
            <p:ph type="sldNum" sz="quarter" idx="12"/>
          </p:nvPr>
        </p:nvSpPr>
        <p:spPr/>
        <p:txBody>
          <a:bodyPr/>
          <a:lstStyle/>
          <a:p>
            <a:fld id="{65201FD4-9D8D-4491-815B-63C7BF4F0034}" type="slidenum">
              <a:rPr lang="en-IN" smtClean="0"/>
              <a:t>3</a:t>
            </a:fld>
            <a:endParaRPr lang="en-IN"/>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a:spLocks noGrp="1"/>
          </p:cNvSpPr>
          <p:nvPr>
            <p:ph type="title"/>
          </p:nvPr>
        </p:nvSpPr>
        <p:spPr>
          <a:xfrm>
            <a:off x="457200" y="502920"/>
            <a:ext cx="11274552" cy="685800"/>
          </a:xfrm>
          <a:prstGeom prst="rect">
            <a:avLst/>
          </a:prstGeom>
        </p:spPr>
        <p:txBody>
          <a:bodyPr vert="horz" wrap="square" lIns="0" tIns="0" rIns="0" bIns="0" rtlCol="0" anchor="ctr">
            <a:noAutofit/>
          </a:bodyPr>
          <a:lstStyle/>
          <a:p>
            <a:pPr marL="0">
              <a:lnSpc>
                <a:spcPct val="100000"/>
              </a:lnSpc>
            </a:pPr>
            <a:r>
              <a:rPr lang="en-IN" sz="3000" b="1" dirty="0">
                <a:latin typeface="Times New Roman" panose="02020603050405020304" pitchFamily="18" charset="0"/>
                <a:cs typeface="Times New Roman" panose="02020603050405020304" pitchFamily="18" charset="0"/>
              </a:rPr>
              <a:t>Abstract</a:t>
            </a:r>
          </a:p>
        </p:txBody>
      </p:sp>
      <p:sp>
        <p:nvSpPr>
          <p:cNvPr id="3" name="Abstract text 3"/>
          <p:cNvSpPr txBox="1"/>
          <p:nvPr/>
        </p:nvSpPr>
        <p:spPr>
          <a:xfrm>
            <a:off x="457200" y="1417320"/>
            <a:ext cx="7315200" cy="4754880"/>
          </a:xfrm>
          <a:prstGeom prst="rect">
            <a:avLst/>
          </a:prstGeom>
          <a:noFill/>
          <a:ln>
            <a:noFill/>
          </a:ln>
        </p:spPr>
        <p:txBody>
          <a:bodyPr wrap="square" lIns="109728" tIns="76810" rIns="109728" bIns="76810" rtlCol="0" anchor="t">
            <a:noAutofit/>
          </a:bodyPr>
          <a:lstStyle/>
          <a:p>
            <a:pPr marL="0" indent="0" algn="l">
              <a:lnSpc>
                <a:spcPct val="100000"/>
              </a:lnSpc>
              <a:spcBef>
                <a:spcPts val="0"/>
              </a:spcBef>
              <a:spcAft>
                <a:spcPts val="800"/>
              </a:spcAft>
              <a:buNone/>
            </a:pPr>
            <a:r>
              <a:rPr lang="en-IN" sz="1700" dirty="0">
                <a:solidFill>
                  <a:srgbClr val="1F2328"/>
                </a:solidFill>
                <a:latin typeface="Times New Roman" panose="02020603050405020304" pitchFamily="18" charset="0"/>
                <a:cs typeface="Times New Roman" panose="02020603050405020304" pitchFamily="18" charset="0"/>
              </a:rPr>
              <a:t>Process mining normally assigns each event to one case. A capstone event, however, concerns a project, a team, a guide, a report version and a score at once. Flattening it to a single case notion can duplicate events, drop others, or hide how cases share people and resources.</a:t>
            </a:r>
          </a:p>
          <a:p>
            <a:pPr marL="0" indent="0" algn="l">
              <a:lnSpc>
                <a:spcPct val="100000"/>
              </a:lnSpc>
              <a:spcBef>
                <a:spcPts val="0"/>
              </a:spcBef>
              <a:spcAft>
                <a:spcPts val="800"/>
              </a:spcAft>
              <a:buNone/>
            </a:pPr>
            <a:r>
              <a:rPr lang="en-IN" sz="1700" dirty="0">
                <a:solidFill>
                  <a:srgbClr val="1F2328"/>
                </a:solidFill>
                <a:latin typeface="Times New Roman" panose="02020603050405020304" pitchFamily="18" charset="0"/>
                <a:cs typeface="Times New Roman" panose="02020603050405020304" pitchFamily="18" charset="0"/>
              </a:rPr>
              <a:t>Production portal logs were unavailable, so we built a reproducible OCEL 2.0 pipeline and measured flattening on seven real public logs: code review, education, legislation, e-mail, blockchain and gameplay.</a:t>
            </a:r>
          </a:p>
          <a:p>
            <a:pPr marL="0" indent="0" algn="l">
              <a:lnSpc>
                <a:spcPct val="100000"/>
              </a:lnSpc>
              <a:spcBef>
                <a:spcPts val="0"/>
              </a:spcBef>
              <a:spcAft>
                <a:spcPts val="0"/>
              </a:spcAft>
              <a:buNone/>
            </a:pPr>
            <a:r>
              <a:rPr lang="en-IN" sz="1700" dirty="0">
                <a:solidFill>
                  <a:srgbClr val="1F2328"/>
                </a:solidFill>
                <a:latin typeface="Times New Roman" panose="02020603050405020304" pitchFamily="18" charset="0"/>
                <a:cs typeface="Times New Roman" panose="02020603050405020304" pitchFamily="18" charset="0"/>
              </a:rPr>
              <a:t>Duplication from flattening turned out to be small except in fan-out logs. The larger effect is narrowing: one case notion shows only a slice of the process. Every number is re-computed by open code and checked by independent implementations.</a:t>
            </a:r>
          </a:p>
        </p:txBody>
      </p:sp>
      <p:sp>
        <p:nvSpPr>
          <p:cNvPr id="4" name="Stat 4"/>
          <p:cNvSpPr txBox="1"/>
          <p:nvPr/>
        </p:nvSpPr>
        <p:spPr>
          <a:xfrm>
            <a:off x="8138160" y="1417320"/>
            <a:ext cx="3593592" cy="1143000"/>
          </a:xfrm>
          <a:prstGeom prst="roundRect">
            <a:avLst>
              <a:gd name="adj" fmla="val 6000"/>
            </a:avLst>
          </a:prstGeom>
          <a:solidFill>
            <a:srgbClr val="F3F6FA"/>
          </a:solidFill>
          <a:ln>
            <a:noFill/>
          </a:ln>
        </p:spPr>
        <p:txBody>
          <a:bodyPr wrap="square" lIns="164592" tIns="115214" rIns="164592" bIns="115214" rtlCol="0" anchor="ctr">
            <a:noAutofit/>
          </a:bodyPr>
          <a:lstStyle/>
          <a:p>
            <a:pPr marL="0" indent="0" algn="l">
              <a:lnSpc>
                <a:spcPct val="100000"/>
              </a:lnSpc>
              <a:spcBef>
                <a:spcPts val="0"/>
              </a:spcBef>
              <a:spcAft>
                <a:spcPts val="0"/>
              </a:spcAft>
              <a:buNone/>
            </a:pPr>
            <a:r>
              <a:rPr lang="en-IN" sz="4000" b="1" dirty="0">
                <a:solidFill>
                  <a:srgbClr val="2A78D6"/>
                </a:solidFill>
                <a:latin typeface="Times New Roman" panose="02020603050405020304" pitchFamily="18" charset="0"/>
                <a:cs typeface="Times New Roman" panose="02020603050405020304" pitchFamily="18" charset="0"/>
              </a:rPr>
              <a:t>7</a:t>
            </a:r>
          </a:p>
          <a:p>
            <a:pPr marL="0" indent="0" algn="l">
              <a:lnSpc>
                <a:spcPct val="100000"/>
              </a:lnSpc>
              <a:spcBef>
                <a:spcPts val="0"/>
              </a:spcBef>
              <a:spcAft>
                <a:spcPts val="0"/>
              </a:spcAft>
              <a:buNone/>
            </a:pPr>
            <a:r>
              <a:rPr lang="en-IN" sz="1400" dirty="0">
                <a:solidFill>
                  <a:srgbClr val="5B616B"/>
                </a:solidFill>
                <a:latin typeface="Times New Roman" panose="02020603050405020304" pitchFamily="18" charset="0"/>
                <a:cs typeface="Times New Roman" panose="02020603050405020304" pitchFamily="18" charset="0"/>
              </a:rPr>
              <a:t>real public logs, none synthetic</a:t>
            </a:r>
          </a:p>
        </p:txBody>
      </p:sp>
      <p:sp>
        <p:nvSpPr>
          <p:cNvPr id="5" name="Stat 5"/>
          <p:cNvSpPr txBox="1"/>
          <p:nvPr/>
        </p:nvSpPr>
        <p:spPr>
          <a:xfrm>
            <a:off x="8138160" y="2788920"/>
            <a:ext cx="3593592" cy="1143000"/>
          </a:xfrm>
          <a:prstGeom prst="roundRect">
            <a:avLst>
              <a:gd name="adj" fmla="val 6000"/>
            </a:avLst>
          </a:prstGeom>
          <a:solidFill>
            <a:srgbClr val="F3F6FA"/>
          </a:solidFill>
          <a:ln>
            <a:noFill/>
          </a:ln>
        </p:spPr>
        <p:txBody>
          <a:bodyPr wrap="square" lIns="164592" tIns="115214" rIns="164592" bIns="115214" rtlCol="0" anchor="ctr">
            <a:noAutofit/>
          </a:bodyPr>
          <a:lstStyle/>
          <a:p>
            <a:pPr marL="0" indent="0" algn="l">
              <a:lnSpc>
                <a:spcPct val="100000"/>
              </a:lnSpc>
              <a:spcBef>
                <a:spcPts val="0"/>
              </a:spcBef>
              <a:spcAft>
                <a:spcPts val="0"/>
              </a:spcAft>
              <a:buNone/>
            </a:pPr>
            <a:r>
              <a:rPr lang="en-IN" sz="4000" b="1" dirty="0">
                <a:solidFill>
                  <a:srgbClr val="EB6834"/>
                </a:solidFill>
                <a:latin typeface="Times New Roman" panose="02020603050405020304" pitchFamily="18" charset="0"/>
                <a:cs typeface="Times New Roman" panose="02020603050405020304" pitchFamily="18" charset="0"/>
              </a:rPr>
              <a:t>38</a:t>
            </a:r>
          </a:p>
          <a:p>
            <a:pPr marL="0" indent="0" algn="l">
              <a:lnSpc>
                <a:spcPct val="100000"/>
              </a:lnSpc>
              <a:spcBef>
                <a:spcPts val="0"/>
              </a:spcBef>
              <a:spcAft>
                <a:spcPts val="0"/>
              </a:spcAft>
              <a:buNone/>
            </a:pPr>
            <a:r>
              <a:rPr lang="en-IN" sz="1400" dirty="0">
                <a:solidFill>
                  <a:srgbClr val="5B616B"/>
                </a:solidFill>
                <a:latin typeface="Times New Roman" panose="02020603050405020304" pitchFamily="18" charset="0"/>
                <a:cs typeface="Times New Roman" panose="02020603050405020304" pitchFamily="18" charset="0"/>
              </a:rPr>
              <a:t>case notions compared against the object-centric reference</a:t>
            </a:r>
          </a:p>
        </p:txBody>
      </p:sp>
      <p:sp>
        <p:nvSpPr>
          <p:cNvPr id="6" name="Stat 6"/>
          <p:cNvSpPr txBox="1"/>
          <p:nvPr/>
        </p:nvSpPr>
        <p:spPr>
          <a:xfrm>
            <a:off x="8138160" y="4160520"/>
            <a:ext cx="3593592" cy="1143000"/>
          </a:xfrm>
          <a:prstGeom prst="roundRect">
            <a:avLst>
              <a:gd name="adj" fmla="val 6000"/>
            </a:avLst>
          </a:prstGeom>
          <a:solidFill>
            <a:srgbClr val="F3F6FA"/>
          </a:solidFill>
          <a:ln>
            <a:noFill/>
          </a:ln>
        </p:spPr>
        <p:txBody>
          <a:bodyPr wrap="square" lIns="164592" tIns="115214" rIns="164592" bIns="115214" rtlCol="0" anchor="ctr">
            <a:noAutofit/>
          </a:bodyPr>
          <a:lstStyle/>
          <a:p>
            <a:pPr marL="0" indent="0" algn="l">
              <a:lnSpc>
                <a:spcPct val="100000"/>
              </a:lnSpc>
              <a:spcBef>
                <a:spcPts val="0"/>
              </a:spcBef>
              <a:spcAft>
                <a:spcPts val="0"/>
              </a:spcAft>
              <a:buNone/>
            </a:pPr>
            <a:r>
              <a:rPr lang="en-IN" sz="4000" b="1" dirty="0">
                <a:solidFill>
                  <a:srgbClr val="1BAF7A"/>
                </a:solidFill>
                <a:latin typeface="Times New Roman" panose="02020603050405020304" pitchFamily="18" charset="0"/>
                <a:cs typeface="Times New Roman" panose="02020603050405020304" pitchFamily="18" charset="0"/>
              </a:rPr>
              <a:t>0</a:t>
            </a:r>
          </a:p>
          <a:p>
            <a:pPr marL="0" indent="0" algn="l">
              <a:lnSpc>
                <a:spcPct val="100000"/>
              </a:lnSpc>
              <a:spcBef>
                <a:spcPts val="0"/>
              </a:spcBef>
              <a:spcAft>
                <a:spcPts val="0"/>
              </a:spcAft>
              <a:buNone/>
            </a:pPr>
            <a:r>
              <a:rPr lang="en-IN" sz="1400" dirty="0">
                <a:solidFill>
                  <a:srgbClr val="5B616B"/>
                </a:solidFill>
                <a:latin typeface="Times New Roman" panose="02020603050405020304" pitchFamily="18" charset="0"/>
                <a:cs typeface="Times New Roman" panose="02020603050405020304" pitchFamily="18" charset="0"/>
              </a:rPr>
              <a:t>results from simulated or injected data</a:t>
            </a:r>
          </a:p>
        </p:txBody>
      </p:sp>
      <p:sp>
        <p:nvSpPr>
          <p:cNvPr id="7" name="Date Placeholder"/>
          <p:cNvSpPr>
            <a:spLocks noGrp="1"/>
          </p:cNvSpPr>
          <p:nvPr>
            <p:ph type="dt" sz="half" idx="10"/>
          </p:nvPr>
        </p:nvSpPr>
        <p:spPr/>
        <p:txBody>
          <a:bodyPr/>
          <a:lstStyle/>
          <a:p>
            <a:fld id="{61736562-4E3F-4038-A291-A7AE35CC3E6A}" type="datetime1">
              <a:rPr lang="en-IN" smtClean="0"/>
              <a:t>28/10/26</a:t>
            </a:fld>
            <a:endParaRPr lang="en-IN"/>
          </a:p>
        </p:txBody>
      </p:sp>
      <p:sp>
        <p:nvSpPr>
          <p:cNvPr id="8" name="Footer Placeholder"/>
          <p:cNvSpPr>
            <a:spLocks noGrp="1"/>
          </p:cNvSpPr>
          <p:nvPr>
            <p:ph type="ftr" sz="quarter" idx="11"/>
          </p:nvPr>
        </p:nvSpPr>
        <p:spPr/>
        <p:txBody>
          <a:bodyPr/>
          <a:lstStyle/>
          <a:p>
            <a:r>
              <a:rPr lang="en-IN"/>
              <a:t>SCOPE</a:t>
            </a:r>
          </a:p>
        </p:txBody>
      </p:sp>
      <p:sp>
        <p:nvSpPr>
          <p:cNvPr id="9" name="Slide Number Placeholder"/>
          <p:cNvSpPr>
            <a:spLocks noGrp="1"/>
          </p:cNvSpPr>
          <p:nvPr>
            <p:ph type="sldNum" sz="quarter" idx="12"/>
          </p:nvPr>
        </p:nvSpPr>
        <p:spPr/>
        <p:txBody>
          <a:bodyPr/>
          <a:lstStyle/>
          <a:p>
            <a:fld id="{65201FD4-9D8D-4491-815B-63C7BF4F0034}" type="slidenum">
              <a:rPr lang="en-IN" smtClean="0"/>
              <a:t>4</a:t>
            </a:fld>
            <a:endParaRPr lang="en-IN"/>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a:spLocks noGrp="1"/>
          </p:cNvSpPr>
          <p:nvPr>
            <p:ph type="title"/>
          </p:nvPr>
        </p:nvSpPr>
        <p:spPr>
          <a:xfrm>
            <a:off x="457200" y="502920"/>
            <a:ext cx="11274552" cy="685800"/>
          </a:xfrm>
          <a:prstGeom prst="rect">
            <a:avLst/>
          </a:prstGeom>
        </p:spPr>
        <p:txBody>
          <a:bodyPr vert="horz" wrap="square" lIns="0" tIns="0" rIns="0" bIns="0" rtlCol="0" anchor="ctr">
            <a:noAutofit/>
          </a:bodyPr>
          <a:lstStyle/>
          <a:p>
            <a:pPr marL="0">
              <a:lnSpc>
                <a:spcPct val="100000"/>
              </a:lnSpc>
            </a:pPr>
            <a:r>
              <a:rPr lang="en-IN" sz="3000" b="1" dirty="0">
                <a:latin typeface="Times New Roman" panose="02020603050405020304" pitchFamily="18" charset="0"/>
                <a:cs typeface="Times New Roman" panose="02020603050405020304" pitchFamily="18" charset="0"/>
              </a:rPr>
              <a:t>Literature Review (1/2)</a:t>
            </a:r>
          </a:p>
        </p:txBody>
      </p:sp>
      <p:graphicFrame>
        <p:nvGraphicFramePr>
          <p:cNvPr id="3" name="Table 3"/>
          <p:cNvGraphicFramePr>
            <a:graphicFrameLocks noGrp="1"/>
          </p:cNvGraphicFramePr>
          <p:nvPr/>
        </p:nvGraphicFramePr>
        <p:xfrm>
          <a:off x="457200" y="1371600"/>
          <a:ext cx="11274552" cy="4873752"/>
        </p:xfrm>
        <a:graphic>
          <a:graphicData uri="http://schemas.openxmlformats.org/drawingml/2006/table">
            <a:tbl>
              <a:tblPr firstRow="1" bandRow="1"/>
              <a:tblGrid>
                <a:gridCol w="1965960"/>
                <a:gridCol w="2286000"/>
                <a:gridCol w="2377440"/>
                <a:gridCol w="2377440"/>
                <a:gridCol w="2267712"/>
              </a:tblGrid>
              <a:tr h="411480">
                <a:tc>
                  <a:txBody>
                    <a:bodyPr/>
                    <a:lstStyle/>
                    <a:p>
                      <a:pPr marL="0" indent="0" algn="l">
                        <a:lnSpc>
                          <a:spcPct val="100000"/>
                        </a:lnSpc>
                        <a:spcBef>
                          <a:spcPts val="0"/>
                        </a:spcBef>
                        <a:spcAft>
                          <a:spcPts val="0"/>
                        </a:spcAft>
                        <a:buNone/>
                      </a:pPr>
                      <a:r>
                        <a:rPr lang="en-IN" sz="1300" b="1" dirty="0">
                          <a:solidFill>
                            <a:srgbClr val="FFFFFF"/>
                          </a:solidFill>
                          <a:latin typeface="Times New Roman" panose="02020603050405020304" pitchFamily="18" charset="0"/>
                          <a:cs typeface="Times New Roman" panose="02020603050405020304" pitchFamily="18" charset="0"/>
                        </a:rPr>
                        <a:t>Paper</a:t>
                      </a:r>
                    </a:p>
                  </a:txBody>
                  <a:tcPr marL="73152" marR="73152" marT="45720" marB="45720" anchor="ctr">
                    <a:lnL w="9525">
                      <a:solidFill>
                        <a:srgbClr val="C9D3E0"/>
                      </a:solidFill>
                    </a:lnL>
                    <a:lnR w="9525">
                      <a:solidFill>
                        <a:srgbClr val="C9D3E0"/>
                      </a:solidFill>
                    </a:lnR>
                    <a:lnT w="9525">
                      <a:solidFill>
                        <a:srgbClr val="C9D3E0"/>
                      </a:solidFill>
                    </a:lnT>
                    <a:lnB w="9525">
                      <a:solidFill>
                        <a:srgbClr val="C9D3E0"/>
                      </a:solidFill>
                    </a:lnB>
                    <a:solidFill>
                      <a:srgbClr val="2A78D6"/>
                    </a:solidFill>
                  </a:tcPr>
                </a:tc>
                <a:tc>
                  <a:txBody>
                    <a:bodyPr/>
                    <a:lstStyle/>
                    <a:p>
                      <a:pPr marL="0" indent="0" algn="l">
                        <a:lnSpc>
                          <a:spcPct val="100000"/>
                        </a:lnSpc>
                        <a:spcBef>
                          <a:spcPts val="0"/>
                        </a:spcBef>
                        <a:spcAft>
                          <a:spcPts val="0"/>
                        </a:spcAft>
                        <a:buNone/>
                      </a:pPr>
                      <a:r>
                        <a:rPr lang="en-IN" sz="1300" b="1" dirty="0">
                          <a:solidFill>
                            <a:srgbClr val="FFFFFF"/>
                          </a:solidFill>
                          <a:latin typeface="Times New Roman" panose="02020603050405020304" pitchFamily="18" charset="0"/>
                          <a:cs typeface="Times New Roman" panose="02020603050405020304" pitchFamily="18" charset="0"/>
                        </a:rPr>
                        <a:t>Objective</a:t>
                      </a:r>
                    </a:p>
                  </a:txBody>
                  <a:tcPr marL="73152" marR="73152" marT="45720" marB="45720" anchor="ctr">
                    <a:lnL w="9525">
                      <a:solidFill>
                        <a:srgbClr val="C9D3E0"/>
                      </a:solidFill>
                    </a:lnL>
                    <a:lnR w="9525">
                      <a:solidFill>
                        <a:srgbClr val="C9D3E0"/>
                      </a:solidFill>
                    </a:lnR>
                    <a:lnT w="9525">
                      <a:solidFill>
                        <a:srgbClr val="C9D3E0"/>
                      </a:solidFill>
                    </a:lnT>
                    <a:lnB w="9525">
                      <a:solidFill>
                        <a:srgbClr val="C9D3E0"/>
                      </a:solidFill>
                    </a:lnB>
                    <a:solidFill>
                      <a:srgbClr val="2A78D6"/>
                    </a:solidFill>
                  </a:tcPr>
                </a:tc>
                <a:tc>
                  <a:txBody>
                    <a:bodyPr/>
                    <a:lstStyle/>
                    <a:p>
                      <a:pPr marL="0" indent="0" algn="l">
                        <a:lnSpc>
                          <a:spcPct val="100000"/>
                        </a:lnSpc>
                        <a:spcBef>
                          <a:spcPts val="0"/>
                        </a:spcBef>
                        <a:spcAft>
                          <a:spcPts val="0"/>
                        </a:spcAft>
                        <a:buNone/>
                      </a:pPr>
                      <a:r>
                        <a:rPr lang="en-IN" sz="1300" b="1" dirty="0">
                          <a:solidFill>
                            <a:srgbClr val="FFFFFF"/>
                          </a:solidFill>
                          <a:latin typeface="Times New Roman" panose="02020603050405020304" pitchFamily="18" charset="0"/>
                          <a:cs typeface="Times New Roman" panose="02020603050405020304" pitchFamily="18" charset="0"/>
                        </a:rPr>
                        <a:t>Methodology</a:t>
                      </a:r>
                    </a:p>
                  </a:txBody>
                  <a:tcPr marL="73152" marR="73152" marT="45720" marB="45720" anchor="ctr">
                    <a:lnL w="9525">
                      <a:solidFill>
                        <a:srgbClr val="C9D3E0"/>
                      </a:solidFill>
                    </a:lnL>
                    <a:lnR w="9525">
                      <a:solidFill>
                        <a:srgbClr val="C9D3E0"/>
                      </a:solidFill>
                    </a:lnR>
                    <a:lnT w="9525">
                      <a:solidFill>
                        <a:srgbClr val="C9D3E0"/>
                      </a:solidFill>
                    </a:lnT>
                    <a:lnB w="9525">
                      <a:solidFill>
                        <a:srgbClr val="C9D3E0"/>
                      </a:solidFill>
                    </a:lnB>
                    <a:solidFill>
                      <a:srgbClr val="2A78D6"/>
                    </a:solidFill>
                  </a:tcPr>
                </a:tc>
                <a:tc>
                  <a:txBody>
                    <a:bodyPr/>
                    <a:lstStyle/>
                    <a:p>
                      <a:pPr marL="0" indent="0" algn="l">
                        <a:lnSpc>
                          <a:spcPct val="100000"/>
                        </a:lnSpc>
                        <a:spcBef>
                          <a:spcPts val="0"/>
                        </a:spcBef>
                        <a:spcAft>
                          <a:spcPts val="0"/>
                        </a:spcAft>
                        <a:buNone/>
                      </a:pPr>
                      <a:r>
                        <a:rPr lang="en-IN" sz="1300" b="1" dirty="0">
                          <a:solidFill>
                            <a:srgbClr val="FFFFFF"/>
                          </a:solidFill>
                          <a:latin typeface="Times New Roman" panose="02020603050405020304" pitchFamily="18" charset="0"/>
                          <a:cs typeface="Times New Roman" panose="02020603050405020304" pitchFamily="18" charset="0"/>
                        </a:rPr>
                        <a:t>Pros / Cons</a:t>
                      </a:r>
                    </a:p>
                  </a:txBody>
                  <a:tcPr marL="73152" marR="73152" marT="45720" marB="45720" anchor="ctr">
                    <a:lnL w="9525">
                      <a:solidFill>
                        <a:srgbClr val="C9D3E0"/>
                      </a:solidFill>
                    </a:lnL>
                    <a:lnR w="9525">
                      <a:solidFill>
                        <a:srgbClr val="C9D3E0"/>
                      </a:solidFill>
                    </a:lnR>
                    <a:lnT w="9525">
                      <a:solidFill>
                        <a:srgbClr val="C9D3E0"/>
                      </a:solidFill>
                    </a:lnT>
                    <a:lnB w="9525">
                      <a:solidFill>
                        <a:srgbClr val="C9D3E0"/>
                      </a:solidFill>
                    </a:lnB>
                    <a:solidFill>
                      <a:srgbClr val="2A78D6"/>
                    </a:solidFill>
                  </a:tcPr>
                </a:tc>
                <a:tc>
                  <a:txBody>
                    <a:bodyPr/>
                    <a:lstStyle/>
                    <a:p>
                      <a:pPr marL="0" indent="0" algn="l">
                        <a:lnSpc>
                          <a:spcPct val="100000"/>
                        </a:lnSpc>
                        <a:spcBef>
                          <a:spcPts val="0"/>
                        </a:spcBef>
                        <a:spcAft>
                          <a:spcPts val="0"/>
                        </a:spcAft>
                        <a:buNone/>
                      </a:pPr>
                      <a:r>
                        <a:rPr lang="en-IN" sz="1300" b="1" dirty="0">
                          <a:solidFill>
                            <a:srgbClr val="FFFFFF"/>
                          </a:solidFill>
                          <a:latin typeface="Times New Roman" panose="02020603050405020304" pitchFamily="18" charset="0"/>
                          <a:cs typeface="Times New Roman" panose="02020603050405020304" pitchFamily="18" charset="0"/>
                        </a:rPr>
                        <a:t>Findings</a:t>
                      </a:r>
                    </a:p>
                  </a:txBody>
                  <a:tcPr marL="73152" marR="73152" marT="45720" marB="45720" anchor="ctr">
                    <a:lnL w="9525">
                      <a:solidFill>
                        <a:srgbClr val="C9D3E0"/>
                      </a:solidFill>
                    </a:lnL>
                    <a:lnR w="9525">
                      <a:solidFill>
                        <a:srgbClr val="C9D3E0"/>
                      </a:solidFill>
                    </a:lnR>
                    <a:lnT w="9525">
                      <a:solidFill>
                        <a:srgbClr val="C9D3E0"/>
                      </a:solidFill>
                    </a:lnT>
                    <a:lnB w="9525">
                      <a:solidFill>
                        <a:srgbClr val="C9D3E0"/>
                      </a:solidFill>
                    </a:lnB>
                    <a:solidFill>
                      <a:srgbClr val="2A78D6"/>
                    </a:solidFill>
                  </a:tcPr>
                </a:tc>
              </a:tr>
              <a:tr h="1115568">
                <a:tc>
                  <a:txBody>
                    <a:bodyPr/>
                    <a:lstStyle/>
                    <a:p>
                      <a:pPr marL="0" indent="0" algn="l">
                        <a:lnSpc>
                          <a:spcPct val="100000"/>
                        </a:lnSpc>
                        <a:spcBef>
                          <a:spcPts val="0"/>
                        </a:spcBef>
                        <a:spcAft>
                          <a:spcPts val="0"/>
                        </a:spcAft>
                        <a:buNone/>
                      </a:pPr>
                      <a:r>
                        <a:rPr lang="en-IN" sz="1300" dirty="0">
                          <a:solidFill>
                            <a:srgbClr val="1F2328"/>
                          </a:solidFill>
                          <a:latin typeface="Times New Roman" panose="02020603050405020304" pitchFamily="18" charset="0"/>
                          <a:cs typeface="Times New Roman" panose="02020603050405020304" pitchFamily="18" charset="0"/>
                        </a:rPr>
                        <a:t>van der Aalst (2019) [1]</a:t>
                      </a:r>
                    </a:p>
                  </a:txBody>
                  <a:tcPr marL="73152" marR="73152" marT="45720" marB="45720" anchor="ctr">
                    <a:lnL w="9525">
                      <a:solidFill>
                        <a:srgbClr val="C9D3E0"/>
                      </a:solidFill>
                    </a:lnL>
                    <a:lnR w="9525">
                      <a:solidFill>
                        <a:srgbClr val="C9D3E0"/>
                      </a:solidFill>
                    </a:lnR>
                    <a:lnT w="9525">
                      <a:solidFill>
                        <a:srgbClr val="C9D3E0"/>
                      </a:solidFill>
                    </a:lnT>
                    <a:lnB w="9525">
                      <a:solidFill>
                        <a:srgbClr val="C9D3E0"/>
                      </a:solidFill>
                    </a:lnB>
                    <a:solidFill>
                      <a:srgbClr val="EEF3FA"/>
                    </a:solidFill>
                  </a:tcPr>
                </a:tc>
                <a:tc>
                  <a:txBody>
                    <a:bodyPr/>
                    <a:lstStyle/>
                    <a:p>
                      <a:pPr marL="0" indent="0" algn="l">
                        <a:lnSpc>
                          <a:spcPct val="100000"/>
                        </a:lnSpc>
                        <a:spcBef>
                          <a:spcPts val="0"/>
                        </a:spcBef>
                        <a:spcAft>
                          <a:spcPts val="0"/>
                        </a:spcAft>
                        <a:buNone/>
                      </a:pPr>
                      <a:r>
                        <a:rPr lang="en-IN" sz="1300" dirty="0">
                          <a:solidFill>
                            <a:srgbClr val="1F2328"/>
                          </a:solidFill>
                          <a:latin typeface="Times New Roman" panose="02020603050405020304" pitchFamily="18" charset="0"/>
                          <a:cs typeface="Times New Roman" panose="02020603050405020304" pitchFamily="18" charset="0"/>
                        </a:rPr>
                        <a:t>Name the problems of one-case-per-event logs</a:t>
                      </a:r>
                    </a:p>
                  </a:txBody>
                  <a:tcPr marL="73152" marR="73152" marT="45720" marB="45720" anchor="ctr">
                    <a:lnL w="9525">
                      <a:solidFill>
                        <a:srgbClr val="C9D3E0"/>
                      </a:solidFill>
                    </a:lnL>
                    <a:lnR w="9525">
                      <a:solidFill>
                        <a:srgbClr val="C9D3E0"/>
                      </a:solidFill>
                    </a:lnR>
                    <a:lnT w="9525">
                      <a:solidFill>
                        <a:srgbClr val="C9D3E0"/>
                      </a:solidFill>
                    </a:lnT>
                    <a:lnB w="9525">
                      <a:solidFill>
                        <a:srgbClr val="C9D3E0"/>
                      </a:solidFill>
                    </a:lnB>
                    <a:solidFill>
                      <a:srgbClr val="EEF3FA"/>
                    </a:solidFill>
                  </a:tcPr>
                </a:tc>
                <a:tc>
                  <a:txBody>
                    <a:bodyPr/>
                    <a:lstStyle/>
                    <a:p>
                      <a:pPr marL="0" indent="0" algn="l">
                        <a:lnSpc>
                          <a:spcPct val="100000"/>
                        </a:lnSpc>
                        <a:spcBef>
                          <a:spcPts val="0"/>
                        </a:spcBef>
                        <a:spcAft>
                          <a:spcPts val="0"/>
                        </a:spcAft>
                        <a:buNone/>
                      </a:pPr>
                      <a:r>
                        <a:rPr lang="en-IN" sz="1300" dirty="0">
                          <a:solidFill>
                            <a:srgbClr val="1F2328"/>
                          </a:solidFill>
                          <a:latin typeface="Times New Roman" panose="02020603050405020304" pitchFamily="18" charset="0"/>
                          <a:cs typeface="Times New Roman" panose="02020603050405020304" pitchFamily="18" charset="0"/>
                        </a:rPr>
                        <a:t>Conceptual analysis with worked examples</a:t>
                      </a:r>
                    </a:p>
                  </a:txBody>
                  <a:tcPr marL="73152" marR="73152" marT="45720" marB="45720" anchor="ctr">
                    <a:lnL w="9525">
                      <a:solidFill>
                        <a:srgbClr val="C9D3E0"/>
                      </a:solidFill>
                    </a:lnL>
                    <a:lnR w="9525">
                      <a:solidFill>
                        <a:srgbClr val="C9D3E0"/>
                      </a:solidFill>
                    </a:lnR>
                    <a:lnT w="9525">
                      <a:solidFill>
                        <a:srgbClr val="C9D3E0"/>
                      </a:solidFill>
                    </a:lnT>
                    <a:lnB w="9525">
                      <a:solidFill>
                        <a:srgbClr val="C9D3E0"/>
                      </a:solidFill>
                    </a:lnB>
                    <a:solidFill>
                      <a:srgbClr val="EEF3FA"/>
                    </a:solidFill>
                  </a:tcPr>
                </a:tc>
                <a:tc>
                  <a:txBody>
                    <a:bodyPr/>
                    <a:lstStyle/>
                    <a:p>
                      <a:pPr marL="0" indent="0" algn="l">
                        <a:lnSpc>
                          <a:spcPct val="100000"/>
                        </a:lnSpc>
                        <a:spcBef>
                          <a:spcPts val="0"/>
                        </a:spcBef>
                        <a:spcAft>
                          <a:spcPts val="0"/>
                        </a:spcAft>
                        <a:buNone/>
                      </a:pPr>
                      <a:r>
                        <a:rPr lang="en-IN" sz="1300" dirty="0">
                          <a:solidFill>
                            <a:srgbClr val="1F2328"/>
                          </a:solidFill>
                          <a:latin typeface="Times New Roman" panose="02020603050405020304" pitchFamily="18" charset="0"/>
                          <a:cs typeface="Times New Roman" panose="02020603050405020304" pitchFamily="18" charset="0"/>
                        </a:rPr>
                        <a:t>Pro: defines convergence, divergence. Con: no measurement on real logs</a:t>
                      </a:r>
                    </a:p>
                  </a:txBody>
                  <a:tcPr marL="73152" marR="73152" marT="45720" marB="45720" anchor="ctr">
                    <a:lnL w="9525">
                      <a:solidFill>
                        <a:srgbClr val="C9D3E0"/>
                      </a:solidFill>
                    </a:lnL>
                    <a:lnR w="9525">
                      <a:solidFill>
                        <a:srgbClr val="C9D3E0"/>
                      </a:solidFill>
                    </a:lnR>
                    <a:lnT w="9525">
                      <a:solidFill>
                        <a:srgbClr val="C9D3E0"/>
                      </a:solidFill>
                    </a:lnT>
                    <a:lnB w="9525">
                      <a:solidFill>
                        <a:srgbClr val="C9D3E0"/>
                      </a:solidFill>
                    </a:lnB>
                    <a:solidFill>
                      <a:srgbClr val="EEF3FA"/>
                    </a:solidFill>
                  </a:tcPr>
                </a:tc>
                <a:tc>
                  <a:txBody>
                    <a:bodyPr/>
                    <a:lstStyle/>
                    <a:p>
                      <a:pPr marL="0" indent="0" algn="l">
                        <a:lnSpc>
                          <a:spcPct val="100000"/>
                        </a:lnSpc>
                        <a:spcBef>
                          <a:spcPts val="0"/>
                        </a:spcBef>
                        <a:spcAft>
                          <a:spcPts val="0"/>
                        </a:spcAft>
                        <a:buNone/>
                      </a:pPr>
                      <a:r>
                        <a:rPr lang="en-IN" sz="1300" dirty="0">
                          <a:solidFill>
                            <a:srgbClr val="1F2328"/>
                          </a:solidFill>
                          <a:latin typeface="Times New Roman" panose="02020603050405020304" pitchFamily="18" charset="0"/>
                          <a:cs typeface="Times New Roman" panose="02020603050405020304" pitchFamily="18" charset="0"/>
                        </a:rPr>
                        <a:t>Flattening copies events across cases or mis-orders them</a:t>
                      </a:r>
                    </a:p>
                  </a:txBody>
                  <a:tcPr marL="73152" marR="73152" marT="45720" marB="45720" anchor="ctr">
                    <a:lnL w="9525">
                      <a:solidFill>
                        <a:srgbClr val="C9D3E0"/>
                      </a:solidFill>
                    </a:lnL>
                    <a:lnR w="9525">
                      <a:solidFill>
                        <a:srgbClr val="C9D3E0"/>
                      </a:solidFill>
                    </a:lnR>
                    <a:lnT w="9525">
                      <a:solidFill>
                        <a:srgbClr val="C9D3E0"/>
                      </a:solidFill>
                    </a:lnT>
                    <a:lnB w="9525">
                      <a:solidFill>
                        <a:srgbClr val="C9D3E0"/>
                      </a:solidFill>
                    </a:lnB>
                    <a:solidFill>
                      <a:srgbClr val="EEF3FA"/>
                    </a:solidFill>
                  </a:tcPr>
                </a:tc>
              </a:tr>
              <a:tr h="1115568">
                <a:tc>
                  <a:txBody>
                    <a:bodyPr/>
                    <a:lstStyle/>
                    <a:p>
                      <a:pPr marL="0" indent="0" algn="l">
                        <a:lnSpc>
                          <a:spcPct val="100000"/>
                        </a:lnSpc>
                        <a:spcBef>
                          <a:spcPts val="0"/>
                        </a:spcBef>
                        <a:spcAft>
                          <a:spcPts val="0"/>
                        </a:spcAft>
                        <a:buNone/>
                      </a:pPr>
                      <a:r>
                        <a:rPr lang="en-IN" sz="1300" dirty="0">
                          <a:solidFill>
                            <a:srgbClr val="1F2328"/>
                          </a:solidFill>
                          <a:latin typeface="Times New Roman" panose="02020603050405020304" pitchFamily="18" charset="0"/>
                          <a:cs typeface="Times New Roman" panose="02020603050405020304" pitchFamily="18" charset="0"/>
                        </a:rPr>
                        <a:t>Berti et al. (2024) [2]</a:t>
                      </a:r>
                    </a:p>
                  </a:txBody>
                  <a:tcPr marL="73152" marR="73152" marT="45720" marB="45720" anchor="ctr">
                    <a:lnL w="9525">
                      <a:solidFill>
                        <a:srgbClr val="C9D3E0"/>
                      </a:solidFill>
                    </a:lnL>
                    <a:lnR w="9525">
                      <a:solidFill>
                        <a:srgbClr val="C9D3E0"/>
                      </a:solidFill>
                    </a:lnR>
                    <a:lnT w="9525">
                      <a:solidFill>
                        <a:srgbClr val="C9D3E0"/>
                      </a:solidFill>
                    </a:lnT>
                    <a:lnB w="9525">
                      <a:solidFill>
                        <a:srgbClr val="C9D3E0"/>
                      </a:solidFill>
                    </a:lnB>
                    <a:solidFill>
                      <a:srgbClr val="FFFFFF"/>
                    </a:solidFill>
                  </a:tcPr>
                </a:tc>
                <a:tc>
                  <a:txBody>
                    <a:bodyPr/>
                    <a:lstStyle/>
                    <a:p>
                      <a:pPr marL="0" indent="0" algn="l">
                        <a:lnSpc>
                          <a:spcPct val="100000"/>
                        </a:lnSpc>
                        <a:spcBef>
                          <a:spcPts val="0"/>
                        </a:spcBef>
                        <a:spcAft>
                          <a:spcPts val="0"/>
                        </a:spcAft>
                        <a:buNone/>
                      </a:pPr>
                      <a:r>
                        <a:rPr lang="en-IN" sz="1300" dirty="0">
                          <a:solidFill>
                            <a:srgbClr val="1F2328"/>
                          </a:solidFill>
                          <a:latin typeface="Times New Roman" panose="02020603050405020304" pitchFamily="18" charset="0"/>
                          <a:cs typeface="Times New Roman" panose="02020603050405020304" pitchFamily="18" charset="0"/>
                        </a:rPr>
                        <a:t>A standard exchange format for object-centric data</a:t>
                      </a:r>
                    </a:p>
                  </a:txBody>
                  <a:tcPr marL="73152" marR="73152" marT="45720" marB="45720" anchor="ctr">
                    <a:lnL w="9525">
                      <a:solidFill>
                        <a:srgbClr val="C9D3E0"/>
                      </a:solidFill>
                    </a:lnL>
                    <a:lnR w="9525">
                      <a:solidFill>
                        <a:srgbClr val="C9D3E0"/>
                      </a:solidFill>
                    </a:lnR>
                    <a:lnT w="9525">
                      <a:solidFill>
                        <a:srgbClr val="C9D3E0"/>
                      </a:solidFill>
                    </a:lnT>
                    <a:lnB w="9525">
                      <a:solidFill>
                        <a:srgbClr val="C9D3E0"/>
                      </a:solidFill>
                    </a:lnB>
                    <a:solidFill>
                      <a:srgbClr val="FFFFFF"/>
                    </a:solidFill>
                  </a:tcPr>
                </a:tc>
                <a:tc>
                  <a:txBody>
                    <a:bodyPr/>
                    <a:lstStyle/>
                    <a:p>
                      <a:pPr marL="0" indent="0" algn="l">
                        <a:lnSpc>
                          <a:spcPct val="100000"/>
                        </a:lnSpc>
                        <a:spcBef>
                          <a:spcPts val="0"/>
                        </a:spcBef>
                        <a:spcAft>
                          <a:spcPts val="0"/>
                        </a:spcAft>
                        <a:buNone/>
                      </a:pPr>
                      <a:r>
                        <a:rPr lang="en-IN" sz="1300" dirty="0">
                          <a:solidFill>
                            <a:srgbClr val="1F2328"/>
                          </a:solidFill>
                          <a:latin typeface="Times New Roman" panose="02020603050405020304" pitchFamily="18" charset="0"/>
                          <a:cs typeface="Times New Roman" panose="02020603050405020304" pitchFamily="18" charset="0"/>
                        </a:rPr>
                        <a:t>OCEL 2.0 specification: JSON, XML, SQLite, qualifiers, o2o links</a:t>
                      </a:r>
                    </a:p>
                  </a:txBody>
                  <a:tcPr marL="73152" marR="73152" marT="45720" marB="45720" anchor="ctr">
                    <a:lnL w="9525">
                      <a:solidFill>
                        <a:srgbClr val="C9D3E0"/>
                      </a:solidFill>
                    </a:lnL>
                    <a:lnR w="9525">
                      <a:solidFill>
                        <a:srgbClr val="C9D3E0"/>
                      </a:solidFill>
                    </a:lnR>
                    <a:lnT w="9525">
                      <a:solidFill>
                        <a:srgbClr val="C9D3E0"/>
                      </a:solidFill>
                    </a:lnT>
                    <a:lnB w="9525">
                      <a:solidFill>
                        <a:srgbClr val="C9D3E0"/>
                      </a:solidFill>
                    </a:lnB>
                    <a:solidFill>
                      <a:srgbClr val="FFFFFF"/>
                    </a:solidFill>
                  </a:tcPr>
                </a:tc>
                <a:tc>
                  <a:txBody>
                    <a:bodyPr/>
                    <a:lstStyle/>
                    <a:p>
                      <a:pPr marL="0" indent="0" algn="l">
                        <a:lnSpc>
                          <a:spcPct val="100000"/>
                        </a:lnSpc>
                        <a:spcBef>
                          <a:spcPts val="0"/>
                        </a:spcBef>
                        <a:spcAft>
                          <a:spcPts val="0"/>
                        </a:spcAft>
                        <a:buNone/>
                      </a:pPr>
                      <a:r>
                        <a:rPr lang="en-IN" sz="1300" dirty="0">
                          <a:solidFill>
                            <a:srgbClr val="1F2328"/>
                          </a:solidFill>
                          <a:latin typeface="Times New Roman" panose="02020603050405020304" pitchFamily="18" charset="0"/>
                          <a:cs typeface="Times New Roman" panose="02020603050405020304" pitchFamily="18" charset="0"/>
                        </a:rPr>
                        <a:t>Pro: expressive, tool support. Con: extraction needs domain decisions</a:t>
                      </a:r>
                    </a:p>
                  </a:txBody>
                  <a:tcPr marL="73152" marR="73152" marT="45720" marB="45720" anchor="ctr">
                    <a:lnL w="9525">
                      <a:solidFill>
                        <a:srgbClr val="C9D3E0"/>
                      </a:solidFill>
                    </a:lnL>
                    <a:lnR w="9525">
                      <a:solidFill>
                        <a:srgbClr val="C9D3E0"/>
                      </a:solidFill>
                    </a:lnR>
                    <a:lnT w="9525">
                      <a:solidFill>
                        <a:srgbClr val="C9D3E0"/>
                      </a:solidFill>
                    </a:lnT>
                    <a:lnB w="9525">
                      <a:solidFill>
                        <a:srgbClr val="C9D3E0"/>
                      </a:solidFill>
                    </a:lnB>
                    <a:solidFill>
                      <a:srgbClr val="FFFFFF"/>
                    </a:solidFill>
                  </a:tcPr>
                </a:tc>
                <a:tc>
                  <a:txBody>
                    <a:bodyPr/>
                    <a:lstStyle/>
                    <a:p>
                      <a:pPr marL="0" indent="0" algn="l">
                        <a:lnSpc>
                          <a:spcPct val="100000"/>
                        </a:lnSpc>
                        <a:spcBef>
                          <a:spcPts val="0"/>
                        </a:spcBef>
                        <a:spcAft>
                          <a:spcPts val="0"/>
                        </a:spcAft>
                        <a:buNone/>
                      </a:pPr>
                      <a:r>
                        <a:rPr lang="en-IN" sz="1300" dirty="0">
                          <a:solidFill>
                            <a:srgbClr val="1F2328"/>
                          </a:solidFill>
                          <a:latin typeface="Times New Roman" panose="02020603050405020304" pitchFamily="18" charset="0"/>
                          <a:cs typeface="Times New Roman" panose="02020603050405020304" pitchFamily="18" charset="0"/>
                        </a:rPr>
                        <a:t>One event can relate to many typed objects</a:t>
                      </a:r>
                    </a:p>
                  </a:txBody>
                  <a:tcPr marL="73152" marR="73152" marT="45720" marB="45720" anchor="ctr">
                    <a:lnL w="9525">
                      <a:solidFill>
                        <a:srgbClr val="C9D3E0"/>
                      </a:solidFill>
                    </a:lnL>
                    <a:lnR w="9525">
                      <a:solidFill>
                        <a:srgbClr val="C9D3E0"/>
                      </a:solidFill>
                    </a:lnR>
                    <a:lnT w="9525">
                      <a:solidFill>
                        <a:srgbClr val="C9D3E0"/>
                      </a:solidFill>
                    </a:lnT>
                    <a:lnB w="9525">
                      <a:solidFill>
                        <a:srgbClr val="C9D3E0"/>
                      </a:solidFill>
                    </a:lnB>
                    <a:solidFill>
                      <a:srgbClr val="FFFFFF"/>
                    </a:solidFill>
                  </a:tcPr>
                </a:tc>
              </a:tr>
              <a:tr h="1115568">
                <a:tc>
                  <a:txBody>
                    <a:bodyPr/>
                    <a:lstStyle/>
                    <a:p>
                      <a:pPr marL="0" indent="0" algn="l">
                        <a:lnSpc>
                          <a:spcPct val="100000"/>
                        </a:lnSpc>
                        <a:spcBef>
                          <a:spcPts val="0"/>
                        </a:spcBef>
                        <a:spcAft>
                          <a:spcPts val="0"/>
                        </a:spcAft>
                        <a:buNone/>
                      </a:pPr>
                      <a:r>
                        <a:rPr lang="en-IN" sz="1300" dirty="0">
                          <a:solidFill>
                            <a:srgbClr val="1F2328"/>
                          </a:solidFill>
                          <a:latin typeface="Times New Roman" panose="02020603050405020304" pitchFamily="18" charset="0"/>
                          <a:cs typeface="Times New Roman" panose="02020603050405020304" pitchFamily="18" charset="0"/>
                        </a:rPr>
                        <a:t>Waibel et al. (2022) [5]</a:t>
                      </a:r>
                    </a:p>
                  </a:txBody>
                  <a:tcPr marL="73152" marR="73152" marT="45720" marB="45720" anchor="ctr">
                    <a:lnL w="9525">
                      <a:solidFill>
                        <a:srgbClr val="C9D3E0"/>
                      </a:solidFill>
                    </a:lnL>
                    <a:lnR w="9525">
                      <a:solidFill>
                        <a:srgbClr val="C9D3E0"/>
                      </a:solidFill>
                    </a:lnR>
                    <a:lnT w="9525">
                      <a:solidFill>
                        <a:srgbClr val="C9D3E0"/>
                      </a:solidFill>
                    </a:lnT>
                    <a:lnB w="9525">
                      <a:solidFill>
                        <a:srgbClr val="C9D3E0"/>
                      </a:solidFill>
                    </a:lnB>
                    <a:solidFill>
                      <a:srgbClr val="EEF3FA"/>
                    </a:solidFill>
                  </a:tcPr>
                </a:tc>
                <a:tc>
                  <a:txBody>
                    <a:bodyPr/>
                    <a:lstStyle/>
                    <a:p>
                      <a:pPr marL="0" indent="0" algn="l">
                        <a:lnSpc>
                          <a:spcPct val="100000"/>
                        </a:lnSpc>
                        <a:spcBef>
                          <a:spcPts val="0"/>
                        </a:spcBef>
                        <a:spcAft>
                          <a:spcPts val="0"/>
                        </a:spcAft>
                        <a:buNone/>
                      </a:pPr>
                      <a:r>
                        <a:rPr lang="en-IN" sz="1300" dirty="0">
                          <a:solidFill>
                            <a:srgbClr val="1F2328"/>
                          </a:solidFill>
                          <a:latin typeface="Times New Roman" panose="02020603050405020304" pitchFamily="18" charset="0"/>
                          <a:cs typeface="Times New Roman" panose="02020603050405020304" pitchFamily="18" charset="0"/>
                        </a:rPr>
                        <a:t>Causal structure from relational data</a:t>
                      </a:r>
                    </a:p>
                  </a:txBody>
                  <a:tcPr marL="73152" marR="73152" marT="45720" marB="45720" anchor="ctr">
                    <a:lnL w="9525">
                      <a:solidFill>
                        <a:srgbClr val="C9D3E0"/>
                      </a:solidFill>
                    </a:lnL>
                    <a:lnR w="9525">
                      <a:solidFill>
                        <a:srgbClr val="C9D3E0"/>
                      </a:solidFill>
                    </a:lnR>
                    <a:lnT w="9525">
                      <a:solidFill>
                        <a:srgbClr val="C9D3E0"/>
                      </a:solidFill>
                    </a:lnT>
                    <a:lnB w="9525">
                      <a:solidFill>
                        <a:srgbClr val="C9D3E0"/>
                      </a:solidFill>
                    </a:lnB>
                    <a:solidFill>
                      <a:srgbClr val="EEF3FA"/>
                    </a:solidFill>
                  </a:tcPr>
                </a:tc>
                <a:tc>
                  <a:txBody>
                    <a:bodyPr/>
                    <a:lstStyle/>
                    <a:p>
                      <a:pPr marL="0" indent="0" algn="l">
                        <a:lnSpc>
                          <a:spcPct val="100000"/>
                        </a:lnSpc>
                        <a:spcBef>
                          <a:spcPts val="0"/>
                        </a:spcBef>
                        <a:spcAft>
                          <a:spcPts val="0"/>
                        </a:spcAft>
                        <a:buNone/>
                      </a:pPr>
                      <a:r>
                        <a:rPr lang="en-IN" sz="1300" dirty="0">
                          <a:solidFill>
                            <a:srgbClr val="1F2328"/>
                          </a:solidFill>
                          <a:latin typeface="Times New Roman" panose="02020603050405020304" pitchFamily="18" charset="0"/>
                          <a:cs typeface="Times New Roman" panose="02020603050405020304" pitchFamily="18" charset="0"/>
                        </a:rPr>
                        <a:t>Causal event graph, one food-company case study</a:t>
                      </a:r>
                    </a:p>
                  </a:txBody>
                  <a:tcPr marL="73152" marR="73152" marT="45720" marB="45720" anchor="ctr">
                    <a:lnL w="9525">
                      <a:solidFill>
                        <a:srgbClr val="C9D3E0"/>
                      </a:solidFill>
                    </a:lnL>
                    <a:lnR w="9525">
                      <a:solidFill>
                        <a:srgbClr val="C9D3E0"/>
                      </a:solidFill>
                    </a:lnR>
                    <a:lnT w="9525">
                      <a:solidFill>
                        <a:srgbClr val="C9D3E0"/>
                      </a:solidFill>
                    </a:lnT>
                    <a:lnB w="9525">
                      <a:solidFill>
                        <a:srgbClr val="C9D3E0"/>
                      </a:solidFill>
                    </a:lnB>
                    <a:solidFill>
                      <a:srgbClr val="EEF3FA"/>
                    </a:solidFill>
                  </a:tcPr>
                </a:tc>
                <a:tc>
                  <a:txBody>
                    <a:bodyPr/>
                    <a:lstStyle/>
                    <a:p>
                      <a:pPr marL="0" indent="0" algn="l">
                        <a:lnSpc>
                          <a:spcPct val="100000"/>
                        </a:lnSpc>
                        <a:spcBef>
                          <a:spcPts val="0"/>
                        </a:spcBef>
                        <a:spcAft>
                          <a:spcPts val="0"/>
                        </a:spcAft>
                        <a:buNone/>
                      </a:pPr>
                      <a:r>
                        <a:rPr lang="en-IN" sz="1300" dirty="0">
                          <a:solidFill>
                            <a:srgbClr val="1F2328"/>
                          </a:solidFill>
                          <a:latin typeface="Times New Roman" panose="02020603050405020304" pitchFamily="18" charset="0"/>
                          <a:cs typeface="Times New Roman" panose="02020603050405020304" pitchFamily="18" charset="0"/>
                        </a:rPr>
                        <a:t>Pro: avoids false edges. Con: single case study</a:t>
                      </a:r>
                    </a:p>
                  </a:txBody>
                  <a:tcPr marL="73152" marR="73152" marT="45720" marB="45720" anchor="ctr">
                    <a:lnL w="9525">
                      <a:solidFill>
                        <a:srgbClr val="C9D3E0"/>
                      </a:solidFill>
                    </a:lnL>
                    <a:lnR w="9525">
                      <a:solidFill>
                        <a:srgbClr val="C9D3E0"/>
                      </a:solidFill>
                    </a:lnR>
                    <a:lnT w="9525">
                      <a:solidFill>
                        <a:srgbClr val="C9D3E0"/>
                      </a:solidFill>
                    </a:lnT>
                    <a:lnB w="9525">
                      <a:solidFill>
                        <a:srgbClr val="C9D3E0"/>
                      </a:solidFill>
                    </a:lnB>
                    <a:solidFill>
                      <a:srgbClr val="EEF3FA"/>
                    </a:solidFill>
                  </a:tcPr>
                </a:tc>
                <a:tc>
                  <a:txBody>
                    <a:bodyPr/>
                    <a:lstStyle/>
                    <a:p>
                      <a:pPr marL="0" indent="0" algn="l">
                        <a:lnSpc>
                          <a:spcPct val="100000"/>
                        </a:lnSpc>
                        <a:spcBef>
                          <a:spcPts val="0"/>
                        </a:spcBef>
                        <a:spcAft>
                          <a:spcPts val="0"/>
                        </a:spcAft>
                        <a:buNone/>
                      </a:pPr>
                      <a:r>
                        <a:rPr lang="en-IN" sz="1300" dirty="0">
                          <a:solidFill>
                            <a:srgbClr val="1F2328"/>
                          </a:solidFill>
                          <a:latin typeface="Times New Roman" panose="02020603050405020304" pitchFamily="18" charset="0"/>
                          <a:cs typeface="Times New Roman" panose="02020603050405020304" pitchFamily="18" charset="0"/>
                        </a:rPr>
                        <a:t>1:N and N:M links give spurious directly-follows relations</a:t>
                      </a:r>
                    </a:p>
                  </a:txBody>
                  <a:tcPr marL="73152" marR="73152" marT="45720" marB="45720" anchor="ctr">
                    <a:lnL w="9525">
                      <a:solidFill>
                        <a:srgbClr val="C9D3E0"/>
                      </a:solidFill>
                    </a:lnL>
                    <a:lnR w="9525">
                      <a:solidFill>
                        <a:srgbClr val="C9D3E0"/>
                      </a:solidFill>
                    </a:lnR>
                    <a:lnT w="9525">
                      <a:solidFill>
                        <a:srgbClr val="C9D3E0"/>
                      </a:solidFill>
                    </a:lnT>
                    <a:lnB w="9525">
                      <a:solidFill>
                        <a:srgbClr val="C9D3E0"/>
                      </a:solidFill>
                    </a:lnB>
                    <a:solidFill>
                      <a:srgbClr val="EEF3FA"/>
                    </a:solidFill>
                  </a:tcPr>
                </a:tc>
              </a:tr>
              <a:tr h="1115568">
                <a:tc>
                  <a:txBody>
                    <a:bodyPr/>
                    <a:lstStyle/>
                    <a:p>
                      <a:pPr marL="0" indent="0" algn="l">
                        <a:lnSpc>
                          <a:spcPct val="100000"/>
                        </a:lnSpc>
                        <a:spcBef>
                          <a:spcPts val="0"/>
                        </a:spcBef>
                        <a:spcAft>
                          <a:spcPts val="0"/>
                        </a:spcAft>
                        <a:buNone/>
                      </a:pPr>
                      <a:r>
                        <a:rPr lang="en-IN" sz="1300" dirty="0">
                          <a:solidFill>
                            <a:srgbClr val="1F2328"/>
                          </a:solidFill>
                          <a:latin typeface="Times New Roman" panose="02020603050405020304" pitchFamily="18" charset="0"/>
                          <a:cs typeface="Times New Roman" panose="02020603050405020304" pitchFamily="18" charset="0"/>
                        </a:rPr>
                        <a:t>Adams, Park, van der Aalst (2023) [3]</a:t>
                      </a:r>
                    </a:p>
                  </a:txBody>
                  <a:tcPr marL="73152" marR="73152" marT="45720" marB="45720" anchor="ctr">
                    <a:lnL w="9525">
                      <a:solidFill>
                        <a:srgbClr val="C9D3E0"/>
                      </a:solidFill>
                    </a:lnL>
                    <a:lnR w="9525">
                      <a:solidFill>
                        <a:srgbClr val="C9D3E0"/>
                      </a:solidFill>
                    </a:lnR>
                    <a:lnT w="9525">
                      <a:solidFill>
                        <a:srgbClr val="C9D3E0"/>
                      </a:solidFill>
                    </a:lnT>
                    <a:lnB w="9525">
                      <a:solidFill>
                        <a:srgbClr val="C9D3E0"/>
                      </a:solidFill>
                    </a:lnB>
                    <a:solidFill>
                      <a:srgbClr val="FFFFFF"/>
                    </a:solidFill>
                  </a:tcPr>
                </a:tc>
                <a:tc>
                  <a:txBody>
                    <a:bodyPr/>
                    <a:lstStyle/>
                    <a:p>
                      <a:pPr marL="0" indent="0" algn="l">
                        <a:lnSpc>
                          <a:spcPct val="100000"/>
                        </a:lnSpc>
                        <a:spcBef>
                          <a:spcPts val="0"/>
                        </a:spcBef>
                        <a:spcAft>
                          <a:spcPts val="0"/>
                        </a:spcAft>
                        <a:buNone/>
                      </a:pPr>
                      <a:r>
                        <a:rPr lang="en-IN" sz="1300" dirty="0">
                          <a:solidFill>
                            <a:srgbClr val="1F2328"/>
                          </a:solidFill>
                          <a:latin typeface="Times New Roman" panose="02020603050405020304" pitchFamily="18" charset="0"/>
                          <a:cs typeface="Times New Roman" panose="02020603050405020304" pitchFamily="18" charset="0"/>
                        </a:rPr>
                        <a:t>Keep object-centric graph structure for ML tasks</a:t>
                      </a:r>
                    </a:p>
                  </a:txBody>
                  <a:tcPr marL="73152" marR="73152" marT="45720" marB="45720" anchor="ctr">
                    <a:lnL w="9525">
                      <a:solidFill>
                        <a:srgbClr val="C9D3E0"/>
                      </a:solidFill>
                    </a:lnL>
                    <a:lnR w="9525">
                      <a:solidFill>
                        <a:srgbClr val="C9D3E0"/>
                      </a:solidFill>
                    </a:lnR>
                    <a:lnT w="9525">
                      <a:solidFill>
                        <a:srgbClr val="C9D3E0"/>
                      </a:solidFill>
                    </a:lnT>
                    <a:lnB w="9525">
                      <a:solidFill>
                        <a:srgbClr val="C9D3E0"/>
                      </a:solidFill>
                    </a:lnB>
                    <a:solidFill>
                      <a:srgbClr val="FFFFFF"/>
                    </a:solidFill>
                  </a:tcPr>
                </a:tc>
                <a:tc>
                  <a:txBody>
                    <a:bodyPr/>
                    <a:lstStyle/>
                    <a:p>
                      <a:pPr marL="0" indent="0" algn="l">
                        <a:lnSpc>
                          <a:spcPct val="100000"/>
                        </a:lnSpc>
                        <a:spcBef>
                          <a:spcPts val="0"/>
                        </a:spcBef>
                        <a:spcAft>
                          <a:spcPts val="0"/>
                        </a:spcAft>
                        <a:buNone/>
                      </a:pPr>
                      <a:r>
                        <a:rPr lang="en-IN" sz="1300" dirty="0">
                          <a:solidFill>
                            <a:srgbClr val="1F2328"/>
                          </a:solidFill>
                          <a:latin typeface="Times New Roman" panose="02020603050405020304" pitchFamily="18" charset="0"/>
                          <a:cs typeface="Times New Roman" panose="02020603050405020304" pitchFamily="18" charset="0"/>
                        </a:rPr>
                        <a:t>Compare graph encodings with flattened features on predictive tasks</a:t>
                      </a:r>
                    </a:p>
                  </a:txBody>
                  <a:tcPr marL="73152" marR="73152" marT="45720" marB="45720" anchor="ctr">
                    <a:lnL w="9525">
                      <a:solidFill>
                        <a:srgbClr val="C9D3E0"/>
                      </a:solidFill>
                    </a:lnL>
                    <a:lnR w="9525">
                      <a:solidFill>
                        <a:srgbClr val="C9D3E0"/>
                      </a:solidFill>
                    </a:lnR>
                    <a:lnT w="9525">
                      <a:solidFill>
                        <a:srgbClr val="C9D3E0"/>
                      </a:solidFill>
                    </a:lnT>
                    <a:lnB w="9525">
                      <a:solidFill>
                        <a:srgbClr val="C9D3E0"/>
                      </a:solidFill>
                    </a:lnB>
                    <a:solidFill>
                      <a:srgbClr val="FFFFFF"/>
                    </a:solidFill>
                  </a:tcPr>
                </a:tc>
                <a:tc>
                  <a:txBody>
                    <a:bodyPr/>
                    <a:lstStyle/>
                    <a:p>
                      <a:pPr marL="0" indent="0" algn="l">
                        <a:lnSpc>
                          <a:spcPct val="100000"/>
                        </a:lnSpc>
                        <a:spcBef>
                          <a:spcPts val="0"/>
                        </a:spcBef>
                        <a:spcAft>
                          <a:spcPts val="0"/>
                        </a:spcAft>
                        <a:buNone/>
                      </a:pPr>
                      <a:r>
                        <a:rPr lang="en-IN" sz="1300" dirty="0">
                          <a:solidFill>
                            <a:srgbClr val="1F2328"/>
                          </a:solidFill>
                          <a:latin typeface="Times New Roman" panose="02020603050405020304" pitchFamily="18" charset="0"/>
                          <a:cs typeface="Times New Roman" panose="02020603050405020304" pitchFamily="18" charset="0"/>
                        </a:rPr>
                        <a:t>Pro: shows value of structure. Con: prediction focus, not analysis outputs</a:t>
                      </a:r>
                    </a:p>
                  </a:txBody>
                  <a:tcPr marL="73152" marR="73152" marT="45720" marB="45720" anchor="ctr">
                    <a:lnL w="9525">
                      <a:solidFill>
                        <a:srgbClr val="C9D3E0"/>
                      </a:solidFill>
                    </a:lnL>
                    <a:lnR w="9525">
                      <a:solidFill>
                        <a:srgbClr val="C9D3E0"/>
                      </a:solidFill>
                    </a:lnR>
                    <a:lnT w="9525">
                      <a:solidFill>
                        <a:srgbClr val="C9D3E0"/>
                      </a:solidFill>
                    </a:lnT>
                    <a:lnB w="9525">
                      <a:solidFill>
                        <a:srgbClr val="C9D3E0"/>
                      </a:solidFill>
                    </a:lnB>
                    <a:solidFill>
                      <a:srgbClr val="FFFFFF"/>
                    </a:solidFill>
                  </a:tcPr>
                </a:tc>
                <a:tc>
                  <a:txBody>
                    <a:bodyPr/>
                    <a:lstStyle/>
                    <a:p>
                      <a:pPr marL="0" indent="0" algn="l">
                        <a:lnSpc>
                          <a:spcPct val="100000"/>
                        </a:lnSpc>
                        <a:spcBef>
                          <a:spcPts val="0"/>
                        </a:spcBef>
                        <a:spcAft>
                          <a:spcPts val="0"/>
                        </a:spcAft>
                        <a:buNone/>
                      </a:pPr>
                      <a:r>
                        <a:rPr lang="en-IN" sz="1300" dirty="0">
                          <a:solidFill>
                            <a:srgbClr val="1F2328"/>
                          </a:solidFill>
                          <a:latin typeface="Times New Roman" panose="02020603050405020304" pitchFamily="18" charset="0"/>
                          <a:cs typeface="Times New Roman" panose="02020603050405020304" pitchFamily="18" charset="0"/>
                        </a:rPr>
                        <a:t>Structure-preserving encodings are favoured over flattening</a:t>
                      </a:r>
                    </a:p>
                  </a:txBody>
                  <a:tcPr marL="73152" marR="73152" marT="45720" marB="45720" anchor="ctr">
                    <a:lnL w="9525">
                      <a:solidFill>
                        <a:srgbClr val="C9D3E0"/>
                      </a:solidFill>
                    </a:lnL>
                    <a:lnR w="9525">
                      <a:solidFill>
                        <a:srgbClr val="C9D3E0"/>
                      </a:solidFill>
                    </a:lnR>
                    <a:lnT w="9525">
                      <a:solidFill>
                        <a:srgbClr val="C9D3E0"/>
                      </a:solidFill>
                    </a:lnT>
                    <a:lnB w="9525">
                      <a:solidFill>
                        <a:srgbClr val="C9D3E0"/>
                      </a:solidFill>
                    </a:lnB>
                    <a:solidFill>
                      <a:srgbClr val="FFFFFF"/>
                    </a:solidFill>
                  </a:tcPr>
                </a:tc>
              </a:tr>
            </a:tbl>
          </a:graphicData>
        </a:graphic>
      </p:graphicFrame>
      <p:sp>
        <p:nvSpPr>
          <p:cNvPr id="4" name="Date Placeholder"/>
          <p:cNvSpPr>
            <a:spLocks noGrp="1"/>
          </p:cNvSpPr>
          <p:nvPr>
            <p:ph type="dt" sz="half" idx="10"/>
          </p:nvPr>
        </p:nvSpPr>
        <p:spPr/>
        <p:txBody>
          <a:bodyPr/>
          <a:lstStyle/>
          <a:p>
            <a:fld id="{61736562-4E3F-4038-A291-A7AE35CC3E6A}" type="datetime1">
              <a:rPr lang="en-IN" smtClean="0"/>
              <a:t>28/10/26</a:t>
            </a:fld>
            <a:endParaRPr lang="en-IN"/>
          </a:p>
        </p:txBody>
      </p:sp>
      <p:sp>
        <p:nvSpPr>
          <p:cNvPr id="5" name="Footer Placeholder"/>
          <p:cNvSpPr>
            <a:spLocks noGrp="1"/>
          </p:cNvSpPr>
          <p:nvPr>
            <p:ph type="ftr" sz="quarter" idx="11"/>
          </p:nvPr>
        </p:nvSpPr>
        <p:spPr/>
        <p:txBody>
          <a:bodyPr/>
          <a:lstStyle/>
          <a:p>
            <a:r>
              <a:rPr lang="en-IN"/>
              <a:t>SCOPE</a:t>
            </a:r>
          </a:p>
        </p:txBody>
      </p:sp>
      <p:sp>
        <p:nvSpPr>
          <p:cNvPr id="6" name="Slide Number Placeholder"/>
          <p:cNvSpPr>
            <a:spLocks noGrp="1"/>
          </p:cNvSpPr>
          <p:nvPr>
            <p:ph type="sldNum" sz="quarter" idx="12"/>
          </p:nvPr>
        </p:nvSpPr>
        <p:spPr/>
        <p:txBody>
          <a:bodyPr/>
          <a:lstStyle/>
          <a:p>
            <a:fld id="{65201FD4-9D8D-4491-815B-63C7BF4F0034}" type="slidenum">
              <a:rPr lang="en-IN" smtClean="0"/>
              <a:t>5</a:t>
            </a:fld>
            <a:endParaRPr lang="en-IN"/>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a:spLocks noGrp="1"/>
          </p:cNvSpPr>
          <p:nvPr>
            <p:ph type="title"/>
          </p:nvPr>
        </p:nvSpPr>
        <p:spPr>
          <a:xfrm>
            <a:off x="457200" y="502920"/>
            <a:ext cx="11274552" cy="685800"/>
          </a:xfrm>
          <a:prstGeom prst="rect">
            <a:avLst/>
          </a:prstGeom>
        </p:spPr>
        <p:txBody>
          <a:bodyPr vert="horz" wrap="square" lIns="0" tIns="0" rIns="0" bIns="0" rtlCol="0" anchor="ctr">
            <a:noAutofit/>
          </a:bodyPr>
          <a:lstStyle/>
          <a:p>
            <a:pPr marL="0">
              <a:lnSpc>
                <a:spcPct val="100000"/>
              </a:lnSpc>
            </a:pPr>
            <a:r>
              <a:rPr lang="en-IN" sz="3000" b="1" dirty="0">
                <a:latin typeface="Times New Roman" panose="02020603050405020304" pitchFamily="18" charset="0"/>
                <a:cs typeface="Times New Roman" panose="02020603050405020304" pitchFamily="18" charset="0"/>
              </a:rPr>
              <a:t>Literature Review (2/2)</a:t>
            </a:r>
          </a:p>
        </p:txBody>
      </p:sp>
      <p:graphicFrame>
        <p:nvGraphicFramePr>
          <p:cNvPr id="3" name="Table 3"/>
          <p:cNvGraphicFramePr>
            <a:graphicFrameLocks noGrp="1"/>
          </p:cNvGraphicFramePr>
          <p:nvPr/>
        </p:nvGraphicFramePr>
        <p:xfrm>
          <a:off x="457200" y="1371600"/>
          <a:ext cx="11274552" cy="4873752"/>
        </p:xfrm>
        <a:graphic>
          <a:graphicData uri="http://schemas.openxmlformats.org/drawingml/2006/table">
            <a:tbl>
              <a:tblPr firstRow="1" bandRow="1"/>
              <a:tblGrid>
                <a:gridCol w="1965960"/>
                <a:gridCol w="2286000"/>
                <a:gridCol w="2377440"/>
                <a:gridCol w="2377440"/>
                <a:gridCol w="2267712"/>
              </a:tblGrid>
              <a:tr h="411480">
                <a:tc>
                  <a:txBody>
                    <a:bodyPr/>
                    <a:lstStyle/>
                    <a:p>
                      <a:pPr marL="0" indent="0" algn="l">
                        <a:lnSpc>
                          <a:spcPct val="100000"/>
                        </a:lnSpc>
                        <a:spcBef>
                          <a:spcPts val="0"/>
                        </a:spcBef>
                        <a:spcAft>
                          <a:spcPts val="0"/>
                        </a:spcAft>
                        <a:buNone/>
                      </a:pPr>
                      <a:r>
                        <a:rPr lang="en-IN" sz="1300" b="1" dirty="0">
                          <a:solidFill>
                            <a:srgbClr val="FFFFFF"/>
                          </a:solidFill>
                          <a:latin typeface="Times New Roman" panose="02020603050405020304" pitchFamily="18" charset="0"/>
                          <a:cs typeface="Times New Roman" panose="02020603050405020304" pitchFamily="18" charset="0"/>
                        </a:rPr>
                        <a:t>Paper</a:t>
                      </a:r>
                    </a:p>
                  </a:txBody>
                  <a:tcPr marL="73152" marR="73152" marT="45720" marB="45720" anchor="ctr">
                    <a:lnL w="9525">
                      <a:solidFill>
                        <a:srgbClr val="C9D3E0"/>
                      </a:solidFill>
                    </a:lnL>
                    <a:lnR w="9525">
                      <a:solidFill>
                        <a:srgbClr val="C9D3E0"/>
                      </a:solidFill>
                    </a:lnR>
                    <a:lnT w="9525">
                      <a:solidFill>
                        <a:srgbClr val="C9D3E0"/>
                      </a:solidFill>
                    </a:lnT>
                    <a:lnB w="9525">
                      <a:solidFill>
                        <a:srgbClr val="C9D3E0"/>
                      </a:solidFill>
                    </a:lnB>
                    <a:solidFill>
                      <a:srgbClr val="2A78D6"/>
                    </a:solidFill>
                  </a:tcPr>
                </a:tc>
                <a:tc>
                  <a:txBody>
                    <a:bodyPr/>
                    <a:lstStyle/>
                    <a:p>
                      <a:pPr marL="0" indent="0" algn="l">
                        <a:lnSpc>
                          <a:spcPct val="100000"/>
                        </a:lnSpc>
                        <a:spcBef>
                          <a:spcPts val="0"/>
                        </a:spcBef>
                        <a:spcAft>
                          <a:spcPts val="0"/>
                        </a:spcAft>
                        <a:buNone/>
                      </a:pPr>
                      <a:r>
                        <a:rPr lang="en-IN" sz="1300" b="1" dirty="0">
                          <a:solidFill>
                            <a:srgbClr val="FFFFFF"/>
                          </a:solidFill>
                          <a:latin typeface="Times New Roman" panose="02020603050405020304" pitchFamily="18" charset="0"/>
                          <a:cs typeface="Times New Roman" panose="02020603050405020304" pitchFamily="18" charset="0"/>
                        </a:rPr>
                        <a:t>Objective</a:t>
                      </a:r>
                    </a:p>
                  </a:txBody>
                  <a:tcPr marL="73152" marR="73152" marT="45720" marB="45720" anchor="ctr">
                    <a:lnL w="9525">
                      <a:solidFill>
                        <a:srgbClr val="C9D3E0"/>
                      </a:solidFill>
                    </a:lnL>
                    <a:lnR w="9525">
                      <a:solidFill>
                        <a:srgbClr val="C9D3E0"/>
                      </a:solidFill>
                    </a:lnR>
                    <a:lnT w="9525">
                      <a:solidFill>
                        <a:srgbClr val="C9D3E0"/>
                      </a:solidFill>
                    </a:lnT>
                    <a:lnB w="9525">
                      <a:solidFill>
                        <a:srgbClr val="C9D3E0"/>
                      </a:solidFill>
                    </a:lnB>
                    <a:solidFill>
                      <a:srgbClr val="2A78D6"/>
                    </a:solidFill>
                  </a:tcPr>
                </a:tc>
                <a:tc>
                  <a:txBody>
                    <a:bodyPr/>
                    <a:lstStyle/>
                    <a:p>
                      <a:pPr marL="0" indent="0" algn="l">
                        <a:lnSpc>
                          <a:spcPct val="100000"/>
                        </a:lnSpc>
                        <a:spcBef>
                          <a:spcPts val="0"/>
                        </a:spcBef>
                        <a:spcAft>
                          <a:spcPts val="0"/>
                        </a:spcAft>
                        <a:buNone/>
                      </a:pPr>
                      <a:r>
                        <a:rPr lang="en-IN" sz="1300" b="1" dirty="0">
                          <a:solidFill>
                            <a:srgbClr val="FFFFFF"/>
                          </a:solidFill>
                          <a:latin typeface="Times New Roman" panose="02020603050405020304" pitchFamily="18" charset="0"/>
                          <a:cs typeface="Times New Roman" panose="02020603050405020304" pitchFamily="18" charset="0"/>
                        </a:rPr>
                        <a:t>Methodology</a:t>
                      </a:r>
                    </a:p>
                  </a:txBody>
                  <a:tcPr marL="73152" marR="73152" marT="45720" marB="45720" anchor="ctr">
                    <a:lnL w="9525">
                      <a:solidFill>
                        <a:srgbClr val="C9D3E0"/>
                      </a:solidFill>
                    </a:lnL>
                    <a:lnR w="9525">
                      <a:solidFill>
                        <a:srgbClr val="C9D3E0"/>
                      </a:solidFill>
                    </a:lnR>
                    <a:lnT w="9525">
                      <a:solidFill>
                        <a:srgbClr val="C9D3E0"/>
                      </a:solidFill>
                    </a:lnT>
                    <a:lnB w="9525">
                      <a:solidFill>
                        <a:srgbClr val="C9D3E0"/>
                      </a:solidFill>
                    </a:lnB>
                    <a:solidFill>
                      <a:srgbClr val="2A78D6"/>
                    </a:solidFill>
                  </a:tcPr>
                </a:tc>
                <a:tc>
                  <a:txBody>
                    <a:bodyPr/>
                    <a:lstStyle/>
                    <a:p>
                      <a:pPr marL="0" indent="0" algn="l">
                        <a:lnSpc>
                          <a:spcPct val="100000"/>
                        </a:lnSpc>
                        <a:spcBef>
                          <a:spcPts val="0"/>
                        </a:spcBef>
                        <a:spcAft>
                          <a:spcPts val="0"/>
                        </a:spcAft>
                        <a:buNone/>
                      </a:pPr>
                      <a:r>
                        <a:rPr lang="en-IN" sz="1300" b="1" dirty="0">
                          <a:solidFill>
                            <a:srgbClr val="FFFFFF"/>
                          </a:solidFill>
                          <a:latin typeface="Times New Roman" panose="02020603050405020304" pitchFamily="18" charset="0"/>
                          <a:cs typeface="Times New Roman" panose="02020603050405020304" pitchFamily="18" charset="0"/>
                        </a:rPr>
                        <a:t>Pros / Cons</a:t>
                      </a:r>
                    </a:p>
                  </a:txBody>
                  <a:tcPr marL="73152" marR="73152" marT="45720" marB="45720" anchor="ctr">
                    <a:lnL w="9525">
                      <a:solidFill>
                        <a:srgbClr val="C9D3E0"/>
                      </a:solidFill>
                    </a:lnL>
                    <a:lnR w="9525">
                      <a:solidFill>
                        <a:srgbClr val="C9D3E0"/>
                      </a:solidFill>
                    </a:lnR>
                    <a:lnT w="9525">
                      <a:solidFill>
                        <a:srgbClr val="C9D3E0"/>
                      </a:solidFill>
                    </a:lnT>
                    <a:lnB w="9525">
                      <a:solidFill>
                        <a:srgbClr val="C9D3E0"/>
                      </a:solidFill>
                    </a:lnB>
                    <a:solidFill>
                      <a:srgbClr val="2A78D6"/>
                    </a:solidFill>
                  </a:tcPr>
                </a:tc>
                <a:tc>
                  <a:txBody>
                    <a:bodyPr/>
                    <a:lstStyle/>
                    <a:p>
                      <a:pPr marL="0" indent="0" algn="l">
                        <a:lnSpc>
                          <a:spcPct val="100000"/>
                        </a:lnSpc>
                        <a:spcBef>
                          <a:spcPts val="0"/>
                        </a:spcBef>
                        <a:spcAft>
                          <a:spcPts val="0"/>
                        </a:spcAft>
                        <a:buNone/>
                      </a:pPr>
                      <a:r>
                        <a:rPr lang="en-IN" sz="1300" b="1" dirty="0">
                          <a:solidFill>
                            <a:srgbClr val="FFFFFF"/>
                          </a:solidFill>
                          <a:latin typeface="Times New Roman" panose="02020603050405020304" pitchFamily="18" charset="0"/>
                          <a:cs typeface="Times New Roman" panose="02020603050405020304" pitchFamily="18" charset="0"/>
                        </a:rPr>
                        <a:t>Findings</a:t>
                      </a:r>
                    </a:p>
                  </a:txBody>
                  <a:tcPr marL="73152" marR="73152" marT="45720" marB="45720" anchor="ctr">
                    <a:lnL w="9525">
                      <a:solidFill>
                        <a:srgbClr val="C9D3E0"/>
                      </a:solidFill>
                    </a:lnL>
                    <a:lnR w="9525">
                      <a:solidFill>
                        <a:srgbClr val="C9D3E0"/>
                      </a:solidFill>
                    </a:lnR>
                    <a:lnT w="9525">
                      <a:solidFill>
                        <a:srgbClr val="C9D3E0"/>
                      </a:solidFill>
                    </a:lnT>
                    <a:lnB w="9525">
                      <a:solidFill>
                        <a:srgbClr val="C9D3E0"/>
                      </a:solidFill>
                    </a:lnB>
                    <a:solidFill>
                      <a:srgbClr val="2A78D6"/>
                    </a:solidFill>
                  </a:tcPr>
                </a:tc>
              </a:tr>
              <a:tr h="1115568">
                <a:tc>
                  <a:txBody>
                    <a:bodyPr/>
                    <a:lstStyle/>
                    <a:p>
                      <a:pPr marL="0" indent="0" algn="l">
                        <a:lnSpc>
                          <a:spcPct val="100000"/>
                        </a:lnSpc>
                        <a:spcBef>
                          <a:spcPts val="0"/>
                        </a:spcBef>
                        <a:spcAft>
                          <a:spcPts val="0"/>
                        </a:spcAft>
                        <a:buNone/>
                      </a:pPr>
                      <a:r>
                        <a:rPr lang="en-IN" sz="1300" dirty="0">
                          <a:solidFill>
                            <a:srgbClr val="1F2328"/>
                          </a:solidFill>
                          <a:latin typeface="Times New Roman" panose="02020603050405020304" pitchFamily="18" charset="0"/>
                          <a:cs typeface="Times New Roman" panose="02020603050405020304" pitchFamily="18" charset="0"/>
                        </a:rPr>
                        <a:t>Kabierski et al. (2026) [6]</a:t>
                      </a:r>
                    </a:p>
                  </a:txBody>
                  <a:tcPr marL="73152" marR="73152" marT="45720" marB="45720" anchor="ctr">
                    <a:lnL w="9525">
                      <a:solidFill>
                        <a:srgbClr val="C9D3E0"/>
                      </a:solidFill>
                    </a:lnL>
                    <a:lnR w="9525">
                      <a:solidFill>
                        <a:srgbClr val="C9D3E0"/>
                      </a:solidFill>
                    </a:lnR>
                    <a:lnT w="9525">
                      <a:solidFill>
                        <a:srgbClr val="C9D3E0"/>
                      </a:solidFill>
                    </a:lnT>
                    <a:lnB w="9525">
                      <a:solidFill>
                        <a:srgbClr val="C9D3E0"/>
                      </a:solidFill>
                    </a:lnB>
                    <a:solidFill>
                      <a:srgbClr val="EEF3FA"/>
                    </a:solidFill>
                  </a:tcPr>
                </a:tc>
                <a:tc>
                  <a:txBody>
                    <a:bodyPr/>
                    <a:lstStyle/>
                    <a:p>
                      <a:pPr marL="0" indent="0" algn="l">
                        <a:lnSpc>
                          <a:spcPct val="100000"/>
                        </a:lnSpc>
                        <a:spcBef>
                          <a:spcPts val="0"/>
                        </a:spcBef>
                        <a:spcAft>
                          <a:spcPts val="0"/>
                        </a:spcAft>
                        <a:buNone/>
                      </a:pPr>
                      <a:r>
                        <a:rPr lang="en-IN" sz="1300" dirty="0">
                          <a:solidFill>
                            <a:srgbClr val="1F2328"/>
                          </a:solidFill>
                          <a:latin typeface="Times New Roman" panose="02020603050405020304" pitchFamily="18" charset="0"/>
                          <a:cs typeface="Times New Roman" panose="02020603050405020304" pitchFamily="18" charset="0"/>
                        </a:rPr>
                        <a:t>Classify quality issues in object-centric data</a:t>
                      </a:r>
                    </a:p>
                  </a:txBody>
                  <a:tcPr marL="73152" marR="73152" marT="45720" marB="45720" anchor="ctr">
                    <a:lnL w="9525">
                      <a:solidFill>
                        <a:srgbClr val="C9D3E0"/>
                      </a:solidFill>
                    </a:lnL>
                    <a:lnR w="9525">
                      <a:solidFill>
                        <a:srgbClr val="C9D3E0"/>
                      </a:solidFill>
                    </a:lnR>
                    <a:lnT w="9525">
                      <a:solidFill>
                        <a:srgbClr val="C9D3E0"/>
                      </a:solidFill>
                    </a:lnT>
                    <a:lnB w="9525">
                      <a:solidFill>
                        <a:srgbClr val="C9D3E0"/>
                      </a:solidFill>
                    </a:lnB>
                    <a:solidFill>
                      <a:srgbClr val="EEF3FA"/>
                    </a:solidFill>
                  </a:tcPr>
                </a:tc>
                <a:tc>
                  <a:txBody>
                    <a:bodyPr/>
                    <a:lstStyle/>
                    <a:p>
                      <a:pPr marL="0" indent="0" algn="l">
                        <a:lnSpc>
                          <a:spcPct val="100000"/>
                        </a:lnSpc>
                        <a:spcBef>
                          <a:spcPts val="0"/>
                        </a:spcBef>
                        <a:spcAft>
                          <a:spcPts val="0"/>
                        </a:spcAft>
                        <a:buNone/>
                      </a:pPr>
                      <a:r>
                        <a:rPr lang="en-IN" sz="1300" dirty="0">
                          <a:solidFill>
                            <a:srgbClr val="1F2328"/>
                          </a:solidFill>
                          <a:latin typeface="Times New Roman" panose="02020603050405020304" pitchFamily="18" charset="0"/>
                          <a:cs typeface="Times New Roman" panose="02020603050405020304" pitchFamily="18" charset="0"/>
                        </a:rPr>
                        <a:t>Classification checked on real logs and practitioner interviews</a:t>
                      </a:r>
                    </a:p>
                  </a:txBody>
                  <a:tcPr marL="73152" marR="73152" marT="45720" marB="45720" anchor="ctr">
                    <a:lnL w="9525">
                      <a:solidFill>
                        <a:srgbClr val="C9D3E0"/>
                      </a:solidFill>
                    </a:lnL>
                    <a:lnR w="9525">
                      <a:solidFill>
                        <a:srgbClr val="C9D3E0"/>
                      </a:solidFill>
                    </a:lnR>
                    <a:lnT w="9525">
                      <a:solidFill>
                        <a:srgbClr val="C9D3E0"/>
                      </a:solidFill>
                    </a:lnT>
                    <a:lnB w="9525">
                      <a:solidFill>
                        <a:srgbClr val="C9D3E0"/>
                      </a:solidFill>
                    </a:lnB>
                    <a:solidFill>
                      <a:srgbClr val="EEF3FA"/>
                    </a:solidFill>
                  </a:tcPr>
                </a:tc>
                <a:tc>
                  <a:txBody>
                    <a:bodyPr/>
                    <a:lstStyle/>
                    <a:p>
                      <a:pPr marL="0" indent="0" algn="l">
                        <a:lnSpc>
                          <a:spcPct val="100000"/>
                        </a:lnSpc>
                        <a:spcBef>
                          <a:spcPts val="0"/>
                        </a:spcBef>
                        <a:spcAft>
                          <a:spcPts val="0"/>
                        </a:spcAft>
                        <a:buNone/>
                      </a:pPr>
                      <a:r>
                        <a:rPr lang="en-IN" sz="1300" dirty="0">
                          <a:solidFill>
                            <a:srgbClr val="1F2328"/>
                          </a:solidFill>
                          <a:latin typeface="Times New Roman" panose="02020603050405020304" pitchFamily="18" charset="0"/>
                          <a:cs typeface="Times New Roman" panose="02020603050405020304" pitchFamily="18" charset="0"/>
                        </a:rPr>
                        <a:t>Pro: practitioner-validated. Con: classifies issues, gives no distortion rates</a:t>
                      </a:r>
                    </a:p>
                  </a:txBody>
                  <a:tcPr marL="73152" marR="73152" marT="45720" marB="45720" anchor="ctr">
                    <a:lnL w="9525">
                      <a:solidFill>
                        <a:srgbClr val="C9D3E0"/>
                      </a:solidFill>
                    </a:lnL>
                    <a:lnR w="9525">
                      <a:solidFill>
                        <a:srgbClr val="C9D3E0"/>
                      </a:solidFill>
                    </a:lnR>
                    <a:lnT w="9525">
                      <a:solidFill>
                        <a:srgbClr val="C9D3E0"/>
                      </a:solidFill>
                    </a:lnT>
                    <a:lnB w="9525">
                      <a:solidFill>
                        <a:srgbClr val="C9D3E0"/>
                      </a:solidFill>
                    </a:lnB>
                    <a:solidFill>
                      <a:srgbClr val="EEF3FA"/>
                    </a:solidFill>
                  </a:tcPr>
                </a:tc>
                <a:tc>
                  <a:txBody>
                    <a:bodyPr/>
                    <a:lstStyle/>
                    <a:p>
                      <a:pPr marL="0" indent="0" algn="l">
                        <a:lnSpc>
                          <a:spcPct val="100000"/>
                        </a:lnSpc>
                        <a:spcBef>
                          <a:spcPts val="0"/>
                        </a:spcBef>
                        <a:spcAft>
                          <a:spcPts val="0"/>
                        </a:spcAft>
                        <a:buNone/>
                      </a:pPr>
                      <a:r>
                        <a:rPr lang="en-IN" sz="1300" dirty="0">
                          <a:solidFill>
                            <a:srgbClr val="1F2328"/>
                          </a:solidFill>
                          <a:latin typeface="Times New Roman" panose="02020603050405020304" pitchFamily="18" charset="0"/>
                          <a:cs typeface="Times New Roman" panose="02020603050405020304" pitchFamily="18" charset="0"/>
                        </a:rPr>
                        <a:t>Object-centric data has its own quality problems, e.g. wrong object relations</a:t>
                      </a:r>
                    </a:p>
                  </a:txBody>
                  <a:tcPr marL="73152" marR="73152" marT="45720" marB="45720" anchor="ctr">
                    <a:lnL w="9525">
                      <a:solidFill>
                        <a:srgbClr val="C9D3E0"/>
                      </a:solidFill>
                    </a:lnL>
                    <a:lnR w="9525">
                      <a:solidFill>
                        <a:srgbClr val="C9D3E0"/>
                      </a:solidFill>
                    </a:lnR>
                    <a:lnT w="9525">
                      <a:solidFill>
                        <a:srgbClr val="C9D3E0"/>
                      </a:solidFill>
                    </a:lnT>
                    <a:lnB w="9525">
                      <a:solidFill>
                        <a:srgbClr val="C9D3E0"/>
                      </a:solidFill>
                    </a:lnB>
                    <a:solidFill>
                      <a:srgbClr val="EEF3FA"/>
                    </a:solidFill>
                  </a:tcPr>
                </a:tc>
              </a:tr>
              <a:tr h="1115568">
                <a:tc>
                  <a:txBody>
                    <a:bodyPr/>
                    <a:lstStyle/>
                    <a:p>
                      <a:pPr marL="0" indent="0" algn="l">
                        <a:lnSpc>
                          <a:spcPct val="100000"/>
                        </a:lnSpc>
                        <a:spcBef>
                          <a:spcPts val="0"/>
                        </a:spcBef>
                        <a:spcAft>
                          <a:spcPts val="0"/>
                        </a:spcAft>
                        <a:buNone/>
                      </a:pPr>
                      <a:r>
                        <a:rPr lang="en-IN" sz="1300" dirty="0">
                          <a:solidFill>
                            <a:srgbClr val="1F2328"/>
                          </a:solidFill>
                          <a:latin typeface="Times New Roman" panose="02020603050405020304" pitchFamily="18" charset="0"/>
                          <a:cs typeface="Times New Roman" panose="02020603050405020304" pitchFamily="18" charset="0"/>
                        </a:rPr>
                        <a:t>Miri et al. (2026) [7]</a:t>
                      </a:r>
                    </a:p>
                  </a:txBody>
                  <a:tcPr marL="73152" marR="73152" marT="45720" marB="45720" anchor="ctr">
                    <a:lnL w="9525">
                      <a:solidFill>
                        <a:srgbClr val="C9D3E0"/>
                      </a:solidFill>
                    </a:lnL>
                    <a:lnR w="9525">
                      <a:solidFill>
                        <a:srgbClr val="C9D3E0"/>
                      </a:solidFill>
                    </a:lnR>
                    <a:lnT w="9525">
                      <a:solidFill>
                        <a:srgbClr val="C9D3E0"/>
                      </a:solidFill>
                    </a:lnT>
                    <a:lnB w="9525">
                      <a:solidFill>
                        <a:srgbClr val="C9D3E0"/>
                      </a:solidFill>
                    </a:lnB>
                    <a:solidFill>
                      <a:srgbClr val="FFFFFF"/>
                    </a:solidFill>
                  </a:tcPr>
                </a:tc>
                <a:tc>
                  <a:txBody>
                    <a:bodyPr/>
                    <a:lstStyle/>
                    <a:p>
                      <a:pPr marL="0" indent="0" algn="l">
                        <a:lnSpc>
                          <a:spcPct val="100000"/>
                        </a:lnSpc>
                        <a:spcBef>
                          <a:spcPts val="0"/>
                        </a:spcBef>
                        <a:spcAft>
                          <a:spcPts val="0"/>
                        </a:spcAft>
                        <a:buNone/>
                      </a:pPr>
                      <a:r>
                        <a:rPr lang="en-IN" sz="1300" dirty="0">
                          <a:solidFill>
                            <a:srgbClr val="1F2328"/>
                          </a:solidFill>
                          <a:latin typeface="Times New Roman" panose="02020603050405020304" pitchFamily="18" charset="0"/>
                          <a:cs typeface="Times New Roman" panose="02020603050405020304" pitchFamily="18" charset="0"/>
                        </a:rPr>
                        <a:t>Object-centric educational process mining</a:t>
                      </a:r>
                    </a:p>
                  </a:txBody>
                  <a:tcPr marL="73152" marR="73152" marT="45720" marB="45720" anchor="ctr">
                    <a:lnL w="9525">
                      <a:solidFill>
                        <a:srgbClr val="C9D3E0"/>
                      </a:solidFill>
                    </a:lnL>
                    <a:lnR w="9525">
                      <a:solidFill>
                        <a:srgbClr val="C9D3E0"/>
                      </a:solidFill>
                    </a:lnR>
                    <a:lnT w="9525">
                      <a:solidFill>
                        <a:srgbClr val="C9D3E0"/>
                      </a:solidFill>
                    </a:lnT>
                    <a:lnB w="9525">
                      <a:solidFill>
                        <a:srgbClr val="C9D3E0"/>
                      </a:solidFill>
                    </a:lnB>
                    <a:solidFill>
                      <a:srgbClr val="FFFFFF"/>
                    </a:solidFill>
                  </a:tcPr>
                </a:tc>
                <a:tc>
                  <a:txBody>
                    <a:bodyPr/>
                    <a:lstStyle/>
                    <a:p>
                      <a:pPr marL="0" indent="0" algn="l">
                        <a:lnSpc>
                          <a:spcPct val="100000"/>
                        </a:lnSpc>
                        <a:spcBef>
                          <a:spcPts val="0"/>
                        </a:spcBef>
                        <a:spcAft>
                          <a:spcPts val="0"/>
                        </a:spcAft>
                        <a:buNone/>
                      </a:pPr>
                      <a:r>
                        <a:rPr lang="en-IN" sz="1300" dirty="0">
                          <a:solidFill>
                            <a:srgbClr val="1F2328"/>
                          </a:solidFill>
                          <a:latin typeface="Times New Roman" panose="02020603050405020304" pitchFamily="18" charset="0"/>
                          <a:cs typeface="Times New Roman" panose="02020603050405020304" pitchFamily="18" charset="0"/>
                        </a:rPr>
                        <a:t>Moodle to OCEL conversion (PM4Moodle), real course case study</a:t>
                      </a:r>
                    </a:p>
                  </a:txBody>
                  <a:tcPr marL="73152" marR="73152" marT="45720" marB="45720" anchor="ctr">
                    <a:lnL w="9525">
                      <a:solidFill>
                        <a:srgbClr val="C9D3E0"/>
                      </a:solidFill>
                    </a:lnL>
                    <a:lnR w="9525">
                      <a:solidFill>
                        <a:srgbClr val="C9D3E0"/>
                      </a:solidFill>
                    </a:lnR>
                    <a:lnT w="9525">
                      <a:solidFill>
                        <a:srgbClr val="C9D3E0"/>
                      </a:solidFill>
                    </a:lnT>
                    <a:lnB w="9525">
                      <a:solidFill>
                        <a:srgbClr val="C9D3E0"/>
                      </a:solidFill>
                    </a:lnB>
                    <a:solidFill>
                      <a:srgbClr val="FFFFFF"/>
                    </a:solidFill>
                  </a:tcPr>
                </a:tc>
                <a:tc>
                  <a:txBody>
                    <a:bodyPr/>
                    <a:lstStyle/>
                    <a:p>
                      <a:pPr marL="0" indent="0" algn="l">
                        <a:lnSpc>
                          <a:spcPct val="100000"/>
                        </a:lnSpc>
                        <a:spcBef>
                          <a:spcPts val="0"/>
                        </a:spcBef>
                        <a:spcAft>
                          <a:spcPts val="0"/>
                        </a:spcAft>
                        <a:buNone/>
                      </a:pPr>
                      <a:r>
                        <a:rPr lang="en-IN" sz="1300" dirty="0">
                          <a:solidFill>
                            <a:srgbClr val="1F2328"/>
                          </a:solidFill>
                          <a:latin typeface="Times New Roman" panose="02020603050405020304" pitchFamily="18" charset="0"/>
                          <a:cs typeface="Times New Roman" panose="02020603050405020304" pitchFamily="18" charset="0"/>
                        </a:rPr>
                        <a:t>Pro: first educational use. Con: one LMS course, not a transactional lifecycle</a:t>
                      </a:r>
                    </a:p>
                  </a:txBody>
                  <a:tcPr marL="73152" marR="73152" marT="45720" marB="45720" anchor="ctr">
                    <a:lnL w="9525">
                      <a:solidFill>
                        <a:srgbClr val="C9D3E0"/>
                      </a:solidFill>
                    </a:lnL>
                    <a:lnR w="9525">
                      <a:solidFill>
                        <a:srgbClr val="C9D3E0"/>
                      </a:solidFill>
                    </a:lnR>
                    <a:lnT w="9525">
                      <a:solidFill>
                        <a:srgbClr val="C9D3E0"/>
                      </a:solidFill>
                    </a:lnT>
                    <a:lnB w="9525">
                      <a:solidFill>
                        <a:srgbClr val="C9D3E0"/>
                      </a:solidFill>
                    </a:lnB>
                    <a:solidFill>
                      <a:srgbClr val="FFFFFF"/>
                    </a:solidFill>
                  </a:tcPr>
                </a:tc>
                <a:tc>
                  <a:txBody>
                    <a:bodyPr/>
                    <a:lstStyle/>
                    <a:p>
                      <a:pPr marL="0" indent="0" algn="l">
                        <a:lnSpc>
                          <a:spcPct val="100000"/>
                        </a:lnSpc>
                        <a:spcBef>
                          <a:spcPts val="0"/>
                        </a:spcBef>
                        <a:spcAft>
                          <a:spcPts val="0"/>
                        </a:spcAft>
                        <a:buNone/>
                      </a:pPr>
                      <a:r>
                        <a:rPr lang="en-IN" sz="1300" dirty="0">
                          <a:solidFill>
                            <a:srgbClr val="1F2328"/>
                          </a:solidFill>
                          <a:latin typeface="Times New Roman" panose="02020603050405020304" pitchFamily="18" charset="0"/>
                          <a:cs typeface="Times New Roman" panose="02020603050405020304" pitchFamily="18" charset="0"/>
                        </a:rPr>
                        <a:t>Group and resource links are invisible in student-centric logs</a:t>
                      </a:r>
                    </a:p>
                  </a:txBody>
                  <a:tcPr marL="73152" marR="73152" marT="45720" marB="45720" anchor="ctr">
                    <a:lnL w="9525">
                      <a:solidFill>
                        <a:srgbClr val="C9D3E0"/>
                      </a:solidFill>
                    </a:lnL>
                    <a:lnR w="9525">
                      <a:solidFill>
                        <a:srgbClr val="C9D3E0"/>
                      </a:solidFill>
                    </a:lnR>
                    <a:lnT w="9525">
                      <a:solidFill>
                        <a:srgbClr val="C9D3E0"/>
                      </a:solidFill>
                    </a:lnT>
                    <a:lnB w="9525">
                      <a:solidFill>
                        <a:srgbClr val="C9D3E0"/>
                      </a:solidFill>
                    </a:lnB>
                    <a:solidFill>
                      <a:srgbClr val="FFFFFF"/>
                    </a:solidFill>
                  </a:tcPr>
                </a:tc>
              </a:tr>
              <a:tr h="1115568">
                <a:tc>
                  <a:txBody>
                    <a:bodyPr/>
                    <a:lstStyle/>
                    <a:p>
                      <a:pPr marL="0" indent="0" algn="l">
                        <a:lnSpc>
                          <a:spcPct val="100000"/>
                        </a:lnSpc>
                        <a:spcBef>
                          <a:spcPts val="0"/>
                        </a:spcBef>
                        <a:spcAft>
                          <a:spcPts val="0"/>
                        </a:spcAft>
                        <a:buNone/>
                      </a:pPr>
                      <a:r>
                        <a:rPr lang="en-IN" sz="1300" dirty="0">
                          <a:solidFill>
                            <a:srgbClr val="1F2328"/>
                          </a:solidFill>
                          <a:latin typeface="Times New Roman" panose="02020603050405020304" pitchFamily="18" charset="0"/>
                          <a:cs typeface="Times New Roman" panose="02020603050405020304" pitchFamily="18" charset="0"/>
                        </a:rPr>
                        <a:t>Premchaiswadi, Porouhan (2015) [11]</a:t>
                      </a:r>
                    </a:p>
                  </a:txBody>
                  <a:tcPr marL="73152" marR="73152" marT="45720" marB="45720" anchor="ctr">
                    <a:lnL w="9525">
                      <a:solidFill>
                        <a:srgbClr val="C9D3E0"/>
                      </a:solidFill>
                    </a:lnL>
                    <a:lnR w="9525">
                      <a:solidFill>
                        <a:srgbClr val="C9D3E0"/>
                      </a:solidFill>
                    </a:lnR>
                    <a:lnT w="9525">
                      <a:solidFill>
                        <a:srgbClr val="C9D3E0"/>
                      </a:solidFill>
                    </a:lnT>
                    <a:lnB w="9525">
                      <a:solidFill>
                        <a:srgbClr val="C9D3E0"/>
                      </a:solidFill>
                    </a:lnB>
                    <a:solidFill>
                      <a:srgbClr val="EEF3FA"/>
                    </a:solidFill>
                  </a:tcPr>
                </a:tc>
                <a:tc>
                  <a:txBody>
                    <a:bodyPr/>
                    <a:lstStyle/>
                    <a:p>
                      <a:pPr marL="0" indent="0" algn="l">
                        <a:lnSpc>
                          <a:spcPct val="100000"/>
                        </a:lnSpc>
                        <a:spcBef>
                          <a:spcPts val="0"/>
                        </a:spcBef>
                        <a:spcAft>
                          <a:spcPts val="0"/>
                        </a:spcAft>
                        <a:buNone/>
                      </a:pPr>
                      <a:r>
                        <a:rPr lang="en-IN" sz="1300" dirty="0">
                          <a:solidFill>
                            <a:srgbClr val="1F2328"/>
                          </a:solidFill>
                          <a:latin typeface="Times New Roman" panose="02020603050405020304" pitchFamily="18" charset="0"/>
                          <a:cs typeface="Times New Roman" panose="02020603050405020304" pitchFamily="18" charset="0"/>
                        </a:rPr>
                        <a:t>Mine an online peer-review process</a:t>
                      </a:r>
                    </a:p>
                  </a:txBody>
                  <a:tcPr marL="73152" marR="73152" marT="45720" marB="45720" anchor="ctr">
                    <a:lnL w="9525">
                      <a:solidFill>
                        <a:srgbClr val="C9D3E0"/>
                      </a:solidFill>
                    </a:lnL>
                    <a:lnR w="9525">
                      <a:solidFill>
                        <a:srgbClr val="C9D3E0"/>
                      </a:solidFill>
                    </a:lnR>
                    <a:lnT w="9525">
                      <a:solidFill>
                        <a:srgbClr val="C9D3E0"/>
                      </a:solidFill>
                    </a:lnT>
                    <a:lnB w="9525">
                      <a:solidFill>
                        <a:srgbClr val="C9D3E0"/>
                      </a:solidFill>
                    </a:lnB>
                    <a:solidFill>
                      <a:srgbClr val="EEF3FA"/>
                    </a:solidFill>
                  </a:tcPr>
                </a:tc>
                <a:tc>
                  <a:txBody>
                    <a:bodyPr/>
                    <a:lstStyle/>
                    <a:p>
                      <a:pPr marL="0" indent="0" algn="l">
                        <a:lnSpc>
                          <a:spcPct val="100000"/>
                        </a:lnSpc>
                        <a:spcBef>
                          <a:spcPts val="0"/>
                        </a:spcBef>
                        <a:spcAft>
                          <a:spcPts val="0"/>
                        </a:spcAft>
                        <a:buNone/>
                      </a:pPr>
                      <a:r>
                        <a:rPr lang="en-IN" sz="1300" dirty="0">
                          <a:solidFill>
                            <a:srgbClr val="1F2328"/>
                          </a:solidFill>
                          <a:latin typeface="Times New Roman" panose="02020603050405020304" pitchFamily="18" charset="0"/>
                          <a:cs typeface="Times New Roman" panose="02020603050405020304" pitchFamily="18" charset="0"/>
                        </a:rPr>
                        <a:t>Event log from review handling, discovery and conformance</a:t>
                      </a:r>
                    </a:p>
                  </a:txBody>
                  <a:tcPr marL="73152" marR="73152" marT="45720" marB="45720" anchor="ctr">
                    <a:lnL w="9525">
                      <a:solidFill>
                        <a:srgbClr val="C9D3E0"/>
                      </a:solidFill>
                    </a:lnL>
                    <a:lnR w="9525">
                      <a:solidFill>
                        <a:srgbClr val="C9D3E0"/>
                      </a:solidFill>
                    </a:lnR>
                    <a:lnT w="9525">
                      <a:solidFill>
                        <a:srgbClr val="C9D3E0"/>
                      </a:solidFill>
                    </a:lnT>
                    <a:lnB w="9525">
                      <a:solidFill>
                        <a:srgbClr val="C9D3E0"/>
                      </a:solidFill>
                    </a:lnB>
                    <a:solidFill>
                      <a:srgbClr val="EEF3FA"/>
                    </a:solidFill>
                  </a:tcPr>
                </a:tc>
                <a:tc>
                  <a:txBody>
                    <a:bodyPr/>
                    <a:lstStyle/>
                    <a:p>
                      <a:pPr marL="0" indent="0" algn="l">
                        <a:lnSpc>
                          <a:spcPct val="100000"/>
                        </a:lnSpc>
                        <a:spcBef>
                          <a:spcPts val="0"/>
                        </a:spcBef>
                        <a:spcAft>
                          <a:spcPts val="0"/>
                        </a:spcAft>
                        <a:buNone/>
                      </a:pPr>
                      <a:r>
                        <a:rPr lang="en-IN" sz="1300" dirty="0">
                          <a:solidFill>
                            <a:srgbClr val="1F2328"/>
                          </a:solidFill>
                          <a:latin typeface="Times New Roman" panose="02020603050405020304" pitchFamily="18" charset="0"/>
                          <a:cs typeface="Times New Roman" panose="02020603050405020304" pitchFamily="18" charset="0"/>
                        </a:rPr>
                        <a:t>Pro: review workflow on real data. Con: single case notion</a:t>
                      </a:r>
                    </a:p>
                  </a:txBody>
                  <a:tcPr marL="73152" marR="73152" marT="45720" marB="45720" anchor="ctr">
                    <a:lnL w="9525">
                      <a:solidFill>
                        <a:srgbClr val="C9D3E0"/>
                      </a:solidFill>
                    </a:lnL>
                    <a:lnR w="9525">
                      <a:solidFill>
                        <a:srgbClr val="C9D3E0"/>
                      </a:solidFill>
                    </a:lnR>
                    <a:lnT w="9525">
                      <a:solidFill>
                        <a:srgbClr val="C9D3E0"/>
                      </a:solidFill>
                    </a:lnT>
                    <a:lnB w="9525">
                      <a:solidFill>
                        <a:srgbClr val="C9D3E0"/>
                      </a:solidFill>
                    </a:lnB>
                    <a:solidFill>
                      <a:srgbClr val="EEF3FA"/>
                    </a:solidFill>
                  </a:tcPr>
                </a:tc>
                <a:tc>
                  <a:txBody>
                    <a:bodyPr/>
                    <a:lstStyle/>
                    <a:p>
                      <a:pPr marL="0" indent="0" algn="l">
                        <a:lnSpc>
                          <a:spcPct val="100000"/>
                        </a:lnSpc>
                        <a:spcBef>
                          <a:spcPts val="0"/>
                        </a:spcBef>
                        <a:spcAft>
                          <a:spcPts val="0"/>
                        </a:spcAft>
                        <a:buNone/>
                      </a:pPr>
                      <a:r>
                        <a:rPr lang="en-IN" sz="1300" dirty="0">
                          <a:solidFill>
                            <a:srgbClr val="1F2328"/>
                          </a:solidFill>
                          <a:latin typeface="Times New Roman" panose="02020603050405020304" pitchFamily="18" charset="0"/>
                          <a:cs typeface="Times New Roman" panose="02020603050405020304" pitchFamily="18" charset="0"/>
                        </a:rPr>
                        <a:t>Bottlenecks and rule violations found in reviewer handling</a:t>
                      </a:r>
                    </a:p>
                  </a:txBody>
                  <a:tcPr marL="73152" marR="73152" marT="45720" marB="45720" anchor="ctr">
                    <a:lnL w="9525">
                      <a:solidFill>
                        <a:srgbClr val="C9D3E0"/>
                      </a:solidFill>
                    </a:lnL>
                    <a:lnR w="9525">
                      <a:solidFill>
                        <a:srgbClr val="C9D3E0"/>
                      </a:solidFill>
                    </a:lnR>
                    <a:lnT w="9525">
                      <a:solidFill>
                        <a:srgbClr val="C9D3E0"/>
                      </a:solidFill>
                    </a:lnT>
                    <a:lnB w="9525">
                      <a:solidFill>
                        <a:srgbClr val="C9D3E0"/>
                      </a:solidFill>
                    </a:lnB>
                    <a:solidFill>
                      <a:srgbClr val="EEF3FA"/>
                    </a:solidFill>
                  </a:tcPr>
                </a:tc>
              </a:tr>
              <a:tr h="1115568">
                <a:tc>
                  <a:txBody>
                    <a:bodyPr/>
                    <a:lstStyle/>
                    <a:p>
                      <a:pPr marL="0" indent="0" algn="l">
                        <a:lnSpc>
                          <a:spcPct val="100000"/>
                        </a:lnSpc>
                        <a:spcBef>
                          <a:spcPts val="0"/>
                        </a:spcBef>
                        <a:spcAft>
                          <a:spcPts val="0"/>
                        </a:spcAft>
                        <a:buNone/>
                      </a:pPr>
                      <a:r>
                        <a:rPr lang="en-IN" sz="1300" dirty="0">
                          <a:solidFill>
                            <a:srgbClr val="1F2328"/>
                          </a:solidFill>
                          <a:latin typeface="Times New Roman" panose="02020603050405020304" pitchFamily="18" charset="0"/>
                          <a:cs typeface="Times New Roman" panose="02020603050405020304" pitchFamily="18" charset="0"/>
                        </a:rPr>
                        <a:t>Hassani et al. (2018) [10]</a:t>
                      </a:r>
                    </a:p>
                  </a:txBody>
                  <a:tcPr marL="73152" marR="73152" marT="45720" marB="45720" anchor="ctr">
                    <a:lnL w="9525">
                      <a:solidFill>
                        <a:srgbClr val="C9D3E0"/>
                      </a:solidFill>
                    </a:lnL>
                    <a:lnR w="9525">
                      <a:solidFill>
                        <a:srgbClr val="C9D3E0"/>
                      </a:solidFill>
                    </a:lnR>
                    <a:lnT w="9525">
                      <a:solidFill>
                        <a:srgbClr val="C9D3E0"/>
                      </a:solidFill>
                    </a:lnT>
                    <a:lnB w="9525">
                      <a:solidFill>
                        <a:srgbClr val="C9D3E0"/>
                      </a:solidFill>
                    </a:lnB>
                    <a:solidFill>
                      <a:srgbClr val="FFFFFF"/>
                    </a:solidFill>
                  </a:tcPr>
                </a:tc>
                <a:tc>
                  <a:txBody>
                    <a:bodyPr/>
                    <a:lstStyle/>
                    <a:p>
                      <a:pPr marL="0" indent="0" algn="l">
                        <a:lnSpc>
                          <a:spcPct val="100000"/>
                        </a:lnSpc>
                        <a:spcBef>
                          <a:spcPts val="0"/>
                        </a:spcBef>
                        <a:spcAft>
                          <a:spcPts val="0"/>
                        </a:spcAft>
                        <a:buNone/>
                      </a:pPr>
                      <a:r>
                        <a:rPr lang="en-IN" sz="1300" dirty="0">
                          <a:solidFill>
                            <a:srgbClr val="1F2328"/>
                          </a:solidFill>
                          <a:latin typeface="Times New Roman" panose="02020603050405020304" pitchFamily="18" charset="0"/>
                          <a:cs typeface="Times New Roman" panose="02020603050405020304" pitchFamily="18" charset="0"/>
                        </a:rPr>
                        <a:t>Manage more than 250 computing final-year projects</a:t>
                      </a:r>
                    </a:p>
                  </a:txBody>
                  <a:tcPr marL="73152" marR="73152" marT="45720" marB="45720" anchor="ctr">
                    <a:lnL w="9525">
                      <a:solidFill>
                        <a:srgbClr val="C9D3E0"/>
                      </a:solidFill>
                    </a:lnL>
                    <a:lnR w="9525">
                      <a:solidFill>
                        <a:srgbClr val="C9D3E0"/>
                      </a:solidFill>
                    </a:lnR>
                    <a:lnT w="9525">
                      <a:solidFill>
                        <a:srgbClr val="C9D3E0"/>
                      </a:solidFill>
                    </a:lnT>
                    <a:lnB w="9525">
                      <a:solidFill>
                        <a:srgbClr val="C9D3E0"/>
                      </a:solidFill>
                    </a:lnB>
                    <a:solidFill>
                      <a:srgbClr val="FFFFFF"/>
                    </a:solidFill>
                  </a:tcPr>
                </a:tc>
                <a:tc>
                  <a:txBody>
                    <a:bodyPr/>
                    <a:lstStyle/>
                    <a:p>
                      <a:pPr marL="0" indent="0" algn="l">
                        <a:lnSpc>
                          <a:spcPct val="100000"/>
                        </a:lnSpc>
                        <a:spcBef>
                          <a:spcPts val="0"/>
                        </a:spcBef>
                        <a:spcAft>
                          <a:spcPts val="0"/>
                        </a:spcAft>
                        <a:buNone/>
                      </a:pPr>
                      <a:r>
                        <a:rPr lang="en-IN" sz="1300" dirty="0">
                          <a:solidFill>
                            <a:srgbClr val="1F2328"/>
                          </a:solidFill>
                          <a:latin typeface="Times New Roman" panose="02020603050405020304" pitchFamily="18" charset="0"/>
                          <a:cs typeface="Times New Roman" panose="02020603050405020304" pitchFamily="18" charset="0"/>
                        </a:rPr>
                        <a:t>Case study of supervision, panels, rubrics</a:t>
                      </a:r>
                    </a:p>
                  </a:txBody>
                  <a:tcPr marL="73152" marR="73152" marT="45720" marB="45720" anchor="ctr">
                    <a:lnL w="9525">
                      <a:solidFill>
                        <a:srgbClr val="C9D3E0"/>
                      </a:solidFill>
                    </a:lnL>
                    <a:lnR w="9525">
                      <a:solidFill>
                        <a:srgbClr val="C9D3E0"/>
                      </a:solidFill>
                    </a:lnR>
                    <a:lnT w="9525">
                      <a:solidFill>
                        <a:srgbClr val="C9D3E0"/>
                      </a:solidFill>
                    </a:lnT>
                    <a:lnB w="9525">
                      <a:solidFill>
                        <a:srgbClr val="C9D3E0"/>
                      </a:solidFill>
                    </a:lnB>
                    <a:solidFill>
                      <a:srgbClr val="FFFFFF"/>
                    </a:solidFill>
                  </a:tcPr>
                </a:tc>
                <a:tc>
                  <a:txBody>
                    <a:bodyPr/>
                    <a:lstStyle/>
                    <a:p>
                      <a:pPr marL="0" indent="0" algn="l">
                        <a:lnSpc>
                          <a:spcPct val="100000"/>
                        </a:lnSpc>
                        <a:spcBef>
                          <a:spcPts val="0"/>
                        </a:spcBef>
                        <a:spcAft>
                          <a:spcPts val="0"/>
                        </a:spcAft>
                        <a:buNone/>
                      </a:pPr>
                      <a:r>
                        <a:rPr lang="en-IN" sz="1300" dirty="0">
                          <a:solidFill>
                            <a:srgbClr val="1F2328"/>
                          </a:solidFill>
                          <a:latin typeface="Times New Roman" panose="02020603050405020304" pitchFamily="18" charset="0"/>
                          <a:cs typeface="Times New Roman" panose="02020603050405020304" pitchFamily="18" charset="0"/>
                        </a:rPr>
                        <a:t>Pro: real capstone practice. Con: no event data</a:t>
                      </a:r>
                    </a:p>
                  </a:txBody>
                  <a:tcPr marL="73152" marR="73152" marT="45720" marB="45720" anchor="ctr">
                    <a:lnL w="9525">
                      <a:solidFill>
                        <a:srgbClr val="C9D3E0"/>
                      </a:solidFill>
                    </a:lnL>
                    <a:lnR w="9525">
                      <a:solidFill>
                        <a:srgbClr val="C9D3E0"/>
                      </a:solidFill>
                    </a:lnR>
                    <a:lnT w="9525">
                      <a:solidFill>
                        <a:srgbClr val="C9D3E0"/>
                      </a:solidFill>
                    </a:lnT>
                    <a:lnB w="9525">
                      <a:solidFill>
                        <a:srgbClr val="C9D3E0"/>
                      </a:solidFill>
                    </a:lnB>
                    <a:solidFill>
                      <a:srgbClr val="FFFFFF"/>
                    </a:solidFill>
                  </a:tcPr>
                </a:tc>
                <a:tc>
                  <a:txBody>
                    <a:bodyPr/>
                    <a:lstStyle/>
                    <a:p>
                      <a:pPr marL="0" indent="0" algn="l">
                        <a:lnSpc>
                          <a:spcPct val="100000"/>
                        </a:lnSpc>
                        <a:spcBef>
                          <a:spcPts val="0"/>
                        </a:spcBef>
                        <a:spcAft>
                          <a:spcPts val="0"/>
                        </a:spcAft>
                        <a:buNone/>
                      </a:pPr>
                      <a:r>
                        <a:rPr lang="en-IN" sz="1300" dirty="0">
                          <a:solidFill>
                            <a:srgbClr val="1F2328"/>
                          </a:solidFill>
                          <a:latin typeface="Times New Roman" panose="02020603050405020304" pitchFamily="18" charset="0"/>
                          <a:cs typeface="Times New Roman" panose="02020603050405020304" pitchFamily="18" charset="0"/>
                        </a:rPr>
                        <a:t>Capstones need coordinated supervision, submission and assessment</a:t>
                      </a:r>
                    </a:p>
                  </a:txBody>
                  <a:tcPr marL="73152" marR="73152" marT="45720" marB="45720" anchor="ctr">
                    <a:lnL w="9525">
                      <a:solidFill>
                        <a:srgbClr val="C9D3E0"/>
                      </a:solidFill>
                    </a:lnL>
                    <a:lnR w="9525">
                      <a:solidFill>
                        <a:srgbClr val="C9D3E0"/>
                      </a:solidFill>
                    </a:lnR>
                    <a:lnT w="9525">
                      <a:solidFill>
                        <a:srgbClr val="C9D3E0"/>
                      </a:solidFill>
                    </a:lnT>
                    <a:lnB w="9525">
                      <a:solidFill>
                        <a:srgbClr val="C9D3E0"/>
                      </a:solidFill>
                    </a:lnB>
                    <a:solidFill>
                      <a:srgbClr val="FFFFFF"/>
                    </a:solidFill>
                  </a:tcPr>
                </a:tc>
              </a:tr>
            </a:tbl>
          </a:graphicData>
        </a:graphic>
      </p:graphicFrame>
      <p:sp>
        <p:nvSpPr>
          <p:cNvPr id="4" name="Date Placeholder"/>
          <p:cNvSpPr>
            <a:spLocks noGrp="1"/>
          </p:cNvSpPr>
          <p:nvPr>
            <p:ph type="dt" sz="half" idx="10"/>
          </p:nvPr>
        </p:nvSpPr>
        <p:spPr/>
        <p:txBody>
          <a:bodyPr/>
          <a:lstStyle/>
          <a:p>
            <a:fld id="{61736562-4E3F-4038-A291-A7AE35CC3E6A}" type="datetime1">
              <a:rPr lang="en-IN" smtClean="0"/>
              <a:t>28/10/26</a:t>
            </a:fld>
            <a:endParaRPr lang="en-IN"/>
          </a:p>
        </p:txBody>
      </p:sp>
      <p:sp>
        <p:nvSpPr>
          <p:cNvPr id="5" name="Footer Placeholder"/>
          <p:cNvSpPr>
            <a:spLocks noGrp="1"/>
          </p:cNvSpPr>
          <p:nvPr>
            <p:ph type="ftr" sz="quarter" idx="11"/>
          </p:nvPr>
        </p:nvSpPr>
        <p:spPr/>
        <p:txBody>
          <a:bodyPr/>
          <a:lstStyle/>
          <a:p>
            <a:r>
              <a:rPr lang="en-IN"/>
              <a:t>SCOPE</a:t>
            </a:r>
          </a:p>
        </p:txBody>
      </p:sp>
      <p:sp>
        <p:nvSpPr>
          <p:cNvPr id="6" name="Slide Number Placeholder"/>
          <p:cNvSpPr>
            <a:spLocks noGrp="1"/>
          </p:cNvSpPr>
          <p:nvPr>
            <p:ph type="sldNum" sz="quarter" idx="12"/>
          </p:nvPr>
        </p:nvSpPr>
        <p:spPr/>
        <p:txBody>
          <a:bodyPr/>
          <a:lstStyle/>
          <a:p>
            <a:fld id="{65201FD4-9D8D-4491-815B-63C7BF4F0034}" type="slidenum">
              <a:rPr lang="en-IN" smtClean="0"/>
              <a:t>6</a:t>
            </a:fld>
            <a:endParaRPr lang="en-IN"/>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a:spLocks noGrp="1"/>
          </p:cNvSpPr>
          <p:nvPr>
            <p:ph type="title"/>
          </p:nvPr>
        </p:nvSpPr>
        <p:spPr>
          <a:xfrm>
            <a:off x="457200" y="502920"/>
            <a:ext cx="11274552" cy="685800"/>
          </a:xfrm>
          <a:prstGeom prst="rect">
            <a:avLst/>
          </a:prstGeom>
        </p:spPr>
        <p:txBody>
          <a:bodyPr vert="horz" wrap="square" lIns="0" tIns="0" rIns="0" bIns="0" rtlCol="0" anchor="ctr">
            <a:noAutofit/>
          </a:bodyPr>
          <a:lstStyle/>
          <a:p>
            <a:pPr marL="0">
              <a:lnSpc>
                <a:spcPct val="100000"/>
              </a:lnSpc>
            </a:pPr>
            <a:r>
              <a:rPr lang="en-IN" sz="3000" b="1" dirty="0">
                <a:latin typeface="Times New Roman" panose="02020603050405020304" pitchFamily="18" charset="0"/>
                <a:cs typeface="Times New Roman" panose="02020603050405020304" pitchFamily="18" charset="0"/>
              </a:rPr>
              <a:t>Research Gap</a:t>
            </a:r>
          </a:p>
        </p:txBody>
      </p:sp>
      <p:sp>
        <p:nvSpPr>
          <p:cNvPr id="3" name="Shape 3"/>
          <p:cNvSpPr/>
          <p:nvPr/>
        </p:nvSpPr>
        <p:spPr>
          <a:xfrm>
            <a:off x="457200" y="1463040"/>
            <a:ext cx="685800" cy="685800"/>
          </a:xfrm>
          <a:prstGeom prst="ellipse">
            <a:avLst/>
          </a:prstGeom>
          <a:solidFill>
            <a:srgbClr val="2A78D6"/>
          </a:solidFill>
          <a:ln>
            <a:noFill/>
          </a:ln>
        </p:spPr>
        <p:txBody>
          <a:bodyPr wrap="square" lIns="45720" tIns="45720" rIns="45720" bIns="45720" rtlCol="0" anchor="ctr">
            <a:noAutofit/>
          </a:bodyPr>
          <a:lstStyle/>
          <a:p>
            <a:pPr marL="0" indent="0" algn="ctr">
              <a:lnSpc>
                <a:spcPct val="100000"/>
              </a:lnSpc>
              <a:spcBef>
                <a:spcPts val="0"/>
              </a:spcBef>
              <a:spcAft>
                <a:spcPts val="0"/>
              </a:spcAft>
              <a:buNone/>
            </a:pPr>
            <a:r>
              <a:rPr lang="en-IN" sz="2400" b="1" dirty="0">
                <a:solidFill>
                  <a:srgbClr val="FFFFFF"/>
                </a:solidFill>
                <a:latin typeface="Times New Roman" panose="02020603050405020304" pitchFamily="18" charset="0"/>
                <a:cs typeface="Times New Roman" panose="02020603050405020304" pitchFamily="18" charset="0"/>
              </a:rPr>
              <a:t>1</a:t>
            </a:r>
          </a:p>
        </p:txBody>
      </p:sp>
      <p:sp>
        <p:nvSpPr>
          <p:cNvPr id="4" name="Gap 4"/>
          <p:cNvSpPr txBox="1"/>
          <p:nvPr/>
        </p:nvSpPr>
        <p:spPr>
          <a:xfrm>
            <a:off x="1371600" y="1371600"/>
            <a:ext cx="10332720" cy="1188720"/>
          </a:xfrm>
          <a:prstGeom prst="roundRect">
            <a:avLst>
              <a:gd name="adj" fmla="val 6000"/>
            </a:avLst>
          </a:prstGeom>
          <a:solidFill>
            <a:srgbClr val="F3F6FA"/>
          </a:solidFill>
          <a:ln>
            <a:noFill/>
          </a:ln>
        </p:spPr>
        <p:txBody>
          <a:bodyPr wrap="square" lIns="182880" tIns="128016" rIns="182880" bIns="128016" rtlCol="0" anchor="ctr">
            <a:noAutofit/>
          </a:bodyPr>
          <a:lstStyle/>
          <a:p>
            <a:pPr marL="0" indent="0" algn="l">
              <a:lnSpc>
                <a:spcPct val="100000"/>
              </a:lnSpc>
              <a:spcBef>
                <a:spcPts val="0"/>
              </a:spcBef>
              <a:spcAft>
                <a:spcPts val="300"/>
              </a:spcAft>
              <a:buNone/>
            </a:pPr>
            <a:r>
              <a:rPr lang="en-IN" sz="1900" b="1" dirty="0">
                <a:solidFill>
                  <a:srgbClr val="1F2328"/>
                </a:solidFill>
                <a:latin typeface="Times New Roman" panose="02020603050405020304" pitchFamily="18" charset="0"/>
                <a:cs typeface="Times New Roman" panose="02020603050405020304" pitchFamily="18" charset="0"/>
              </a:rPr>
              <a:t>Flattening problems are named, but not measured</a:t>
            </a:r>
          </a:p>
          <a:p>
            <a:pPr marL="0" indent="0" algn="l">
              <a:lnSpc>
                <a:spcPct val="100000"/>
              </a:lnSpc>
              <a:spcBef>
                <a:spcPts val="0"/>
              </a:spcBef>
              <a:spcAft>
                <a:spcPts val="0"/>
              </a:spcAft>
              <a:buNone/>
            </a:pPr>
            <a:r>
              <a:rPr lang="en-IN" sz="1500" dirty="0">
                <a:solidFill>
                  <a:srgbClr val="5B616B"/>
                </a:solidFill>
                <a:latin typeface="Times New Roman" panose="02020603050405020304" pitchFamily="18" charset="0"/>
                <a:cs typeface="Times New Roman" panose="02020603050405020304" pitchFamily="18" charset="0"/>
              </a:rPr>
              <a:t>Convergence and divergence appear as toy or single-case examples. We found no study that reports how often or how badly they occur across several real logs. Most object-centric evidence uses simulated logs.</a:t>
            </a:r>
          </a:p>
        </p:txBody>
      </p:sp>
      <p:sp>
        <p:nvSpPr>
          <p:cNvPr id="5" name="Shape 5"/>
          <p:cNvSpPr/>
          <p:nvPr/>
        </p:nvSpPr>
        <p:spPr>
          <a:xfrm>
            <a:off x="457200" y="2788920"/>
            <a:ext cx="685800" cy="685800"/>
          </a:xfrm>
          <a:prstGeom prst="ellipse">
            <a:avLst/>
          </a:prstGeom>
          <a:solidFill>
            <a:srgbClr val="EB6834"/>
          </a:solidFill>
          <a:ln>
            <a:noFill/>
          </a:ln>
        </p:spPr>
        <p:txBody>
          <a:bodyPr wrap="square" lIns="45720" tIns="45720" rIns="45720" bIns="45720" rtlCol="0" anchor="ctr">
            <a:noAutofit/>
          </a:bodyPr>
          <a:lstStyle/>
          <a:p>
            <a:pPr marL="0" indent="0" algn="ctr">
              <a:lnSpc>
                <a:spcPct val="100000"/>
              </a:lnSpc>
              <a:spcBef>
                <a:spcPts val="0"/>
              </a:spcBef>
              <a:spcAft>
                <a:spcPts val="0"/>
              </a:spcAft>
              <a:buNone/>
            </a:pPr>
            <a:r>
              <a:rPr lang="en-IN" sz="2400" b="1" dirty="0">
                <a:solidFill>
                  <a:srgbClr val="FFFFFF"/>
                </a:solidFill>
                <a:latin typeface="Times New Roman" panose="02020603050405020304" pitchFamily="18" charset="0"/>
                <a:cs typeface="Times New Roman" panose="02020603050405020304" pitchFamily="18" charset="0"/>
              </a:rPr>
              <a:t>2</a:t>
            </a:r>
          </a:p>
        </p:txBody>
      </p:sp>
      <p:sp>
        <p:nvSpPr>
          <p:cNvPr id="6" name="Gap 6"/>
          <p:cNvSpPr txBox="1"/>
          <p:nvPr/>
        </p:nvSpPr>
        <p:spPr>
          <a:xfrm>
            <a:off x="1371600" y="2697480"/>
            <a:ext cx="10332720" cy="1188720"/>
          </a:xfrm>
          <a:prstGeom prst="roundRect">
            <a:avLst>
              <a:gd name="adj" fmla="val 6000"/>
            </a:avLst>
          </a:prstGeom>
          <a:solidFill>
            <a:srgbClr val="F3F6FA"/>
          </a:solidFill>
          <a:ln>
            <a:noFill/>
          </a:ln>
        </p:spPr>
        <p:txBody>
          <a:bodyPr wrap="square" lIns="182880" tIns="128016" rIns="182880" bIns="128016" rtlCol="0" anchor="ctr">
            <a:noAutofit/>
          </a:bodyPr>
          <a:lstStyle/>
          <a:p>
            <a:pPr marL="0" indent="0" algn="l">
              <a:lnSpc>
                <a:spcPct val="100000"/>
              </a:lnSpc>
              <a:spcBef>
                <a:spcPts val="0"/>
              </a:spcBef>
              <a:spcAft>
                <a:spcPts val="300"/>
              </a:spcAft>
              <a:buNone/>
            </a:pPr>
            <a:r>
              <a:rPr lang="en-IN" sz="1900" b="1" dirty="0">
                <a:solidFill>
                  <a:srgbClr val="1F2328"/>
                </a:solidFill>
                <a:latin typeface="Times New Roman" panose="02020603050405020304" pitchFamily="18" charset="0"/>
                <a:cs typeface="Times New Roman" panose="02020603050405020304" pitchFamily="18" charset="0"/>
              </a:rPr>
              <a:t>Education and capstone work stays on LMS data</a:t>
            </a:r>
          </a:p>
          <a:p>
            <a:pPr marL="0" indent="0" algn="l">
              <a:lnSpc>
                <a:spcPct val="100000"/>
              </a:lnSpc>
              <a:spcBef>
                <a:spcPts val="0"/>
              </a:spcBef>
              <a:spcAft>
                <a:spcPts val="0"/>
              </a:spcAft>
              <a:buNone/>
            </a:pPr>
            <a:r>
              <a:rPr lang="en-IN" sz="1500" dirty="0">
                <a:solidFill>
                  <a:srgbClr val="5B616B"/>
                </a:solidFill>
                <a:latin typeface="Times New Roman" panose="02020603050405020304" pitchFamily="18" charset="0"/>
                <a:cs typeface="Times New Roman" panose="02020603050405020304" pitchFamily="18" charset="0"/>
              </a:rPr>
              <a:t>Object-centric educational mining uses Moodle activity. A transactional review lifecycle (submit, review, reject, resubmit, score) has no public object-centric dataset.</a:t>
            </a:r>
          </a:p>
        </p:txBody>
      </p:sp>
      <p:sp>
        <p:nvSpPr>
          <p:cNvPr id="7" name="Shape 7"/>
          <p:cNvSpPr/>
          <p:nvPr/>
        </p:nvSpPr>
        <p:spPr>
          <a:xfrm>
            <a:off x="457200" y="4114800"/>
            <a:ext cx="685800" cy="685800"/>
          </a:xfrm>
          <a:prstGeom prst="ellipse">
            <a:avLst/>
          </a:prstGeom>
          <a:solidFill>
            <a:srgbClr val="1BAF7A"/>
          </a:solidFill>
          <a:ln>
            <a:noFill/>
          </a:ln>
        </p:spPr>
        <p:txBody>
          <a:bodyPr wrap="square" lIns="45720" tIns="45720" rIns="45720" bIns="45720" rtlCol="0" anchor="ctr">
            <a:noAutofit/>
          </a:bodyPr>
          <a:lstStyle/>
          <a:p>
            <a:pPr marL="0" indent="0" algn="ctr">
              <a:lnSpc>
                <a:spcPct val="100000"/>
              </a:lnSpc>
              <a:spcBef>
                <a:spcPts val="0"/>
              </a:spcBef>
              <a:spcAft>
                <a:spcPts val="0"/>
              </a:spcAft>
              <a:buNone/>
            </a:pPr>
            <a:r>
              <a:rPr lang="en-IN" sz="2400" b="1" dirty="0">
                <a:solidFill>
                  <a:srgbClr val="FFFFFF"/>
                </a:solidFill>
                <a:latin typeface="Times New Roman" panose="02020603050405020304" pitchFamily="18" charset="0"/>
                <a:cs typeface="Times New Roman" panose="02020603050405020304" pitchFamily="18" charset="0"/>
              </a:rPr>
              <a:t>3</a:t>
            </a:r>
          </a:p>
        </p:txBody>
      </p:sp>
      <p:sp>
        <p:nvSpPr>
          <p:cNvPr id="8" name="Gap 8"/>
          <p:cNvSpPr txBox="1"/>
          <p:nvPr/>
        </p:nvSpPr>
        <p:spPr>
          <a:xfrm>
            <a:off x="1371600" y="4023360"/>
            <a:ext cx="10332720" cy="1188720"/>
          </a:xfrm>
          <a:prstGeom prst="roundRect">
            <a:avLst>
              <a:gd name="adj" fmla="val 6000"/>
            </a:avLst>
          </a:prstGeom>
          <a:solidFill>
            <a:srgbClr val="F3F6FA"/>
          </a:solidFill>
          <a:ln>
            <a:noFill/>
          </a:ln>
        </p:spPr>
        <p:txBody>
          <a:bodyPr wrap="square" lIns="182880" tIns="128016" rIns="182880" bIns="128016" rtlCol="0" anchor="ctr">
            <a:noAutofit/>
          </a:bodyPr>
          <a:lstStyle/>
          <a:p>
            <a:pPr marL="0" indent="0" algn="l">
              <a:lnSpc>
                <a:spcPct val="100000"/>
              </a:lnSpc>
              <a:spcBef>
                <a:spcPts val="0"/>
              </a:spcBef>
              <a:spcAft>
                <a:spcPts val="300"/>
              </a:spcAft>
              <a:buNone/>
            </a:pPr>
            <a:r>
              <a:rPr lang="en-IN" sz="1900" b="1" dirty="0">
                <a:solidFill>
                  <a:srgbClr val="1F2328"/>
                </a:solidFill>
                <a:latin typeface="Times New Roman" panose="02020603050405020304" pitchFamily="18" charset="0"/>
                <a:cs typeface="Times New Roman" panose="02020603050405020304" pitchFamily="18" charset="0"/>
              </a:rPr>
              <a:t>Capstone portal logs cannot be had</a:t>
            </a:r>
          </a:p>
          <a:p>
            <a:pPr marL="0" indent="0" algn="l">
              <a:lnSpc>
                <a:spcPct val="100000"/>
              </a:lnSpc>
              <a:spcBef>
                <a:spcPts val="0"/>
              </a:spcBef>
              <a:spcAft>
                <a:spcPts val="0"/>
              </a:spcAft>
              <a:buNone/>
            </a:pPr>
            <a:r>
              <a:rPr lang="en-IN" sz="1500" dirty="0">
                <a:solidFill>
                  <a:srgbClr val="5B616B"/>
                </a:solidFill>
                <a:latin typeface="Times New Roman" panose="02020603050405020304" pitchFamily="18" charset="0"/>
                <a:cs typeface="Times New Roman" panose="02020603050405020304" pitchFamily="18" charset="0"/>
              </a:rPr>
              <a:t>Searches of Zenodo, 4TU and the web found no public capstone or thesis-management event log, so the capstone claim cannot be tested directly.</a:t>
            </a:r>
          </a:p>
        </p:txBody>
      </p:sp>
      <p:sp>
        <p:nvSpPr>
          <p:cNvPr id="9" name="Angle 9"/>
          <p:cNvSpPr txBox="1"/>
          <p:nvPr/>
        </p:nvSpPr>
        <p:spPr>
          <a:xfrm>
            <a:off x="457200" y="5440680"/>
            <a:ext cx="11274552" cy="640080"/>
          </a:xfrm>
          <a:prstGeom prst="rect">
            <a:avLst/>
          </a:prstGeom>
          <a:noFill/>
          <a:ln>
            <a:noFill/>
          </a:ln>
        </p:spPr>
        <p:txBody>
          <a:bodyPr wrap="square" lIns="109728" tIns="76810" rIns="109728" bIns="76810" rtlCol="0" anchor="ctr">
            <a:noAutofit/>
          </a:bodyPr>
          <a:lstStyle/>
          <a:p>
            <a:pPr marL="0" indent="0" algn="l">
              <a:lnSpc>
                <a:spcPct val="100000"/>
              </a:lnSpc>
              <a:spcBef>
                <a:spcPts val="0"/>
              </a:spcBef>
              <a:spcAft>
                <a:spcPts val="0"/>
              </a:spcAft>
              <a:buNone/>
            </a:pPr>
            <a:r>
              <a:rPr lang="en-IN" sz="1700" b="1" dirty="0">
                <a:solidFill>
                  <a:srgbClr val="2A78D6"/>
                </a:solidFill>
                <a:latin typeface="Times New Roman" panose="02020603050405020304" pitchFamily="18" charset="0"/>
                <a:cs typeface="Times New Roman" panose="02020603050405020304" pitchFamily="18" charset="0"/>
              </a:rPr>
              <a:t>Our angle: </a:t>
            </a:r>
            <a:r>
              <a:rPr lang="en-IN" sz="1700" dirty="0">
                <a:solidFill>
                  <a:srgbClr val="1F2328"/>
                </a:solidFill>
                <a:latin typeface="Times New Roman" panose="02020603050405020304" pitchFamily="18" charset="0"/>
                <a:cs typeface="Times New Roman" panose="02020603050405020304" pitchFamily="18" charset="0"/>
              </a:rPr>
              <a:t>measure on real review-like and multi-entity logs, give the capstone an OCEL 2.0 model, and state the limits plainly.</a:t>
            </a:r>
          </a:p>
        </p:txBody>
      </p:sp>
      <p:sp>
        <p:nvSpPr>
          <p:cNvPr id="10" name="Date Placeholder"/>
          <p:cNvSpPr>
            <a:spLocks noGrp="1"/>
          </p:cNvSpPr>
          <p:nvPr>
            <p:ph type="dt" sz="half" idx="10"/>
          </p:nvPr>
        </p:nvSpPr>
        <p:spPr/>
        <p:txBody>
          <a:bodyPr/>
          <a:lstStyle/>
          <a:p>
            <a:fld id="{61736562-4E3F-4038-A291-A7AE35CC3E6A}" type="datetime1">
              <a:rPr lang="en-IN" smtClean="0"/>
              <a:t>28/10/26</a:t>
            </a:fld>
            <a:endParaRPr lang="en-IN"/>
          </a:p>
        </p:txBody>
      </p:sp>
      <p:sp>
        <p:nvSpPr>
          <p:cNvPr id="11" name="Footer Placeholder"/>
          <p:cNvSpPr>
            <a:spLocks noGrp="1"/>
          </p:cNvSpPr>
          <p:nvPr>
            <p:ph type="ftr" sz="quarter" idx="11"/>
          </p:nvPr>
        </p:nvSpPr>
        <p:spPr/>
        <p:txBody>
          <a:bodyPr/>
          <a:lstStyle/>
          <a:p>
            <a:r>
              <a:rPr lang="en-IN"/>
              <a:t>SCOPE</a:t>
            </a:r>
          </a:p>
        </p:txBody>
      </p:sp>
      <p:sp>
        <p:nvSpPr>
          <p:cNvPr id="12" name="Slide Number Placeholder"/>
          <p:cNvSpPr>
            <a:spLocks noGrp="1"/>
          </p:cNvSpPr>
          <p:nvPr>
            <p:ph type="sldNum" sz="quarter" idx="12"/>
          </p:nvPr>
        </p:nvSpPr>
        <p:spPr/>
        <p:txBody>
          <a:bodyPr/>
          <a:lstStyle/>
          <a:p>
            <a:fld id="{65201FD4-9D8D-4491-815B-63C7BF4F0034}" type="slidenum">
              <a:rPr lang="en-IN" smtClean="0"/>
              <a:t>7</a:t>
            </a:fld>
            <a:endParaRPr lang="en-IN"/>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a:spLocks noGrp="1"/>
          </p:cNvSpPr>
          <p:nvPr>
            <p:ph type="title"/>
          </p:nvPr>
        </p:nvSpPr>
        <p:spPr>
          <a:xfrm>
            <a:off x="457200" y="502920"/>
            <a:ext cx="11274552" cy="685800"/>
          </a:xfrm>
          <a:prstGeom prst="rect">
            <a:avLst/>
          </a:prstGeom>
        </p:spPr>
        <p:txBody>
          <a:bodyPr vert="horz" wrap="square" lIns="0" tIns="0" rIns="0" bIns="0" rtlCol="0" anchor="ctr">
            <a:noAutofit/>
          </a:bodyPr>
          <a:lstStyle/>
          <a:p>
            <a:pPr marL="0">
              <a:lnSpc>
                <a:spcPct val="100000"/>
              </a:lnSpc>
            </a:pPr>
            <a:r>
              <a:rPr lang="en-IN" sz="3000" b="1" dirty="0">
                <a:latin typeface="Times New Roman" panose="02020603050405020304" pitchFamily="18" charset="0"/>
                <a:cs typeface="Times New Roman" panose="02020603050405020304" pitchFamily="18" charset="0"/>
              </a:rPr>
              <a:t>Objectives</a:t>
            </a:r>
          </a:p>
        </p:txBody>
      </p:sp>
      <p:sp>
        <p:nvSpPr>
          <p:cNvPr id="3" name="Objectives 3"/>
          <p:cNvSpPr txBox="1"/>
          <p:nvPr/>
        </p:nvSpPr>
        <p:spPr>
          <a:xfrm>
            <a:off x="457200" y="1371600"/>
            <a:ext cx="6766560" cy="4846320"/>
          </a:xfrm>
          <a:prstGeom prst="rect">
            <a:avLst/>
          </a:prstGeom>
          <a:noFill/>
          <a:ln>
            <a:noFill/>
          </a:ln>
        </p:spPr>
        <p:txBody>
          <a:bodyPr wrap="square" lIns="109728" tIns="76810" rIns="109728" bIns="76810" rtlCol="0" anchor="t">
            <a:noAutofit/>
          </a:bodyPr>
          <a:lstStyle/>
          <a:p>
            <a:pPr marL="420000" indent="-420000" algn="l">
              <a:lnSpc>
                <a:spcPct val="100000"/>
              </a:lnSpc>
              <a:spcBef>
                <a:spcPts val="1600"/>
              </a:spcBef>
              <a:spcAft>
                <a:spcPts val="0"/>
              </a:spcAft>
              <a:buFont typeface="+mj-lt"/>
              <a:buAutoNum type="arabicPeriod"/>
            </a:pPr>
            <a:r>
              <a:rPr lang="en-IN" sz="2000" dirty="0">
                <a:solidFill>
                  <a:srgbClr val="1F2328"/>
                </a:solidFill>
                <a:latin typeface="Times New Roman" panose="02020603050405020304" pitchFamily="18" charset="0"/>
                <a:cs typeface="Times New Roman" panose="02020603050405020304" pitchFamily="18" charset="0"/>
              </a:rPr>
              <a:t>Model the capstone lifecycle as OCEL 2.0 from the documented portal behaviour.</a:t>
            </a:r>
          </a:p>
          <a:p>
            <a:pPr marL="420000" indent="-420000" algn="l">
              <a:lnSpc>
                <a:spcPct val="100000"/>
              </a:lnSpc>
              <a:spcBef>
                <a:spcPts val="1600"/>
              </a:spcBef>
              <a:spcAft>
                <a:spcPts val="0"/>
              </a:spcAft>
              <a:buFont typeface="+mj-lt"/>
              <a:buAutoNum type="arabicPeriod"/>
            </a:pPr>
            <a:r>
              <a:rPr lang="en-IN" sz="2000" dirty="0">
                <a:solidFill>
                  <a:srgbClr val="1F2328"/>
                </a:solidFill>
                <a:latin typeface="Times New Roman" panose="02020603050405020304" pitchFamily="18" charset="0"/>
                <a:cs typeface="Times New Roman" panose="02020603050405020304" pitchFamily="18" charset="0"/>
              </a:rPr>
              <a:t>Build a reproducible pipeline: download, verify, convert, load, analyse.</a:t>
            </a:r>
          </a:p>
          <a:p>
            <a:pPr marL="420000" indent="-420000" algn="l">
              <a:lnSpc>
                <a:spcPct val="100000"/>
              </a:lnSpc>
              <a:spcBef>
                <a:spcPts val="1600"/>
              </a:spcBef>
              <a:spcAft>
                <a:spcPts val="0"/>
              </a:spcAft>
              <a:buFont typeface="+mj-lt"/>
              <a:buAutoNum type="arabicPeriod"/>
            </a:pPr>
            <a:r>
              <a:rPr lang="en-IN" sz="2000" dirty="0">
                <a:solidFill>
                  <a:srgbClr val="1F2328"/>
                </a:solidFill>
                <a:latin typeface="Times New Roman" panose="02020603050405020304" pitchFamily="18" charset="0"/>
                <a:cs typeface="Times New Roman" panose="02020603050405020304" pitchFamily="18" charset="0"/>
              </a:rPr>
              <a:t>Measure flattening distortion on seven real logs without hand-picked rules.</a:t>
            </a:r>
          </a:p>
          <a:p>
            <a:pPr marL="420000" indent="-420000" algn="l">
              <a:lnSpc>
                <a:spcPct val="100000"/>
              </a:lnSpc>
              <a:spcBef>
                <a:spcPts val="1600"/>
              </a:spcBef>
              <a:spcAft>
                <a:spcPts val="0"/>
              </a:spcAft>
              <a:buFont typeface="+mj-lt"/>
              <a:buAutoNum type="arabicPeriod"/>
            </a:pPr>
            <a:r>
              <a:rPr lang="en-IN" sz="2000" dirty="0">
                <a:solidFill>
                  <a:srgbClr val="1F2328"/>
                </a:solidFill>
                <a:latin typeface="Times New Roman" panose="02020603050405020304" pitchFamily="18" charset="0"/>
                <a:cs typeface="Times New Roman" panose="02020603050405020304" pitchFamily="18" charset="0"/>
              </a:rPr>
              <a:t>Compare standard outputs (rankings, directly-follows, variants, entity counts) between flat and object-centric views.</a:t>
            </a:r>
          </a:p>
          <a:p>
            <a:pPr marL="420000" indent="-420000" algn="l">
              <a:lnSpc>
                <a:spcPct val="100000"/>
              </a:lnSpc>
              <a:spcBef>
                <a:spcPts val="1600"/>
              </a:spcBef>
              <a:spcAft>
                <a:spcPts val="0"/>
              </a:spcAft>
              <a:buFont typeface="+mj-lt"/>
              <a:buAutoNum type="arabicPeriod"/>
            </a:pPr>
            <a:r>
              <a:rPr lang="en-IN" sz="2000" dirty="0">
                <a:solidFill>
                  <a:srgbClr val="1F2328"/>
                </a:solidFill>
                <a:latin typeface="Times New Roman" panose="02020603050405020304" pitchFamily="18" charset="0"/>
                <a:cs typeface="Times New Roman" panose="02020603050405020304" pitchFamily="18" charset="0"/>
              </a:rPr>
              <a:t>Verify every result with independent checks and release the code.</a:t>
            </a:r>
          </a:p>
        </p:txBody>
      </p:sp>
      <p:sp>
        <p:nvSpPr>
          <p:cNvPr id="4" name="Identified 4"/>
          <p:cNvSpPr txBox="1"/>
          <p:nvPr/>
        </p:nvSpPr>
        <p:spPr>
          <a:xfrm>
            <a:off x="7498080" y="1371600"/>
            <a:ext cx="4233672" cy="365760"/>
          </a:xfrm>
          <a:prstGeom prst="rect">
            <a:avLst/>
          </a:prstGeom>
          <a:noFill/>
          <a:ln>
            <a:noFill/>
          </a:ln>
        </p:spPr>
        <p:txBody>
          <a:bodyPr wrap="square" lIns="109728" tIns="76810" rIns="109728" bIns="76810" rtlCol="0" anchor="t">
            <a:noAutofit/>
          </a:bodyPr>
          <a:lstStyle/>
          <a:p>
            <a:pPr marL="0" indent="0" algn="l">
              <a:lnSpc>
                <a:spcPct val="100000"/>
              </a:lnSpc>
              <a:spcBef>
                <a:spcPts val="0"/>
              </a:spcBef>
              <a:spcAft>
                <a:spcPts val="0"/>
              </a:spcAft>
              <a:buNone/>
            </a:pPr>
            <a:r>
              <a:rPr lang="en-IN" sz="1700" b="1" dirty="0">
                <a:solidFill>
                  <a:srgbClr val="2A78D6"/>
                </a:solidFill>
                <a:latin typeface="Times New Roman" panose="02020603050405020304" pitchFamily="18" charset="0"/>
                <a:cs typeface="Times New Roman" panose="02020603050405020304" pitchFamily="18" charset="0"/>
              </a:rPr>
              <a:t>Identified</a:t>
            </a:r>
          </a:p>
        </p:txBody>
      </p:sp>
      <p:sp>
        <p:nvSpPr>
          <p:cNvPr id="5" name="SDG label 5"/>
          <p:cNvSpPr txBox="1"/>
          <p:nvPr/>
        </p:nvSpPr>
        <p:spPr>
          <a:xfrm>
            <a:off x="7498080" y="1783080"/>
            <a:ext cx="4233672" cy="566928"/>
          </a:xfrm>
          <a:prstGeom prst="rect">
            <a:avLst/>
          </a:prstGeom>
          <a:noFill/>
          <a:ln>
            <a:noFill/>
          </a:ln>
        </p:spPr>
        <p:txBody>
          <a:bodyPr wrap="square" lIns="109728" tIns="76810" rIns="109728" bIns="76810" rtlCol="0" anchor="t">
            <a:noAutofit/>
          </a:bodyPr>
          <a:lstStyle/>
          <a:p>
            <a:pPr marL="0" indent="0" algn="l">
              <a:lnSpc>
                <a:spcPct val="100000"/>
              </a:lnSpc>
              <a:spcBef>
                <a:spcPts val="0"/>
              </a:spcBef>
              <a:spcAft>
                <a:spcPts val="0"/>
              </a:spcAft>
              <a:buNone/>
            </a:pPr>
            <a:r>
              <a:rPr lang="en-IN" sz="1300" dirty="0">
                <a:solidFill>
                  <a:srgbClr val="5B616B"/>
                </a:solidFill>
                <a:latin typeface="Times New Roman" panose="02020603050405020304" pitchFamily="18" charset="0"/>
                <a:cs typeface="Times New Roman" panose="02020603050405020304" pitchFamily="18" charset="0"/>
              </a:rPr>
              <a:t>Sustainable Development Goals</a:t>
            </a:r>
          </a:p>
        </p:txBody>
      </p:sp>
      <p:sp>
        <p:nvSpPr>
          <p:cNvPr id="6" name="Shape 6"/>
          <p:cNvSpPr/>
          <p:nvPr/>
        </p:nvSpPr>
        <p:spPr>
          <a:xfrm>
            <a:off x="7498080" y="2057400"/>
            <a:ext cx="566928" cy="566928"/>
          </a:xfrm>
          <a:prstGeom prst="rect">
            <a:avLst/>
          </a:prstGeom>
          <a:solidFill>
            <a:srgbClr val="C5192D"/>
          </a:solidFill>
          <a:ln>
            <a:noFill/>
          </a:ln>
        </p:spPr>
        <p:txBody>
          <a:bodyPr wrap="square" lIns="45720" tIns="45720" rIns="45720" bIns="45720" rtlCol="0" anchor="ctr">
            <a:noAutofit/>
          </a:bodyPr>
          <a:lstStyle/>
          <a:p>
            <a:pPr marL="0" indent="0" algn="ctr">
              <a:lnSpc>
                <a:spcPct val="100000"/>
              </a:lnSpc>
              <a:spcBef>
                <a:spcPts val="0"/>
              </a:spcBef>
              <a:spcAft>
                <a:spcPts val="0"/>
              </a:spcAft>
              <a:buNone/>
            </a:pPr>
            <a:r>
              <a:rPr lang="en-IN" sz="2200" b="1" dirty="0">
                <a:solidFill>
                  <a:srgbClr val="FFFFFF"/>
                </a:solidFill>
                <a:latin typeface="Times New Roman" panose="02020603050405020304" pitchFamily="18" charset="0"/>
                <a:cs typeface="Times New Roman" panose="02020603050405020304" pitchFamily="18" charset="0"/>
              </a:rPr>
              <a:t>4</a:t>
            </a:r>
          </a:p>
        </p:txBody>
      </p:sp>
      <p:sp>
        <p:nvSpPr>
          <p:cNvPr id="7" name="SDG4 7"/>
          <p:cNvSpPr txBox="1"/>
          <p:nvPr/>
        </p:nvSpPr>
        <p:spPr>
          <a:xfrm>
            <a:off x="8138160" y="2057400"/>
            <a:ext cx="3593592" cy="566928"/>
          </a:xfrm>
          <a:prstGeom prst="rect">
            <a:avLst/>
          </a:prstGeom>
          <a:noFill/>
          <a:ln>
            <a:noFill/>
          </a:ln>
        </p:spPr>
        <p:txBody>
          <a:bodyPr wrap="square" lIns="36576" tIns="25603" rIns="36576" bIns="25603" rtlCol="0" anchor="ctr">
            <a:noAutofit/>
          </a:bodyPr>
          <a:lstStyle/>
          <a:p>
            <a:pPr marL="0" indent="0" algn="l">
              <a:lnSpc>
                <a:spcPct val="100000"/>
              </a:lnSpc>
              <a:spcBef>
                <a:spcPts val="0"/>
              </a:spcBef>
              <a:spcAft>
                <a:spcPts val="0"/>
              </a:spcAft>
              <a:buNone/>
            </a:pPr>
            <a:r>
              <a:rPr lang="en-IN" sz="1500" b="1" dirty="0">
                <a:solidFill>
                  <a:srgbClr val="1F2328"/>
                </a:solidFill>
                <a:latin typeface="Times New Roman" panose="02020603050405020304" pitchFamily="18" charset="0"/>
                <a:cs typeface="Times New Roman" panose="02020603050405020304" pitchFamily="18" charset="0"/>
              </a:rPr>
              <a:t>Quality Education</a:t>
            </a:r>
          </a:p>
        </p:txBody>
      </p:sp>
      <p:sp>
        <p:nvSpPr>
          <p:cNvPr id="8" name="Shape 8"/>
          <p:cNvSpPr/>
          <p:nvPr/>
        </p:nvSpPr>
        <p:spPr>
          <a:xfrm>
            <a:off x="7498080" y="2743200"/>
            <a:ext cx="566928" cy="566928"/>
          </a:xfrm>
          <a:prstGeom prst="rect">
            <a:avLst/>
          </a:prstGeom>
          <a:solidFill>
            <a:srgbClr val="F36E24"/>
          </a:solidFill>
          <a:ln>
            <a:noFill/>
          </a:ln>
        </p:spPr>
        <p:txBody>
          <a:bodyPr wrap="square" lIns="45720" tIns="45720" rIns="45720" bIns="45720" rtlCol="0" anchor="ctr">
            <a:noAutofit/>
          </a:bodyPr>
          <a:lstStyle/>
          <a:p>
            <a:pPr marL="0" indent="0" algn="ctr">
              <a:lnSpc>
                <a:spcPct val="100000"/>
              </a:lnSpc>
              <a:spcBef>
                <a:spcPts val="0"/>
              </a:spcBef>
              <a:spcAft>
                <a:spcPts val="0"/>
              </a:spcAft>
              <a:buNone/>
            </a:pPr>
            <a:r>
              <a:rPr lang="en-IN" sz="2200" b="1" dirty="0">
                <a:solidFill>
                  <a:srgbClr val="FFFFFF"/>
                </a:solidFill>
                <a:latin typeface="Times New Roman" panose="02020603050405020304" pitchFamily="18" charset="0"/>
                <a:cs typeface="Times New Roman" panose="02020603050405020304" pitchFamily="18" charset="0"/>
              </a:rPr>
              <a:t>9</a:t>
            </a:r>
          </a:p>
        </p:txBody>
      </p:sp>
      <p:sp>
        <p:nvSpPr>
          <p:cNvPr id="9" name="SDG9 9"/>
          <p:cNvSpPr txBox="1"/>
          <p:nvPr/>
        </p:nvSpPr>
        <p:spPr>
          <a:xfrm>
            <a:off x="8138160" y="2743200"/>
            <a:ext cx="3593592" cy="566928"/>
          </a:xfrm>
          <a:prstGeom prst="rect">
            <a:avLst/>
          </a:prstGeom>
          <a:noFill/>
          <a:ln>
            <a:noFill/>
          </a:ln>
        </p:spPr>
        <p:txBody>
          <a:bodyPr wrap="square" lIns="36576" tIns="25603" rIns="36576" bIns="25603" rtlCol="0" anchor="ctr">
            <a:noAutofit/>
          </a:bodyPr>
          <a:lstStyle/>
          <a:p>
            <a:pPr marL="0" indent="0" algn="l">
              <a:lnSpc>
                <a:spcPct val="100000"/>
              </a:lnSpc>
              <a:spcBef>
                <a:spcPts val="0"/>
              </a:spcBef>
              <a:spcAft>
                <a:spcPts val="0"/>
              </a:spcAft>
              <a:buNone/>
            </a:pPr>
            <a:r>
              <a:rPr lang="en-IN" sz="1500" b="1" dirty="0">
                <a:solidFill>
                  <a:srgbClr val="1F2328"/>
                </a:solidFill>
                <a:latin typeface="Times New Roman" panose="02020603050405020304" pitchFamily="18" charset="0"/>
                <a:cs typeface="Times New Roman" panose="02020603050405020304" pitchFamily="18" charset="0"/>
              </a:rPr>
              <a:t>Industry, Innovation and Infrastructure</a:t>
            </a:r>
          </a:p>
        </p:txBody>
      </p:sp>
      <p:sp>
        <p:nvSpPr>
          <p:cNvPr id="10" name="TRL 10"/>
          <p:cNvSpPr txBox="1"/>
          <p:nvPr/>
        </p:nvSpPr>
        <p:spPr>
          <a:xfrm>
            <a:off x="7498080" y="3520440"/>
            <a:ext cx="4233672" cy="1234440"/>
          </a:xfrm>
          <a:prstGeom prst="roundRect">
            <a:avLst>
              <a:gd name="adj" fmla="val 6000"/>
            </a:avLst>
          </a:prstGeom>
          <a:solidFill>
            <a:srgbClr val="F3F6FA"/>
          </a:solidFill>
          <a:ln>
            <a:noFill/>
          </a:ln>
        </p:spPr>
        <p:txBody>
          <a:bodyPr wrap="square" lIns="109728" tIns="76810" rIns="109728" bIns="76810" rtlCol="0" anchor="t">
            <a:noAutofit/>
          </a:bodyPr>
          <a:lstStyle/>
          <a:p>
            <a:pPr marL="0" indent="0" algn="l">
              <a:lnSpc>
                <a:spcPct val="100000"/>
              </a:lnSpc>
              <a:spcBef>
                <a:spcPts val="0"/>
              </a:spcBef>
              <a:spcAft>
                <a:spcPts val="0"/>
              </a:spcAft>
              <a:buNone/>
            </a:pPr>
            <a:r>
              <a:rPr lang="en-IN" sz="1300" dirty="0">
                <a:solidFill>
                  <a:srgbClr val="5B616B"/>
                </a:solidFill>
                <a:latin typeface="Times New Roman" panose="02020603050405020304" pitchFamily="18" charset="0"/>
                <a:cs typeface="Times New Roman" panose="02020603050405020304" pitchFamily="18" charset="0"/>
              </a:rPr>
              <a:t>Technology Readiness Level</a:t>
            </a:r>
          </a:p>
          <a:p>
            <a:pPr marL="0" indent="0" algn="l">
              <a:lnSpc>
                <a:spcPct val="100000"/>
              </a:lnSpc>
              <a:spcBef>
                <a:spcPts val="200"/>
              </a:spcBef>
              <a:spcAft>
                <a:spcPts val="0"/>
              </a:spcAft>
              <a:buNone/>
            </a:pPr>
            <a:r>
              <a:rPr lang="en-IN" sz="1700" b="1" dirty="0">
                <a:solidFill>
                  <a:srgbClr val="1F2328"/>
                </a:solidFill>
                <a:latin typeface="Times New Roman" panose="02020603050405020304" pitchFamily="18" charset="0"/>
                <a:cs typeface="Times New Roman" panose="02020603050405020304" pitchFamily="18" charset="0"/>
              </a:rPr>
              <a:t>TRL 4: validated in the lab</a:t>
            </a:r>
          </a:p>
          <a:p>
            <a:pPr marL="0" indent="0" algn="l">
              <a:lnSpc>
                <a:spcPct val="100000"/>
              </a:lnSpc>
              <a:spcBef>
                <a:spcPts val="200"/>
              </a:spcBef>
              <a:spcAft>
                <a:spcPts val="0"/>
              </a:spcAft>
              <a:buNone/>
            </a:pPr>
            <a:r>
              <a:rPr lang="en-IN" sz="1300" dirty="0">
                <a:solidFill>
                  <a:srgbClr val="5B616B"/>
                </a:solidFill>
                <a:latin typeface="Times New Roman" panose="02020603050405020304" pitchFamily="18" charset="0"/>
                <a:cs typeface="Times New Roman" panose="02020603050405020304" pitchFamily="18" charset="0"/>
              </a:rPr>
              <a:t>Pipeline reproduces on 7 public logs; portal integration is TRL 2-3</a:t>
            </a:r>
          </a:p>
        </p:txBody>
      </p:sp>
      <p:sp>
        <p:nvSpPr>
          <p:cNvPr id="11" name="Outcome 11"/>
          <p:cNvSpPr txBox="1"/>
          <p:nvPr/>
        </p:nvSpPr>
        <p:spPr>
          <a:xfrm>
            <a:off x="7498080" y="4846320"/>
            <a:ext cx="4233672" cy="1325880"/>
          </a:xfrm>
          <a:prstGeom prst="roundRect">
            <a:avLst>
              <a:gd name="adj" fmla="val 6000"/>
            </a:avLst>
          </a:prstGeom>
          <a:solidFill>
            <a:srgbClr val="F3F6FA"/>
          </a:solidFill>
          <a:ln>
            <a:noFill/>
          </a:ln>
        </p:spPr>
        <p:txBody>
          <a:bodyPr wrap="square" lIns="109728" tIns="76810" rIns="109728" bIns="76810" rtlCol="0" anchor="t">
            <a:noAutofit/>
          </a:bodyPr>
          <a:lstStyle/>
          <a:p>
            <a:pPr marL="0" indent="0" algn="l">
              <a:lnSpc>
                <a:spcPct val="100000"/>
              </a:lnSpc>
              <a:spcBef>
                <a:spcPts val="0"/>
              </a:spcBef>
              <a:spcAft>
                <a:spcPts val="0"/>
              </a:spcAft>
              <a:buNone/>
            </a:pPr>
            <a:r>
              <a:rPr lang="en-IN" sz="1300" dirty="0">
                <a:solidFill>
                  <a:srgbClr val="5B616B"/>
                </a:solidFill>
                <a:latin typeface="Times New Roman" panose="02020603050405020304" pitchFamily="18" charset="0"/>
                <a:cs typeface="Times New Roman" panose="02020603050405020304" pitchFamily="18" charset="0"/>
              </a:rPr>
              <a:t>Outcome</a:t>
            </a:r>
          </a:p>
          <a:p>
            <a:pPr marL="0" indent="0" algn="l">
              <a:lnSpc>
                <a:spcPct val="100000"/>
              </a:lnSpc>
              <a:spcBef>
                <a:spcPts val="200"/>
              </a:spcBef>
              <a:spcAft>
                <a:spcPts val="0"/>
              </a:spcAft>
              <a:buNone/>
            </a:pPr>
            <a:r>
              <a:rPr lang="en-IN" sz="1600" b="1" dirty="0">
                <a:solidFill>
                  <a:srgbClr val="1F2328"/>
                </a:solidFill>
                <a:latin typeface="Times New Roman" panose="02020603050405020304" pitchFamily="18" charset="0"/>
                <a:cs typeface="Times New Roman" panose="02020603050405020304" pitchFamily="18" charset="0"/>
              </a:rPr>
              <a:t>Journal paper (Scopus): manuscript in preparation, not yet submitted</a:t>
            </a:r>
          </a:p>
          <a:p>
            <a:pPr marL="0" indent="0" algn="l">
              <a:lnSpc>
                <a:spcPct val="100000"/>
              </a:lnSpc>
              <a:spcBef>
                <a:spcPts val="200"/>
              </a:spcBef>
              <a:spcAft>
                <a:spcPts val="0"/>
              </a:spcAft>
              <a:buNone/>
            </a:pPr>
            <a:r>
              <a:rPr lang="en-IN" sz="1300" dirty="0">
                <a:solidFill>
                  <a:srgbClr val="5B616B"/>
                </a:solidFill>
                <a:latin typeface="Times New Roman" panose="02020603050405020304" pitchFamily="18" charset="0"/>
                <a:cs typeface="Times New Roman" panose="02020603050405020304" pitchFamily="18" charset="0"/>
              </a:rPr>
              <a:t>Open, re-runnable code in the project repository</a:t>
            </a:r>
          </a:p>
        </p:txBody>
      </p:sp>
      <p:sp>
        <p:nvSpPr>
          <p:cNvPr id="12" name="Date Placeholder"/>
          <p:cNvSpPr>
            <a:spLocks noGrp="1"/>
          </p:cNvSpPr>
          <p:nvPr>
            <p:ph type="dt" sz="half" idx="10"/>
          </p:nvPr>
        </p:nvSpPr>
        <p:spPr/>
        <p:txBody>
          <a:bodyPr/>
          <a:lstStyle/>
          <a:p>
            <a:fld id="{61736562-4E3F-4038-A291-A7AE35CC3E6A}" type="datetime1">
              <a:rPr lang="en-IN" smtClean="0"/>
              <a:t>28/10/26</a:t>
            </a:fld>
            <a:endParaRPr lang="en-IN"/>
          </a:p>
        </p:txBody>
      </p:sp>
      <p:sp>
        <p:nvSpPr>
          <p:cNvPr id="13" name="Footer Placeholder"/>
          <p:cNvSpPr>
            <a:spLocks noGrp="1"/>
          </p:cNvSpPr>
          <p:nvPr>
            <p:ph type="ftr" sz="quarter" idx="11"/>
          </p:nvPr>
        </p:nvSpPr>
        <p:spPr/>
        <p:txBody>
          <a:bodyPr/>
          <a:lstStyle/>
          <a:p>
            <a:r>
              <a:rPr lang="en-IN"/>
              <a:t>SCOPE</a:t>
            </a:r>
          </a:p>
        </p:txBody>
      </p:sp>
      <p:sp>
        <p:nvSpPr>
          <p:cNvPr id="14" name="Slide Number Placeholder"/>
          <p:cNvSpPr>
            <a:spLocks noGrp="1"/>
          </p:cNvSpPr>
          <p:nvPr>
            <p:ph type="sldNum" sz="quarter" idx="12"/>
          </p:nvPr>
        </p:nvSpPr>
        <p:spPr/>
        <p:txBody>
          <a:bodyPr/>
          <a:lstStyle/>
          <a:p>
            <a:fld id="{65201FD4-9D8D-4491-815B-63C7BF4F0034}" type="slidenum">
              <a:rPr lang="en-IN" smtClean="0"/>
              <a:t>8</a:t>
            </a:fld>
            <a:endParaRPr lang="en-IN"/>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a:spLocks noGrp="1"/>
          </p:cNvSpPr>
          <p:nvPr>
            <p:ph type="title"/>
          </p:nvPr>
        </p:nvSpPr>
        <p:spPr>
          <a:xfrm>
            <a:off x="457200" y="502920"/>
            <a:ext cx="11274552" cy="685800"/>
          </a:xfrm>
          <a:prstGeom prst="rect">
            <a:avLst/>
          </a:prstGeom>
        </p:spPr>
        <p:txBody>
          <a:bodyPr vert="horz" wrap="square" lIns="0" tIns="0" rIns="0" bIns="0" rtlCol="0" anchor="ctr">
            <a:noAutofit/>
          </a:bodyPr>
          <a:lstStyle/>
          <a:p>
            <a:pPr marL="0">
              <a:lnSpc>
                <a:spcPct val="100000"/>
              </a:lnSpc>
            </a:pPr>
            <a:r>
              <a:rPr lang="en-IN" sz="3000" b="1" dirty="0">
                <a:latin typeface="Times New Roman" panose="02020603050405020304" pitchFamily="18" charset="0"/>
                <a:cs typeface="Times New Roman" panose="02020603050405020304" pitchFamily="18" charset="0"/>
              </a:rPr>
              <a:t>Framework: OCEL 2.0 Model of the Capstone Lifecycle</a:t>
            </a:r>
          </a:p>
        </p:txBody>
      </p:sp>
      <p:pic>
        <p:nvPicPr>
          <p:cNvPr id="3" name="Picture 3" descr="Object types and relations of the capstone lifecycle"/>
          <p:cNvPicPr>
            <a:picLocks noChangeAspect="1"/>
          </p:cNvPicPr>
          <p:nvPr/>
        </p:nvPicPr>
        <p:blipFill>
          <a:blip r:embed="rId2"/>
          <a:stretch>
            <a:fillRect/>
          </a:stretch>
        </p:blipFill>
        <p:spPr>
          <a:xfrm>
            <a:off x="457200" y="1371600"/>
            <a:ext cx="7406640" cy="4144191"/>
          </a:xfrm>
          <a:prstGeom prst="rect">
            <a:avLst/>
          </a:prstGeom>
        </p:spPr>
      </p:pic>
      <p:sp>
        <p:nvSpPr>
          <p:cNvPr id="4" name="Facts 4"/>
          <p:cNvSpPr txBox="1"/>
          <p:nvPr/>
        </p:nvSpPr>
        <p:spPr>
          <a:xfrm>
            <a:off x="8092440" y="1371600"/>
            <a:ext cx="3639312" cy="4526280"/>
          </a:xfrm>
          <a:prstGeom prst="roundRect">
            <a:avLst>
              <a:gd name="adj" fmla="val 6000"/>
            </a:avLst>
          </a:prstGeom>
          <a:solidFill>
            <a:srgbClr val="F3F6FA"/>
          </a:solidFill>
          <a:ln>
            <a:noFill/>
          </a:ln>
        </p:spPr>
        <p:txBody>
          <a:bodyPr wrap="square" lIns="109728" tIns="76810" rIns="109728" bIns="76810" rtlCol="0" anchor="t">
            <a:noAutofit/>
          </a:bodyPr>
          <a:lstStyle/>
          <a:p>
            <a:pPr marL="0" indent="0" algn="l">
              <a:lnSpc>
                <a:spcPct val="100000"/>
              </a:lnSpc>
              <a:spcBef>
                <a:spcPts val="0"/>
              </a:spcBef>
              <a:spcAft>
                <a:spcPts val="400"/>
              </a:spcAft>
              <a:buNone/>
            </a:pPr>
            <a:r>
              <a:rPr lang="en-IN" sz="1600" b="1" dirty="0">
                <a:solidFill>
                  <a:srgbClr val="2A78D6"/>
                </a:solidFill>
                <a:latin typeface="Times New Roman" panose="02020603050405020304" pitchFamily="18" charset="0"/>
                <a:cs typeface="Times New Roman" panose="02020603050405020304" pitchFamily="18" charset="0"/>
              </a:rPr>
              <a:t>Documented in the portal docs</a:t>
            </a:r>
          </a:p>
          <a:p>
            <a:pPr marL="285750" indent="-285750" algn="l">
              <a:lnSpc>
                <a:spcPct val="100000"/>
              </a:lnSpc>
              <a:spcBef>
                <a:spcPts val="700"/>
              </a:spcBef>
              <a:spcAft>
                <a:spcPts val="0"/>
              </a:spcAft>
              <a:buFont typeface="Arial" panose="020B0604020202020204" pitchFamily="34" charset="0"/>
              <a:buChar char="•"/>
            </a:pPr>
            <a:r>
              <a:rPr lang="en-IN" sz="1500" dirty="0">
                <a:solidFill>
                  <a:srgbClr val="1F2328"/>
                </a:solidFill>
                <a:latin typeface="Times New Roman" panose="02020603050405020304" pitchFamily="18" charset="0"/>
                <a:cs typeface="Times New Roman" panose="02020603050405020304" pitchFamily="18" charset="0"/>
              </a:rPr>
              <a:t>8 object types: student, team, project, guide, report, report version, review stage, score</a:t>
            </a:r>
          </a:p>
          <a:p>
            <a:pPr marL="285750" indent="-285750" algn="l">
              <a:lnSpc>
                <a:spcPct val="100000"/>
              </a:lnSpc>
              <a:spcBef>
                <a:spcPts val="700"/>
              </a:spcBef>
              <a:spcAft>
                <a:spcPts val="0"/>
              </a:spcAft>
              <a:buFont typeface="Arial" panose="020B0604020202020204" pitchFamily="34" charset="0"/>
              <a:buChar char="•"/>
            </a:pPr>
            <a:r>
              <a:rPr lang="en-IN" sz="1500" dirty="0">
                <a:solidFill>
                  <a:srgbClr val="1F2328"/>
                </a:solidFill>
                <a:latin typeface="Times New Roman" panose="02020603050405020304" pitchFamily="18" charset="0"/>
                <a:cs typeface="Times New Roman" panose="02020603050405020304" pitchFamily="18" charset="0"/>
              </a:rPr>
              <a:t>8 audited actions become event types</a:t>
            </a:r>
          </a:p>
          <a:p>
            <a:pPr marL="285750" indent="-285750" algn="l">
              <a:lnSpc>
                <a:spcPct val="100000"/>
              </a:lnSpc>
              <a:spcBef>
                <a:spcPts val="700"/>
              </a:spcBef>
              <a:spcAft>
                <a:spcPts val="0"/>
              </a:spcAft>
              <a:buFont typeface="Arial" panose="020B0604020202020204" pitchFamily="34" charset="0"/>
              <a:buChar char="•"/>
            </a:pPr>
            <a:r>
              <a:rPr lang="en-IN" sz="1500" dirty="0">
                <a:solidFill>
                  <a:srgbClr val="1F2328"/>
                </a:solidFill>
                <a:latin typeface="Times New Roman" panose="02020603050405020304" pitchFamily="18" charset="0"/>
                <a:cs typeface="Times New Roman" panose="02020603050405020304" pitchFamily="18" charset="0"/>
              </a:rPr>
              <a:t>Qualifiers name each role (member-of, guides, has-score)</a:t>
            </a:r>
          </a:p>
          <a:p>
            <a:pPr marL="285750" indent="-285750" algn="l">
              <a:lnSpc>
                <a:spcPct val="100000"/>
              </a:lnSpc>
              <a:spcBef>
                <a:spcPts val="700"/>
              </a:spcBef>
              <a:spcAft>
                <a:spcPts val="0"/>
              </a:spcAft>
              <a:buFont typeface="Arial" panose="020B0604020202020204" pitchFamily="34" charset="0"/>
              <a:buChar char="•"/>
            </a:pPr>
            <a:r>
              <a:rPr lang="en-IN" sz="1500" dirty="0">
                <a:solidFill>
                  <a:srgbClr val="1F2328"/>
                </a:solidFill>
                <a:latin typeface="Times New Roman" panose="02020603050405020304" pitchFamily="18" charset="0"/>
                <a:cs typeface="Times New Roman" panose="02020603050405020304" pitchFamily="18" charset="0"/>
              </a:rPr>
              <a:t>Scores are write-once; each rejection uses one of 3 attempts</a:t>
            </a:r>
          </a:p>
          <a:p>
            <a:pPr marL="0" indent="0" algn="l">
              <a:lnSpc>
                <a:spcPct val="100000"/>
              </a:lnSpc>
              <a:spcBef>
                <a:spcPts val="1200"/>
              </a:spcBef>
              <a:spcAft>
                <a:spcPts val="0"/>
              </a:spcAft>
              <a:buNone/>
            </a:pPr>
            <a:r>
              <a:rPr lang="en-IN" sz="1400" b="1" dirty="0">
                <a:solidFill>
                  <a:srgbClr val="EB6834"/>
                </a:solidFill>
                <a:latin typeface="Times New Roman" panose="02020603050405020304" pitchFamily="18" charset="0"/>
                <a:cs typeface="Times New Roman" panose="02020603050405020304" pitchFamily="18" charset="0"/>
              </a:rPr>
              <a:t>Design only: </a:t>
            </a:r>
            <a:r>
              <a:rPr lang="en-IN" sz="1400" dirty="0">
                <a:solidFill>
                  <a:srgbClr val="5B616B"/>
                </a:solidFill>
                <a:latin typeface="Times New Roman" panose="02020603050405020304" pitchFamily="18" charset="0"/>
                <a:cs typeface="Times New Roman" panose="02020603050405020304" pitchFamily="18" charset="0"/>
              </a:rPr>
              <a:t>no portal data exists in this study</a:t>
            </a:r>
          </a:p>
        </p:txBody>
      </p:sp>
      <p:sp>
        <p:nvSpPr>
          <p:cNvPr id="5" name="Date Placeholder"/>
          <p:cNvSpPr>
            <a:spLocks noGrp="1"/>
          </p:cNvSpPr>
          <p:nvPr>
            <p:ph type="dt" sz="half" idx="10"/>
          </p:nvPr>
        </p:nvSpPr>
        <p:spPr/>
        <p:txBody>
          <a:bodyPr/>
          <a:lstStyle/>
          <a:p>
            <a:fld id="{61736562-4E3F-4038-A291-A7AE35CC3E6A}" type="datetime1">
              <a:rPr lang="en-IN" smtClean="0"/>
              <a:t>28/10/26</a:t>
            </a:fld>
            <a:endParaRPr lang="en-IN"/>
          </a:p>
        </p:txBody>
      </p:sp>
      <p:sp>
        <p:nvSpPr>
          <p:cNvPr id="6" name="Footer Placeholder"/>
          <p:cNvSpPr>
            <a:spLocks noGrp="1"/>
          </p:cNvSpPr>
          <p:nvPr>
            <p:ph type="ftr" sz="quarter" idx="11"/>
          </p:nvPr>
        </p:nvSpPr>
        <p:spPr/>
        <p:txBody>
          <a:bodyPr/>
          <a:lstStyle/>
          <a:p>
            <a:r>
              <a:rPr lang="en-IN"/>
              <a:t>SCOPE</a:t>
            </a:r>
          </a:p>
        </p:txBody>
      </p:sp>
      <p:sp>
        <p:nvSpPr>
          <p:cNvPr id="7" name="Slide Number Placeholder"/>
          <p:cNvSpPr>
            <a:spLocks noGrp="1"/>
          </p:cNvSpPr>
          <p:nvPr>
            <p:ph type="sldNum" sz="quarter" idx="12"/>
          </p:nvPr>
        </p:nvSpPr>
        <p:spPr/>
        <p:txBody>
          <a:bodyPr/>
          <a:lstStyle/>
          <a:p>
            <a:fld id="{65201FD4-9D8D-4491-815B-63C7BF4F0034}" type="slidenum">
              <a:rPr lang="en-IN" smtClean="0"/>
              <a:t>9</a:t>
            </a:fld>
            <a:endParaRPr lang="en-IN"/>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a:spLocks noGrp="1"/>
          </p:cNvSpPr>
          <p:nvPr>
            <p:ph type="title"/>
          </p:nvPr>
        </p:nvSpPr>
        <p:spPr>
          <a:xfrm>
            <a:off x="457200" y="502920"/>
            <a:ext cx="11274552" cy="685800"/>
          </a:xfrm>
          <a:prstGeom prst="rect">
            <a:avLst/>
          </a:prstGeom>
        </p:spPr>
        <p:txBody>
          <a:bodyPr vert="horz" wrap="square" lIns="0" tIns="0" rIns="0" bIns="0" rtlCol="0" anchor="ctr">
            <a:noAutofit/>
          </a:bodyPr>
          <a:lstStyle/>
          <a:p>
            <a:pPr marL="0">
              <a:lnSpc>
                <a:spcPct val="100000"/>
              </a:lnSpc>
            </a:pPr>
            <a:r>
              <a:rPr lang="en-IN" sz="3000" b="1" dirty="0">
                <a:latin typeface="Times New Roman" panose="02020603050405020304" pitchFamily="18" charset="0"/>
                <a:cs typeface="Times New Roman" panose="02020603050405020304" pitchFamily="18" charset="0"/>
              </a:rPr>
              <a:t>Architecture / Block Diagram</a:t>
            </a:r>
          </a:p>
        </p:txBody>
      </p:sp>
      <p:pic>
        <p:nvPicPr>
          <p:cNvPr id="3" name="Picture 3" descr="Pipeline from public sources to analysis engines and validation"/>
          <p:cNvPicPr>
            <a:picLocks noChangeAspect="1"/>
          </p:cNvPicPr>
          <p:nvPr/>
        </p:nvPicPr>
        <p:blipFill>
          <a:blip r:embed="rId2"/>
          <a:stretch>
            <a:fillRect/>
          </a:stretch>
        </p:blipFill>
        <p:spPr>
          <a:xfrm>
            <a:off x="1737360" y="1234440"/>
            <a:ext cx="8516876" cy="4937760"/>
          </a:xfrm>
          <a:prstGeom prst="rect">
            <a:avLst/>
          </a:prstGeom>
        </p:spPr>
      </p:pic>
      <p:sp>
        <p:nvSpPr>
          <p:cNvPr id="4" name="Date Placeholder"/>
          <p:cNvSpPr>
            <a:spLocks noGrp="1"/>
          </p:cNvSpPr>
          <p:nvPr>
            <p:ph type="dt" sz="half" idx="10"/>
          </p:nvPr>
        </p:nvSpPr>
        <p:spPr/>
        <p:txBody>
          <a:bodyPr/>
          <a:lstStyle/>
          <a:p>
            <a:fld id="{61736562-4E3F-4038-A291-A7AE35CC3E6A}" type="datetime1">
              <a:rPr lang="en-IN" smtClean="0"/>
              <a:t>28/10/26</a:t>
            </a:fld>
            <a:endParaRPr lang="en-IN"/>
          </a:p>
        </p:txBody>
      </p:sp>
      <p:sp>
        <p:nvSpPr>
          <p:cNvPr id="5" name="Footer Placeholder"/>
          <p:cNvSpPr>
            <a:spLocks noGrp="1"/>
          </p:cNvSpPr>
          <p:nvPr>
            <p:ph type="ftr" sz="quarter" idx="11"/>
          </p:nvPr>
        </p:nvSpPr>
        <p:spPr/>
        <p:txBody>
          <a:bodyPr/>
          <a:lstStyle/>
          <a:p>
            <a:r>
              <a:rPr lang="en-IN"/>
              <a:t>SCOPE</a:t>
            </a:r>
          </a:p>
        </p:txBody>
      </p:sp>
      <p:sp>
        <p:nvSpPr>
          <p:cNvPr id="6" name="Slide Number Placeholder"/>
          <p:cNvSpPr>
            <a:spLocks noGrp="1"/>
          </p:cNvSpPr>
          <p:nvPr>
            <p:ph type="sldNum" sz="quarter" idx="12"/>
          </p:nvPr>
        </p:nvSpPr>
        <p:spPr/>
        <p:txBody>
          <a:bodyPr/>
          <a:lstStyle/>
          <a:p>
            <a:fld id="{65201FD4-9D8D-4491-815B-63C7BF4F0034}" type="slidenum">
              <a:rPr lang="en-IN" smtClean="0"/>
              <a:t>10</a:t>
            </a:fld>
            <a:endParaRPr lang="en-IN"/>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a:spLocks noGrp="1"/>
          </p:cNvSpPr>
          <p:nvPr>
            <p:ph type="title"/>
          </p:nvPr>
        </p:nvSpPr>
        <p:spPr>
          <a:xfrm>
            <a:off x="457200" y="502920"/>
            <a:ext cx="11274552" cy="685800"/>
          </a:xfrm>
          <a:prstGeom prst="rect">
            <a:avLst/>
          </a:prstGeom>
        </p:spPr>
        <p:txBody>
          <a:bodyPr vert="horz" wrap="square" lIns="0" tIns="0" rIns="0" bIns="0" rtlCol="0" anchor="ctr">
            <a:noAutofit/>
          </a:bodyPr>
          <a:lstStyle/>
          <a:p>
            <a:pPr marL="0">
              <a:lnSpc>
                <a:spcPct val="100000"/>
              </a:lnSpc>
            </a:pPr>
            <a:r>
              <a:rPr lang="en-IN" sz="3000" b="1" dirty="0">
                <a:latin typeface="Times New Roman" panose="02020603050405020304" pitchFamily="18" charset="0"/>
                <a:cs typeface="Times New Roman" panose="02020603050405020304" pitchFamily="18" charset="0"/>
              </a:rPr>
              <a:t>Functional Requirements</a:t>
            </a:r>
          </a:p>
        </p:txBody>
      </p:sp>
      <p:sp>
        <p:nvSpPr>
          <p:cNvPr id="3" name="Shape 3"/>
          <p:cNvSpPr/>
          <p:nvPr/>
        </p:nvSpPr>
        <p:spPr>
          <a:xfrm>
            <a:off x="457200" y="1563624"/>
            <a:ext cx="566928" cy="566928"/>
          </a:xfrm>
          <a:prstGeom prst="ellipse">
            <a:avLst/>
          </a:prstGeom>
          <a:solidFill>
            <a:srgbClr val="2A78D6"/>
          </a:solidFill>
          <a:ln>
            <a:noFill/>
          </a:ln>
        </p:spPr>
        <p:txBody>
          <a:bodyPr wrap="square" lIns="45720" tIns="45720" rIns="45720" bIns="45720" rtlCol="0" anchor="ctr">
            <a:noAutofit/>
          </a:bodyPr>
          <a:lstStyle/>
          <a:p>
            <a:pPr marL="0" indent="0" algn="ctr">
              <a:lnSpc>
                <a:spcPct val="100000"/>
              </a:lnSpc>
              <a:spcBef>
                <a:spcPts val="0"/>
              </a:spcBef>
              <a:spcAft>
                <a:spcPts val="0"/>
              </a:spcAft>
              <a:buNone/>
            </a:pPr>
            <a:r>
              <a:rPr lang="en-IN" sz="1800" b="1" dirty="0">
                <a:solidFill>
                  <a:srgbClr val="FFFFFF"/>
                </a:solidFill>
                <a:latin typeface="Times New Roman" panose="02020603050405020304" pitchFamily="18" charset="0"/>
                <a:cs typeface="Times New Roman" panose="02020603050405020304" pitchFamily="18" charset="0"/>
              </a:rPr>
              <a:t>1</a:t>
            </a:r>
          </a:p>
        </p:txBody>
      </p:sp>
      <p:sp>
        <p:nvSpPr>
          <p:cNvPr id="4" name="FR 4"/>
          <p:cNvSpPr txBox="1"/>
          <p:nvPr/>
        </p:nvSpPr>
        <p:spPr>
          <a:xfrm>
            <a:off x="1143000" y="1417320"/>
            <a:ext cx="4846320" cy="859536"/>
          </a:xfrm>
          <a:prstGeom prst="rect">
            <a:avLst/>
          </a:prstGeom>
          <a:noFill/>
          <a:ln>
            <a:noFill/>
          </a:ln>
        </p:spPr>
        <p:txBody>
          <a:bodyPr wrap="square" lIns="45720" tIns="32004" rIns="45720" bIns="32004" rtlCol="0" anchor="ctr">
            <a:noAutofit/>
          </a:bodyPr>
          <a:lstStyle/>
          <a:p>
            <a:pPr marL="0" indent="0" algn="l">
              <a:lnSpc>
                <a:spcPct val="100000"/>
              </a:lnSpc>
              <a:spcBef>
                <a:spcPts val="0"/>
              </a:spcBef>
              <a:spcAft>
                <a:spcPts val="0"/>
              </a:spcAft>
              <a:buNone/>
            </a:pPr>
            <a:r>
              <a:rPr lang="en-IN" sz="1600" dirty="0">
                <a:solidFill>
                  <a:srgbClr val="1F2328"/>
                </a:solidFill>
                <a:latin typeface="Times New Roman" panose="02020603050405020304" pitchFamily="18" charset="0"/>
                <a:cs typeface="Times New Roman" panose="02020603050405020304" pitchFamily="18" charset="0"/>
              </a:rPr>
              <a:t>Download datasets from a manifest; check size and MD5 (Zenodo) and record SHA-256</a:t>
            </a:r>
          </a:p>
        </p:txBody>
      </p:sp>
      <p:sp>
        <p:nvSpPr>
          <p:cNvPr id="5" name="Shape 5"/>
          <p:cNvSpPr/>
          <p:nvPr/>
        </p:nvSpPr>
        <p:spPr>
          <a:xfrm>
            <a:off x="457200" y="2569464"/>
            <a:ext cx="566928" cy="566928"/>
          </a:xfrm>
          <a:prstGeom prst="ellipse">
            <a:avLst/>
          </a:prstGeom>
          <a:solidFill>
            <a:srgbClr val="2A78D6"/>
          </a:solidFill>
          <a:ln>
            <a:noFill/>
          </a:ln>
        </p:spPr>
        <p:txBody>
          <a:bodyPr wrap="square" lIns="45720" tIns="45720" rIns="45720" bIns="45720" rtlCol="0" anchor="ctr">
            <a:noAutofit/>
          </a:bodyPr>
          <a:lstStyle/>
          <a:p>
            <a:pPr marL="0" indent="0" algn="ctr">
              <a:lnSpc>
                <a:spcPct val="100000"/>
              </a:lnSpc>
              <a:spcBef>
                <a:spcPts val="0"/>
              </a:spcBef>
              <a:spcAft>
                <a:spcPts val="0"/>
              </a:spcAft>
              <a:buNone/>
            </a:pPr>
            <a:r>
              <a:rPr lang="en-IN" sz="1800" b="1" dirty="0">
                <a:solidFill>
                  <a:srgbClr val="FFFFFF"/>
                </a:solidFill>
                <a:latin typeface="Times New Roman" panose="02020603050405020304" pitchFamily="18" charset="0"/>
                <a:cs typeface="Times New Roman" panose="02020603050405020304" pitchFamily="18" charset="0"/>
              </a:rPr>
              <a:t>2</a:t>
            </a:r>
          </a:p>
        </p:txBody>
      </p:sp>
      <p:sp>
        <p:nvSpPr>
          <p:cNvPr id="6" name="FR 6"/>
          <p:cNvSpPr txBox="1"/>
          <p:nvPr/>
        </p:nvSpPr>
        <p:spPr>
          <a:xfrm>
            <a:off x="1143000" y="2423160"/>
            <a:ext cx="4846320" cy="859536"/>
          </a:xfrm>
          <a:prstGeom prst="rect">
            <a:avLst/>
          </a:prstGeom>
          <a:noFill/>
          <a:ln>
            <a:noFill/>
          </a:ln>
        </p:spPr>
        <p:txBody>
          <a:bodyPr wrap="square" lIns="45720" tIns="32004" rIns="45720" bIns="32004" rtlCol="0" anchor="ctr">
            <a:noAutofit/>
          </a:bodyPr>
          <a:lstStyle/>
          <a:p>
            <a:pPr marL="0" indent="0" algn="l">
              <a:lnSpc>
                <a:spcPct val="100000"/>
              </a:lnSpc>
              <a:spcBef>
                <a:spcPts val="0"/>
              </a:spcBef>
              <a:spcAft>
                <a:spcPts val="0"/>
              </a:spcAft>
              <a:buNone/>
            </a:pPr>
            <a:r>
              <a:rPr lang="en-IN" sz="1600" dirty="0">
                <a:solidFill>
                  <a:srgbClr val="1F2328"/>
                </a:solidFill>
                <a:latin typeface="Times New Roman" panose="02020603050405020304" pitchFamily="18" charset="0"/>
                <a:cs typeface="Times New Roman" panose="02020603050405020304" pitchFamily="18" charset="0"/>
              </a:rPr>
              <a:t>Extract archives without trusting member paths</a:t>
            </a:r>
          </a:p>
        </p:txBody>
      </p:sp>
      <p:sp>
        <p:nvSpPr>
          <p:cNvPr id="7" name="Shape 7"/>
          <p:cNvSpPr/>
          <p:nvPr/>
        </p:nvSpPr>
        <p:spPr>
          <a:xfrm>
            <a:off x="457200" y="3575304"/>
            <a:ext cx="566928" cy="566928"/>
          </a:xfrm>
          <a:prstGeom prst="ellipse">
            <a:avLst/>
          </a:prstGeom>
          <a:solidFill>
            <a:srgbClr val="2A78D6"/>
          </a:solidFill>
          <a:ln>
            <a:noFill/>
          </a:ln>
        </p:spPr>
        <p:txBody>
          <a:bodyPr wrap="square" lIns="45720" tIns="45720" rIns="45720" bIns="45720" rtlCol="0" anchor="ctr">
            <a:noAutofit/>
          </a:bodyPr>
          <a:lstStyle/>
          <a:p>
            <a:pPr marL="0" indent="0" algn="ctr">
              <a:lnSpc>
                <a:spcPct val="100000"/>
              </a:lnSpc>
              <a:spcBef>
                <a:spcPts val="0"/>
              </a:spcBef>
              <a:spcAft>
                <a:spcPts val="0"/>
              </a:spcAft>
              <a:buNone/>
            </a:pPr>
            <a:r>
              <a:rPr lang="en-IN" sz="1800" b="1" dirty="0">
                <a:solidFill>
                  <a:srgbClr val="FFFFFF"/>
                </a:solidFill>
                <a:latin typeface="Times New Roman" panose="02020603050405020304" pitchFamily="18" charset="0"/>
                <a:cs typeface="Times New Roman" panose="02020603050405020304" pitchFamily="18" charset="0"/>
              </a:rPr>
              <a:t>3</a:t>
            </a:r>
          </a:p>
        </p:txBody>
      </p:sp>
      <p:sp>
        <p:nvSpPr>
          <p:cNvPr id="8" name="FR 8"/>
          <p:cNvSpPr txBox="1"/>
          <p:nvPr/>
        </p:nvSpPr>
        <p:spPr>
          <a:xfrm>
            <a:off x="1143000" y="3429000"/>
            <a:ext cx="4846320" cy="859536"/>
          </a:xfrm>
          <a:prstGeom prst="rect">
            <a:avLst/>
          </a:prstGeom>
          <a:noFill/>
          <a:ln>
            <a:noFill/>
          </a:ln>
        </p:spPr>
        <p:txBody>
          <a:bodyPr wrap="square" lIns="45720" tIns="32004" rIns="45720" bIns="32004" rtlCol="0" anchor="ctr">
            <a:noAutofit/>
          </a:bodyPr>
          <a:lstStyle/>
          <a:p>
            <a:pPr marL="0" indent="0" algn="l">
              <a:lnSpc>
                <a:spcPct val="100000"/>
              </a:lnSpc>
              <a:spcBef>
                <a:spcPts val="0"/>
              </a:spcBef>
              <a:spcAft>
                <a:spcPts val="0"/>
              </a:spcAft>
              <a:buNone/>
            </a:pPr>
            <a:r>
              <a:rPr lang="en-IN" sz="1600" dirty="0">
                <a:solidFill>
                  <a:srgbClr val="1F2328"/>
                </a:solidFill>
                <a:latin typeface="Times New Roman" panose="02020603050405020304" pitchFamily="18" charset="0"/>
                <a:cs typeface="Times New Roman" panose="02020603050405020304" pitchFamily="18" charset="0"/>
              </a:rPr>
              <a:t>Convert Gerrit (CROP) and OULAD into OCEL 2.0 SQLite</a:t>
            </a:r>
          </a:p>
        </p:txBody>
      </p:sp>
      <p:sp>
        <p:nvSpPr>
          <p:cNvPr id="9" name="Shape 9"/>
          <p:cNvSpPr/>
          <p:nvPr/>
        </p:nvSpPr>
        <p:spPr>
          <a:xfrm>
            <a:off x="457200" y="4581144"/>
            <a:ext cx="566928" cy="566928"/>
          </a:xfrm>
          <a:prstGeom prst="ellipse">
            <a:avLst/>
          </a:prstGeom>
          <a:solidFill>
            <a:srgbClr val="2A78D6"/>
          </a:solidFill>
          <a:ln>
            <a:noFill/>
          </a:ln>
        </p:spPr>
        <p:txBody>
          <a:bodyPr wrap="square" lIns="45720" tIns="45720" rIns="45720" bIns="45720" rtlCol="0" anchor="ctr">
            <a:noAutofit/>
          </a:bodyPr>
          <a:lstStyle/>
          <a:p>
            <a:pPr marL="0" indent="0" algn="ctr">
              <a:lnSpc>
                <a:spcPct val="100000"/>
              </a:lnSpc>
              <a:spcBef>
                <a:spcPts val="0"/>
              </a:spcBef>
              <a:spcAft>
                <a:spcPts val="0"/>
              </a:spcAft>
              <a:buNone/>
            </a:pPr>
            <a:r>
              <a:rPr lang="en-IN" sz="1800" b="1" dirty="0">
                <a:solidFill>
                  <a:srgbClr val="FFFFFF"/>
                </a:solidFill>
                <a:latin typeface="Times New Roman" panose="02020603050405020304" pitchFamily="18" charset="0"/>
                <a:cs typeface="Times New Roman" panose="02020603050405020304" pitchFamily="18" charset="0"/>
              </a:rPr>
              <a:t>4</a:t>
            </a:r>
          </a:p>
        </p:txBody>
      </p:sp>
      <p:sp>
        <p:nvSpPr>
          <p:cNvPr id="10" name="FR 10"/>
          <p:cNvSpPr txBox="1"/>
          <p:nvPr/>
        </p:nvSpPr>
        <p:spPr>
          <a:xfrm>
            <a:off x="1143000" y="4434840"/>
            <a:ext cx="4846320" cy="859536"/>
          </a:xfrm>
          <a:prstGeom prst="rect">
            <a:avLst/>
          </a:prstGeom>
          <a:noFill/>
          <a:ln>
            <a:noFill/>
          </a:ln>
        </p:spPr>
        <p:txBody>
          <a:bodyPr wrap="square" lIns="45720" tIns="32004" rIns="45720" bIns="32004" rtlCol="0" anchor="ctr">
            <a:noAutofit/>
          </a:bodyPr>
          <a:lstStyle/>
          <a:p>
            <a:pPr marL="0" indent="0" algn="l">
              <a:lnSpc>
                <a:spcPct val="100000"/>
              </a:lnSpc>
              <a:spcBef>
                <a:spcPts val="0"/>
              </a:spcBef>
              <a:spcAft>
                <a:spcPts val="0"/>
              </a:spcAft>
              <a:buNone/>
            </a:pPr>
            <a:r>
              <a:rPr lang="en-IN" sz="1600" dirty="0">
                <a:solidFill>
                  <a:srgbClr val="1F2328"/>
                </a:solidFill>
                <a:latin typeface="Times New Roman" panose="02020603050405020304" pitchFamily="18" charset="0"/>
                <a:cs typeface="Times New Roman" panose="02020603050405020304" pitchFamily="18" charset="0"/>
              </a:rPr>
              <a:t>Load OCEL from SQLite, JSON, XML and parquet bundles, with hashed identifiers</a:t>
            </a:r>
          </a:p>
        </p:txBody>
      </p:sp>
      <p:sp>
        <p:nvSpPr>
          <p:cNvPr id="11" name="Shape 11"/>
          <p:cNvSpPr/>
          <p:nvPr/>
        </p:nvSpPr>
        <p:spPr>
          <a:xfrm>
            <a:off x="6172200" y="1563624"/>
            <a:ext cx="566928" cy="566928"/>
          </a:xfrm>
          <a:prstGeom prst="ellipse">
            <a:avLst/>
          </a:prstGeom>
          <a:solidFill>
            <a:srgbClr val="2A78D6"/>
          </a:solidFill>
          <a:ln>
            <a:noFill/>
          </a:ln>
        </p:spPr>
        <p:txBody>
          <a:bodyPr wrap="square" lIns="45720" tIns="45720" rIns="45720" bIns="45720" rtlCol="0" anchor="ctr">
            <a:noAutofit/>
          </a:bodyPr>
          <a:lstStyle/>
          <a:p>
            <a:pPr marL="0" indent="0" algn="ctr">
              <a:lnSpc>
                <a:spcPct val="100000"/>
              </a:lnSpc>
              <a:spcBef>
                <a:spcPts val="0"/>
              </a:spcBef>
              <a:spcAft>
                <a:spcPts val="0"/>
              </a:spcAft>
              <a:buNone/>
            </a:pPr>
            <a:r>
              <a:rPr lang="en-IN" sz="1800" b="1" dirty="0">
                <a:solidFill>
                  <a:srgbClr val="FFFFFF"/>
                </a:solidFill>
                <a:latin typeface="Times New Roman" panose="02020603050405020304" pitchFamily="18" charset="0"/>
                <a:cs typeface="Times New Roman" panose="02020603050405020304" pitchFamily="18" charset="0"/>
              </a:rPr>
              <a:t>5</a:t>
            </a:r>
          </a:p>
        </p:txBody>
      </p:sp>
      <p:sp>
        <p:nvSpPr>
          <p:cNvPr id="12" name="FR 12"/>
          <p:cNvSpPr txBox="1"/>
          <p:nvPr/>
        </p:nvSpPr>
        <p:spPr>
          <a:xfrm>
            <a:off x="6858000" y="1417320"/>
            <a:ext cx="4846320" cy="859536"/>
          </a:xfrm>
          <a:prstGeom prst="rect">
            <a:avLst/>
          </a:prstGeom>
          <a:noFill/>
          <a:ln>
            <a:noFill/>
          </a:ln>
        </p:spPr>
        <p:txBody>
          <a:bodyPr wrap="square" lIns="45720" tIns="32004" rIns="45720" bIns="32004" rtlCol="0" anchor="ctr">
            <a:noAutofit/>
          </a:bodyPr>
          <a:lstStyle/>
          <a:p>
            <a:pPr marL="0" indent="0" algn="l">
              <a:lnSpc>
                <a:spcPct val="100000"/>
              </a:lnSpc>
              <a:spcBef>
                <a:spcPts val="0"/>
              </a:spcBef>
              <a:spcAft>
                <a:spcPts val="0"/>
              </a:spcAft>
              <a:buNone/>
            </a:pPr>
            <a:r>
              <a:rPr lang="en-IN" sz="1600" dirty="0">
                <a:solidFill>
                  <a:srgbClr val="1F2328"/>
                </a:solidFill>
                <a:latin typeface="Times New Roman" panose="02020603050405020304" pitchFamily="18" charset="0"/>
                <a:cs typeface="Times New Roman" panose="02020603050405020304" pitchFamily="18" charset="0"/>
              </a:rPr>
              <a:t>Compute flattening distortion for every object type</a:t>
            </a:r>
          </a:p>
        </p:txBody>
      </p:sp>
      <p:sp>
        <p:nvSpPr>
          <p:cNvPr id="13" name="Shape 13"/>
          <p:cNvSpPr/>
          <p:nvPr/>
        </p:nvSpPr>
        <p:spPr>
          <a:xfrm>
            <a:off x="6172200" y="2569464"/>
            <a:ext cx="566928" cy="566928"/>
          </a:xfrm>
          <a:prstGeom prst="ellipse">
            <a:avLst/>
          </a:prstGeom>
          <a:solidFill>
            <a:srgbClr val="2A78D6"/>
          </a:solidFill>
          <a:ln>
            <a:noFill/>
          </a:ln>
        </p:spPr>
        <p:txBody>
          <a:bodyPr wrap="square" lIns="45720" tIns="45720" rIns="45720" bIns="45720" rtlCol="0" anchor="ctr">
            <a:noAutofit/>
          </a:bodyPr>
          <a:lstStyle/>
          <a:p>
            <a:pPr marL="0" indent="0" algn="ctr">
              <a:lnSpc>
                <a:spcPct val="100000"/>
              </a:lnSpc>
              <a:spcBef>
                <a:spcPts val="0"/>
              </a:spcBef>
              <a:spcAft>
                <a:spcPts val="0"/>
              </a:spcAft>
              <a:buNone/>
            </a:pPr>
            <a:r>
              <a:rPr lang="en-IN" sz="1800" b="1" dirty="0">
                <a:solidFill>
                  <a:srgbClr val="FFFFFF"/>
                </a:solidFill>
                <a:latin typeface="Times New Roman" panose="02020603050405020304" pitchFamily="18" charset="0"/>
                <a:cs typeface="Times New Roman" panose="02020603050405020304" pitchFamily="18" charset="0"/>
              </a:rPr>
              <a:t>6</a:t>
            </a:r>
          </a:p>
        </p:txBody>
      </p:sp>
      <p:sp>
        <p:nvSpPr>
          <p:cNvPr id="14" name="FR 14"/>
          <p:cNvSpPr txBox="1"/>
          <p:nvPr/>
        </p:nvSpPr>
        <p:spPr>
          <a:xfrm>
            <a:off x="6858000" y="2423160"/>
            <a:ext cx="4846320" cy="859536"/>
          </a:xfrm>
          <a:prstGeom prst="rect">
            <a:avLst/>
          </a:prstGeom>
          <a:noFill/>
          <a:ln>
            <a:noFill/>
          </a:ln>
        </p:spPr>
        <p:txBody>
          <a:bodyPr wrap="square" lIns="45720" tIns="32004" rIns="45720" bIns="32004" rtlCol="0" anchor="ctr">
            <a:noAutofit/>
          </a:bodyPr>
          <a:lstStyle/>
          <a:p>
            <a:pPr marL="0" indent="0" algn="l">
              <a:lnSpc>
                <a:spcPct val="100000"/>
              </a:lnSpc>
              <a:spcBef>
                <a:spcPts val="0"/>
              </a:spcBef>
              <a:spcAft>
                <a:spcPts val="0"/>
              </a:spcAft>
              <a:buNone/>
            </a:pPr>
            <a:r>
              <a:rPr lang="en-IN" sz="1600" dirty="0">
                <a:solidFill>
                  <a:srgbClr val="1F2328"/>
                </a:solidFill>
                <a:latin typeface="Times New Roman" panose="02020603050405020304" pitchFamily="18" charset="0"/>
                <a:cs typeface="Times New Roman" panose="02020603050405020304" pitchFamily="18" charset="0"/>
              </a:rPr>
              <a:t>Compare flat and object-centric outputs: rankings, edges, variants, entities</a:t>
            </a:r>
          </a:p>
        </p:txBody>
      </p:sp>
      <p:sp>
        <p:nvSpPr>
          <p:cNvPr id="15" name="Shape 15"/>
          <p:cNvSpPr/>
          <p:nvPr/>
        </p:nvSpPr>
        <p:spPr>
          <a:xfrm>
            <a:off x="6172200" y="3575304"/>
            <a:ext cx="566928" cy="566928"/>
          </a:xfrm>
          <a:prstGeom prst="ellipse">
            <a:avLst/>
          </a:prstGeom>
          <a:solidFill>
            <a:srgbClr val="2A78D6"/>
          </a:solidFill>
          <a:ln>
            <a:noFill/>
          </a:ln>
        </p:spPr>
        <p:txBody>
          <a:bodyPr wrap="square" lIns="45720" tIns="45720" rIns="45720" bIns="45720" rtlCol="0" anchor="ctr">
            <a:noAutofit/>
          </a:bodyPr>
          <a:lstStyle/>
          <a:p>
            <a:pPr marL="0" indent="0" algn="ctr">
              <a:lnSpc>
                <a:spcPct val="100000"/>
              </a:lnSpc>
              <a:spcBef>
                <a:spcPts val="0"/>
              </a:spcBef>
              <a:spcAft>
                <a:spcPts val="0"/>
              </a:spcAft>
              <a:buNone/>
            </a:pPr>
            <a:r>
              <a:rPr lang="en-IN" sz="1800" b="1" dirty="0">
                <a:solidFill>
                  <a:srgbClr val="FFFFFF"/>
                </a:solidFill>
                <a:latin typeface="Times New Roman" panose="02020603050405020304" pitchFamily="18" charset="0"/>
                <a:cs typeface="Times New Roman" panose="02020603050405020304" pitchFamily="18" charset="0"/>
              </a:rPr>
              <a:t>7</a:t>
            </a:r>
          </a:p>
        </p:txBody>
      </p:sp>
      <p:sp>
        <p:nvSpPr>
          <p:cNvPr id="16" name="FR 16"/>
          <p:cNvSpPr txBox="1"/>
          <p:nvPr/>
        </p:nvSpPr>
        <p:spPr>
          <a:xfrm>
            <a:off x="6858000" y="3429000"/>
            <a:ext cx="4846320" cy="859536"/>
          </a:xfrm>
          <a:prstGeom prst="rect">
            <a:avLst/>
          </a:prstGeom>
          <a:noFill/>
          <a:ln>
            <a:noFill/>
          </a:ln>
        </p:spPr>
        <p:txBody>
          <a:bodyPr wrap="square" lIns="45720" tIns="32004" rIns="45720" bIns="32004" rtlCol="0" anchor="ctr">
            <a:noAutofit/>
          </a:bodyPr>
          <a:lstStyle/>
          <a:p>
            <a:pPr marL="0" indent="0" algn="l">
              <a:lnSpc>
                <a:spcPct val="100000"/>
              </a:lnSpc>
              <a:spcBef>
                <a:spcPts val="0"/>
              </a:spcBef>
              <a:spcAft>
                <a:spcPts val="0"/>
              </a:spcAft>
              <a:buNone/>
            </a:pPr>
            <a:r>
              <a:rPr lang="en-IN" sz="1600" dirty="0">
                <a:solidFill>
                  <a:srgbClr val="1F2328"/>
                </a:solidFill>
                <a:latin typeface="Times New Roman" panose="02020603050405020304" pitchFamily="18" charset="0"/>
                <a:cs typeface="Times New Roman" panose="02020603050405020304" pitchFamily="18" charset="0"/>
              </a:rPr>
              <a:t>Validate with independent implementations</a:t>
            </a:r>
          </a:p>
        </p:txBody>
      </p:sp>
      <p:sp>
        <p:nvSpPr>
          <p:cNvPr id="17" name="Shape 17"/>
          <p:cNvSpPr/>
          <p:nvPr/>
        </p:nvSpPr>
        <p:spPr>
          <a:xfrm>
            <a:off x="6172200" y="4581144"/>
            <a:ext cx="566928" cy="566928"/>
          </a:xfrm>
          <a:prstGeom prst="ellipse">
            <a:avLst/>
          </a:prstGeom>
          <a:solidFill>
            <a:srgbClr val="2A78D6"/>
          </a:solidFill>
          <a:ln>
            <a:noFill/>
          </a:ln>
        </p:spPr>
        <p:txBody>
          <a:bodyPr wrap="square" lIns="45720" tIns="45720" rIns="45720" bIns="45720" rtlCol="0" anchor="ctr">
            <a:noAutofit/>
          </a:bodyPr>
          <a:lstStyle/>
          <a:p>
            <a:pPr marL="0" indent="0" algn="ctr">
              <a:lnSpc>
                <a:spcPct val="100000"/>
              </a:lnSpc>
              <a:spcBef>
                <a:spcPts val="0"/>
              </a:spcBef>
              <a:spcAft>
                <a:spcPts val="0"/>
              </a:spcAft>
              <a:buNone/>
            </a:pPr>
            <a:r>
              <a:rPr lang="en-IN" sz="1800" b="1" dirty="0">
                <a:solidFill>
                  <a:srgbClr val="FFFFFF"/>
                </a:solidFill>
                <a:latin typeface="Times New Roman" panose="02020603050405020304" pitchFamily="18" charset="0"/>
                <a:cs typeface="Times New Roman" panose="02020603050405020304" pitchFamily="18" charset="0"/>
              </a:rPr>
              <a:t>8</a:t>
            </a:r>
          </a:p>
        </p:txBody>
      </p:sp>
      <p:sp>
        <p:nvSpPr>
          <p:cNvPr id="18" name="FR 18"/>
          <p:cNvSpPr txBox="1"/>
          <p:nvPr/>
        </p:nvSpPr>
        <p:spPr>
          <a:xfrm>
            <a:off x="6858000" y="4434840"/>
            <a:ext cx="4846320" cy="859536"/>
          </a:xfrm>
          <a:prstGeom prst="rect">
            <a:avLst/>
          </a:prstGeom>
          <a:noFill/>
          <a:ln>
            <a:noFill/>
          </a:ln>
        </p:spPr>
        <p:txBody>
          <a:bodyPr wrap="square" lIns="45720" tIns="32004" rIns="45720" bIns="32004" rtlCol="0" anchor="ctr">
            <a:noAutofit/>
          </a:bodyPr>
          <a:lstStyle/>
          <a:p>
            <a:pPr marL="0" indent="0" algn="l">
              <a:lnSpc>
                <a:spcPct val="100000"/>
              </a:lnSpc>
              <a:spcBef>
                <a:spcPts val="0"/>
              </a:spcBef>
              <a:spcAft>
                <a:spcPts val="0"/>
              </a:spcAft>
              <a:buNone/>
            </a:pPr>
            <a:r>
              <a:rPr lang="en-IN" sz="1600" dirty="0">
                <a:solidFill>
                  <a:srgbClr val="1F2328"/>
                </a:solidFill>
                <a:latin typeface="Times New Roman" panose="02020603050405020304" pitchFamily="18" charset="0"/>
                <a:cs typeface="Times New Roman" panose="02020603050405020304" pitchFamily="18" charset="0"/>
              </a:rPr>
              <a:t>Export CSV, JSON and Markdown tables; re-run end to end with one command</a:t>
            </a:r>
          </a:p>
        </p:txBody>
      </p:sp>
      <p:sp>
        <p:nvSpPr>
          <p:cNvPr id="19" name="NFR 19"/>
          <p:cNvSpPr txBox="1"/>
          <p:nvPr/>
        </p:nvSpPr>
        <p:spPr>
          <a:xfrm>
            <a:off x="457200" y="5532120"/>
            <a:ext cx="11274552" cy="685800"/>
          </a:xfrm>
          <a:prstGeom prst="roundRect">
            <a:avLst>
              <a:gd name="adj" fmla="val 6000"/>
            </a:avLst>
          </a:prstGeom>
          <a:solidFill>
            <a:srgbClr val="F3F6FA"/>
          </a:solidFill>
          <a:ln>
            <a:noFill/>
          </a:ln>
        </p:spPr>
        <p:txBody>
          <a:bodyPr wrap="square" lIns="109728" tIns="76810" rIns="109728" bIns="76810" rtlCol="0" anchor="ctr">
            <a:noAutofit/>
          </a:bodyPr>
          <a:lstStyle/>
          <a:p>
            <a:pPr marL="0" indent="0" algn="l">
              <a:lnSpc>
                <a:spcPct val="100000"/>
              </a:lnSpc>
              <a:spcBef>
                <a:spcPts val="0"/>
              </a:spcBef>
              <a:spcAft>
                <a:spcPts val="0"/>
              </a:spcAft>
              <a:buNone/>
            </a:pPr>
            <a:r>
              <a:rPr lang="en-IN" sz="1500" b="1" dirty="0">
                <a:solidFill>
                  <a:srgbClr val="2A78D6"/>
                </a:solidFill>
                <a:latin typeface="Times New Roman" panose="02020603050405020304" pitchFamily="18" charset="0"/>
                <a:cs typeface="Times New Roman" panose="02020603050405020304" pitchFamily="18" charset="0"/>
              </a:rPr>
              <a:t>Non-functional: </a:t>
            </a:r>
            <a:r>
              <a:rPr lang="en-IN" sz="1500" dirty="0">
                <a:solidFill>
                  <a:srgbClr val="1F2328"/>
                </a:solidFill>
                <a:latin typeface="Times New Roman" panose="02020603050405020304" pitchFamily="18" charset="0"/>
                <a:cs typeface="Times New Roman" panose="02020603050405020304" pitchFamily="18" charset="0"/>
              </a:rPr>
              <a:t>results are byte-for-byte reproducible; personal identifiers are hashed; runs on an 8.6 GB laptop; only openly licensed (CC BY 4.0) data.</a:t>
            </a:r>
          </a:p>
        </p:txBody>
      </p:sp>
      <p:sp>
        <p:nvSpPr>
          <p:cNvPr id="20" name="Date Placeholder"/>
          <p:cNvSpPr>
            <a:spLocks noGrp="1"/>
          </p:cNvSpPr>
          <p:nvPr>
            <p:ph type="dt" sz="half" idx="10"/>
          </p:nvPr>
        </p:nvSpPr>
        <p:spPr/>
        <p:txBody>
          <a:bodyPr/>
          <a:lstStyle/>
          <a:p>
            <a:fld id="{61736562-4E3F-4038-A291-A7AE35CC3E6A}" type="datetime1">
              <a:rPr lang="en-IN" smtClean="0"/>
              <a:t>28/10/26</a:t>
            </a:fld>
            <a:endParaRPr lang="en-IN"/>
          </a:p>
        </p:txBody>
      </p:sp>
      <p:sp>
        <p:nvSpPr>
          <p:cNvPr id="21" name="Footer Placeholder"/>
          <p:cNvSpPr>
            <a:spLocks noGrp="1"/>
          </p:cNvSpPr>
          <p:nvPr>
            <p:ph type="ftr" sz="quarter" idx="11"/>
          </p:nvPr>
        </p:nvSpPr>
        <p:spPr/>
        <p:txBody>
          <a:bodyPr/>
          <a:lstStyle/>
          <a:p>
            <a:r>
              <a:rPr lang="en-IN"/>
              <a:t>SCOPE</a:t>
            </a:r>
          </a:p>
        </p:txBody>
      </p:sp>
      <p:sp>
        <p:nvSpPr>
          <p:cNvPr id="22" name="Slide Number Placeholder"/>
          <p:cNvSpPr>
            <a:spLocks noGrp="1"/>
          </p:cNvSpPr>
          <p:nvPr>
            <p:ph type="sldNum" sz="quarter" idx="12"/>
          </p:nvPr>
        </p:nvSpPr>
        <p:spPr/>
        <p:txBody>
          <a:bodyPr/>
          <a:lstStyle/>
          <a:p>
            <a:fld id="{65201FD4-9D8D-4491-815B-63C7BF4F0034}" type="slidenum">
              <a:rPr lang="en-IN" smtClean="0"/>
              <a:t>11</a:t>
            </a:fld>
            <a:endParaRPr lang="en-IN"/>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a:spLocks noGrp="1"/>
          </p:cNvSpPr>
          <p:nvPr>
            <p:ph type="title"/>
          </p:nvPr>
        </p:nvSpPr>
        <p:spPr>
          <a:xfrm>
            <a:off x="457200" y="502920"/>
            <a:ext cx="11274552" cy="685800"/>
          </a:xfrm>
          <a:prstGeom prst="rect">
            <a:avLst/>
          </a:prstGeom>
        </p:spPr>
        <p:txBody>
          <a:bodyPr vert="horz" wrap="square" lIns="0" tIns="0" rIns="0" bIns="0" rtlCol="0" anchor="ctr">
            <a:noAutofit/>
          </a:bodyPr>
          <a:lstStyle/>
          <a:p>
            <a:pPr marL="0">
              <a:lnSpc>
                <a:spcPct val="100000"/>
              </a:lnSpc>
            </a:pPr>
            <a:r>
              <a:rPr lang="en-IN" sz="3000" b="1" dirty="0">
                <a:latin typeface="Times New Roman" panose="02020603050405020304" pitchFamily="18" charset="0"/>
                <a:cs typeface="Times New Roman" panose="02020603050405020304" pitchFamily="18" charset="0"/>
              </a:rPr>
              <a:t>Modules</a:t>
            </a:r>
          </a:p>
        </p:txBody>
      </p:sp>
      <p:graphicFrame>
        <p:nvGraphicFramePr>
          <p:cNvPr id="3" name="Table 3"/>
          <p:cNvGraphicFramePr>
            <a:graphicFrameLocks noGrp="1"/>
          </p:cNvGraphicFramePr>
          <p:nvPr/>
        </p:nvGraphicFramePr>
        <p:xfrm>
          <a:off x="457200" y="1371600"/>
          <a:ext cx="11274552" cy="4379976"/>
        </p:xfrm>
        <a:graphic>
          <a:graphicData uri="http://schemas.openxmlformats.org/drawingml/2006/table">
            <a:tbl>
              <a:tblPr firstRow="1" bandRow="1"/>
              <a:tblGrid>
                <a:gridCol w="640080"/>
                <a:gridCol w="2926080"/>
                <a:gridCol w="3931920"/>
                <a:gridCol w="3776472"/>
              </a:tblGrid>
              <a:tr h="411480">
                <a:tc>
                  <a:txBody>
                    <a:bodyPr/>
                    <a:lstStyle/>
                    <a:p>
                      <a:pPr marL="0" indent="0" algn="l">
                        <a:lnSpc>
                          <a:spcPct val="100000"/>
                        </a:lnSpc>
                        <a:spcBef>
                          <a:spcPts val="0"/>
                        </a:spcBef>
                        <a:spcAft>
                          <a:spcPts val="0"/>
                        </a:spcAft>
                        <a:buNone/>
                      </a:pPr>
                      <a:r>
                        <a:rPr lang="en-IN" sz="1300" b="1" dirty="0">
                          <a:solidFill>
                            <a:srgbClr val="FFFFFF"/>
                          </a:solidFill>
                          <a:latin typeface="Times New Roman" panose="02020603050405020304" pitchFamily="18" charset="0"/>
                          <a:cs typeface="Times New Roman" panose="02020603050405020304" pitchFamily="18" charset="0"/>
                        </a:rPr>
                        <a:t>#</a:t>
                      </a:r>
                    </a:p>
                  </a:txBody>
                  <a:tcPr marL="73152" marR="73152" marT="45720" marB="45720" anchor="ctr">
                    <a:lnL w="9525">
                      <a:solidFill>
                        <a:srgbClr val="C9D3E0"/>
                      </a:solidFill>
                    </a:lnL>
                    <a:lnR w="9525">
                      <a:solidFill>
                        <a:srgbClr val="C9D3E0"/>
                      </a:solidFill>
                    </a:lnR>
                    <a:lnT w="9525">
                      <a:solidFill>
                        <a:srgbClr val="C9D3E0"/>
                      </a:solidFill>
                    </a:lnT>
                    <a:lnB w="9525">
                      <a:solidFill>
                        <a:srgbClr val="C9D3E0"/>
                      </a:solidFill>
                    </a:lnB>
                    <a:solidFill>
                      <a:srgbClr val="2A78D6"/>
                    </a:solidFill>
                  </a:tcPr>
                </a:tc>
                <a:tc>
                  <a:txBody>
                    <a:bodyPr/>
                    <a:lstStyle/>
                    <a:p>
                      <a:pPr marL="0" indent="0" algn="l">
                        <a:lnSpc>
                          <a:spcPct val="100000"/>
                        </a:lnSpc>
                        <a:spcBef>
                          <a:spcPts val="0"/>
                        </a:spcBef>
                        <a:spcAft>
                          <a:spcPts val="0"/>
                        </a:spcAft>
                        <a:buNone/>
                      </a:pPr>
                      <a:r>
                        <a:rPr lang="en-IN" sz="1300" b="1" dirty="0">
                          <a:solidFill>
                            <a:srgbClr val="FFFFFF"/>
                          </a:solidFill>
                          <a:latin typeface="Times New Roman" panose="02020603050405020304" pitchFamily="18" charset="0"/>
                          <a:cs typeface="Times New Roman" panose="02020603050405020304" pitchFamily="18" charset="0"/>
                        </a:rPr>
                        <a:t>Module</a:t>
                      </a:r>
                    </a:p>
                  </a:txBody>
                  <a:tcPr marL="73152" marR="73152" marT="45720" marB="45720" anchor="ctr">
                    <a:lnL w="9525">
                      <a:solidFill>
                        <a:srgbClr val="C9D3E0"/>
                      </a:solidFill>
                    </a:lnL>
                    <a:lnR w="9525">
                      <a:solidFill>
                        <a:srgbClr val="C9D3E0"/>
                      </a:solidFill>
                    </a:lnR>
                    <a:lnT w="9525">
                      <a:solidFill>
                        <a:srgbClr val="C9D3E0"/>
                      </a:solidFill>
                    </a:lnT>
                    <a:lnB w="9525">
                      <a:solidFill>
                        <a:srgbClr val="C9D3E0"/>
                      </a:solidFill>
                    </a:lnB>
                    <a:solidFill>
                      <a:srgbClr val="2A78D6"/>
                    </a:solidFill>
                  </a:tcPr>
                </a:tc>
                <a:tc>
                  <a:txBody>
                    <a:bodyPr/>
                    <a:lstStyle/>
                    <a:p>
                      <a:pPr marL="0" indent="0" algn="l">
                        <a:lnSpc>
                          <a:spcPct val="100000"/>
                        </a:lnSpc>
                        <a:spcBef>
                          <a:spcPts val="0"/>
                        </a:spcBef>
                        <a:spcAft>
                          <a:spcPts val="0"/>
                        </a:spcAft>
                        <a:buNone/>
                      </a:pPr>
                      <a:r>
                        <a:rPr lang="en-IN" sz="1300" b="1" dirty="0">
                          <a:solidFill>
                            <a:srgbClr val="FFFFFF"/>
                          </a:solidFill>
                          <a:latin typeface="Times New Roman" panose="02020603050405020304" pitchFamily="18" charset="0"/>
                          <a:cs typeface="Times New Roman" panose="02020603050405020304" pitchFamily="18" charset="0"/>
                        </a:rPr>
                        <a:t>Files</a:t>
                      </a:r>
                    </a:p>
                  </a:txBody>
                  <a:tcPr marL="73152" marR="73152" marT="45720" marB="45720" anchor="ctr">
                    <a:lnL w="9525">
                      <a:solidFill>
                        <a:srgbClr val="C9D3E0"/>
                      </a:solidFill>
                    </a:lnL>
                    <a:lnR w="9525">
                      <a:solidFill>
                        <a:srgbClr val="C9D3E0"/>
                      </a:solidFill>
                    </a:lnR>
                    <a:lnT w="9525">
                      <a:solidFill>
                        <a:srgbClr val="C9D3E0"/>
                      </a:solidFill>
                    </a:lnT>
                    <a:lnB w="9525">
                      <a:solidFill>
                        <a:srgbClr val="C9D3E0"/>
                      </a:solidFill>
                    </a:lnB>
                    <a:solidFill>
                      <a:srgbClr val="2A78D6"/>
                    </a:solidFill>
                  </a:tcPr>
                </a:tc>
                <a:tc>
                  <a:txBody>
                    <a:bodyPr/>
                    <a:lstStyle/>
                    <a:p>
                      <a:pPr marL="0" indent="0" algn="l">
                        <a:lnSpc>
                          <a:spcPct val="100000"/>
                        </a:lnSpc>
                        <a:spcBef>
                          <a:spcPts val="0"/>
                        </a:spcBef>
                        <a:spcAft>
                          <a:spcPts val="0"/>
                        </a:spcAft>
                        <a:buNone/>
                      </a:pPr>
                      <a:r>
                        <a:rPr lang="en-IN" sz="1300" b="1" dirty="0">
                          <a:solidFill>
                            <a:srgbClr val="FFFFFF"/>
                          </a:solidFill>
                          <a:latin typeface="Times New Roman" panose="02020603050405020304" pitchFamily="18" charset="0"/>
                          <a:cs typeface="Times New Roman" panose="02020603050405020304" pitchFamily="18" charset="0"/>
                        </a:rPr>
                        <a:t>What it does</a:t>
                      </a:r>
                    </a:p>
                  </a:txBody>
                  <a:tcPr marL="73152" marR="73152" marT="45720" marB="45720" anchor="ctr">
                    <a:lnL w="9525">
                      <a:solidFill>
                        <a:srgbClr val="C9D3E0"/>
                      </a:solidFill>
                    </a:lnL>
                    <a:lnR w="9525">
                      <a:solidFill>
                        <a:srgbClr val="C9D3E0"/>
                      </a:solidFill>
                    </a:lnR>
                    <a:lnT w="9525">
                      <a:solidFill>
                        <a:srgbClr val="C9D3E0"/>
                      </a:solidFill>
                    </a:lnT>
                    <a:lnB w="9525">
                      <a:solidFill>
                        <a:srgbClr val="C9D3E0"/>
                      </a:solidFill>
                    </a:lnB>
                    <a:solidFill>
                      <a:srgbClr val="2A78D6"/>
                    </a:solidFill>
                  </a:tcPr>
                </a:tc>
              </a:tr>
              <a:tr h="566928">
                <a:tc>
                  <a:txBody>
                    <a:bodyPr/>
                    <a:lstStyle/>
                    <a:p>
                      <a:pPr marL="0" indent="0" algn="l">
                        <a:lnSpc>
                          <a:spcPct val="100000"/>
                        </a:lnSpc>
                        <a:spcBef>
                          <a:spcPts val="0"/>
                        </a:spcBef>
                        <a:spcAft>
                          <a:spcPts val="0"/>
                        </a:spcAft>
                        <a:buNone/>
                      </a:pPr>
                      <a:r>
                        <a:rPr lang="en-IN" sz="1300" dirty="0">
                          <a:solidFill>
                            <a:srgbClr val="1F2328"/>
                          </a:solidFill>
                          <a:latin typeface="Times New Roman" panose="02020603050405020304" pitchFamily="18" charset="0"/>
                          <a:cs typeface="Times New Roman" panose="02020603050405020304" pitchFamily="18" charset="0"/>
                        </a:rPr>
                        <a:t>M1</a:t>
                      </a:r>
                    </a:p>
                  </a:txBody>
                  <a:tcPr marL="73152" marR="73152" marT="45720" marB="45720" anchor="ctr">
                    <a:lnL w="9525">
                      <a:solidFill>
                        <a:srgbClr val="C9D3E0"/>
                      </a:solidFill>
                    </a:lnL>
                    <a:lnR w="9525">
                      <a:solidFill>
                        <a:srgbClr val="C9D3E0"/>
                      </a:solidFill>
                    </a:lnR>
                    <a:lnT w="9525">
                      <a:solidFill>
                        <a:srgbClr val="C9D3E0"/>
                      </a:solidFill>
                    </a:lnT>
                    <a:lnB w="9525">
                      <a:solidFill>
                        <a:srgbClr val="C9D3E0"/>
                      </a:solidFill>
                    </a:lnB>
                    <a:solidFill>
                      <a:srgbClr val="EEF3FA"/>
                    </a:solidFill>
                  </a:tcPr>
                </a:tc>
                <a:tc>
                  <a:txBody>
                    <a:bodyPr/>
                    <a:lstStyle/>
                    <a:p>
                      <a:pPr marL="0" indent="0" algn="l">
                        <a:lnSpc>
                          <a:spcPct val="100000"/>
                        </a:lnSpc>
                        <a:spcBef>
                          <a:spcPts val="0"/>
                        </a:spcBef>
                        <a:spcAft>
                          <a:spcPts val="0"/>
                        </a:spcAft>
                        <a:buNone/>
                      </a:pPr>
                      <a:r>
                        <a:rPr lang="en-IN" sz="1300" dirty="0">
                          <a:solidFill>
                            <a:srgbClr val="1F2328"/>
                          </a:solidFill>
                          <a:latin typeface="Times New Roman" panose="02020603050405020304" pitchFamily="18" charset="0"/>
                          <a:cs typeface="Times New Roman" panose="02020603050405020304" pitchFamily="18" charset="0"/>
                        </a:rPr>
                        <a:t>Acquire and verify</a:t>
                      </a:r>
                    </a:p>
                  </a:txBody>
                  <a:tcPr marL="73152" marR="73152" marT="45720" marB="45720" anchor="ctr">
                    <a:lnL w="9525">
                      <a:solidFill>
                        <a:srgbClr val="C9D3E0"/>
                      </a:solidFill>
                    </a:lnL>
                    <a:lnR w="9525">
                      <a:solidFill>
                        <a:srgbClr val="C9D3E0"/>
                      </a:solidFill>
                    </a:lnR>
                    <a:lnT w="9525">
                      <a:solidFill>
                        <a:srgbClr val="C9D3E0"/>
                      </a:solidFill>
                    </a:lnT>
                    <a:lnB w="9525">
                      <a:solidFill>
                        <a:srgbClr val="C9D3E0"/>
                      </a:solidFill>
                    </a:lnB>
                    <a:solidFill>
                      <a:srgbClr val="EEF3FA"/>
                    </a:solidFill>
                  </a:tcPr>
                </a:tc>
                <a:tc>
                  <a:txBody>
                    <a:bodyPr/>
                    <a:lstStyle/>
                    <a:p>
                      <a:pPr marL="0" indent="0" algn="l">
                        <a:lnSpc>
                          <a:spcPct val="100000"/>
                        </a:lnSpc>
                        <a:spcBef>
                          <a:spcPts val="0"/>
                        </a:spcBef>
                        <a:spcAft>
                          <a:spcPts val="0"/>
                        </a:spcAft>
                        <a:buNone/>
                      </a:pPr>
                      <a:r>
                        <a:rPr lang="en-IN" sz="1300" dirty="0">
                          <a:solidFill>
                            <a:srgbClr val="1F2328"/>
                          </a:solidFill>
                          <a:latin typeface="Times New Roman" panose="02020603050405020304" pitchFamily="18" charset="0"/>
                          <a:cs typeface="Times New Roman" panose="02020603050405020304" pitchFamily="18" charset="0"/>
                        </a:rPr>
                        <a:t>fetch_sources.py, extract_archives.py</a:t>
                      </a:r>
                    </a:p>
                  </a:txBody>
                  <a:tcPr marL="73152" marR="73152" marT="45720" marB="45720" anchor="ctr">
                    <a:lnL w="9525">
                      <a:solidFill>
                        <a:srgbClr val="C9D3E0"/>
                      </a:solidFill>
                    </a:lnL>
                    <a:lnR w="9525">
                      <a:solidFill>
                        <a:srgbClr val="C9D3E0"/>
                      </a:solidFill>
                    </a:lnR>
                    <a:lnT w="9525">
                      <a:solidFill>
                        <a:srgbClr val="C9D3E0"/>
                      </a:solidFill>
                    </a:lnT>
                    <a:lnB w="9525">
                      <a:solidFill>
                        <a:srgbClr val="C9D3E0"/>
                      </a:solidFill>
                    </a:lnB>
                    <a:solidFill>
                      <a:srgbClr val="EEF3FA"/>
                    </a:solidFill>
                  </a:tcPr>
                </a:tc>
                <a:tc>
                  <a:txBody>
                    <a:bodyPr/>
                    <a:lstStyle/>
                    <a:p>
                      <a:pPr marL="0" indent="0" algn="l">
                        <a:lnSpc>
                          <a:spcPct val="100000"/>
                        </a:lnSpc>
                        <a:spcBef>
                          <a:spcPts val="0"/>
                        </a:spcBef>
                        <a:spcAft>
                          <a:spcPts val="0"/>
                        </a:spcAft>
                        <a:buNone/>
                      </a:pPr>
                      <a:r>
                        <a:rPr lang="en-IN" sz="1300" dirty="0">
                          <a:solidFill>
                            <a:srgbClr val="1F2328"/>
                          </a:solidFill>
                          <a:latin typeface="Times New Roman" panose="02020603050405020304" pitchFamily="18" charset="0"/>
                          <a:cs typeface="Times New Roman" panose="02020603050405020304" pitchFamily="18" charset="0"/>
                        </a:rPr>
                        <a:t>Resumable download, size + MD5 check (Zenodo), SHA-256 record, safe extraction</a:t>
                      </a:r>
                    </a:p>
                  </a:txBody>
                  <a:tcPr marL="73152" marR="73152" marT="45720" marB="45720" anchor="ctr">
                    <a:lnL w="9525">
                      <a:solidFill>
                        <a:srgbClr val="C9D3E0"/>
                      </a:solidFill>
                    </a:lnL>
                    <a:lnR w="9525">
                      <a:solidFill>
                        <a:srgbClr val="C9D3E0"/>
                      </a:solidFill>
                    </a:lnR>
                    <a:lnT w="9525">
                      <a:solidFill>
                        <a:srgbClr val="C9D3E0"/>
                      </a:solidFill>
                    </a:lnT>
                    <a:lnB w="9525">
                      <a:solidFill>
                        <a:srgbClr val="C9D3E0"/>
                      </a:solidFill>
                    </a:lnB>
                    <a:solidFill>
                      <a:srgbClr val="EEF3FA"/>
                    </a:solidFill>
                  </a:tcPr>
                </a:tc>
              </a:tr>
              <a:tr h="566928">
                <a:tc>
                  <a:txBody>
                    <a:bodyPr/>
                    <a:lstStyle/>
                    <a:p>
                      <a:pPr marL="0" indent="0" algn="l">
                        <a:lnSpc>
                          <a:spcPct val="100000"/>
                        </a:lnSpc>
                        <a:spcBef>
                          <a:spcPts val="0"/>
                        </a:spcBef>
                        <a:spcAft>
                          <a:spcPts val="0"/>
                        </a:spcAft>
                        <a:buNone/>
                      </a:pPr>
                      <a:r>
                        <a:rPr lang="en-IN" sz="1300" dirty="0">
                          <a:solidFill>
                            <a:srgbClr val="1F2328"/>
                          </a:solidFill>
                          <a:latin typeface="Times New Roman" panose="02020603050405020304" pitchFamily="18" charset="0"/>
                          <a:cs typeface="Times New Roman" panose="02020603050405020304" pitchFamily="18" charset="0"/>
                        </a:rPr>
                        <a:t>M2</a:t>
                      </a:r>
                    </a:p>
                  </a:txBody>
                  <a:tcPr marL="73152" marR="73152" marT="45720" marB="45720" anchor="ctr">
                    <a:lnL w="9525">
                      <a:solidFill>
                        <a:srgbClr val="C9D3E0"/>
                      </a:solidFill>
                    </a:lnL>
                    <a:lnR w="9525">
                      <a:solidFill>
                        <a:srgbClr val="C9D3E0"/>
                      </a:solidFill>
                    </a:lnR>
                    <a:lnT w="9525">
                      <a:solidFill>
                        <a:srgbClr val="C9D3E0"/>
                      </a:solidFill>
                    </a:lnT>
                    <a:lnB w="9525">
                      <a:solidFill>
                        <a:srgbClr val="C9D3E0"/>
                      </a:solidFill>
                    </a:lnB>
                    <a:solidFill>
                      <a:srgbClr val="FFFFFF"/>
                    </a:solidFill>
                  </a:tcPr>
                </a:tc>
                <a:tc>
                  <a:txBody>
                    <a:bodyPr/>
                    <a:lstStyle/>
                    <a:p>
                      <a:pPr marL="0" indent="0" algn="l">
                        <a:lnSpc>
                          <a:spcPct val="100000"/>
                        </a:lnSpc>
                        <a:spcBef>
                          <a:spcPts val="0"/>
                        </a:spcBef>
                        <a:spcAft>
                          <a:spcPts val="0"/>
                        </a:spcAft>
                        <a:buNone/>
                      </a:pPr>
                      <a:r>
                        <a:rPr lang="en-IN" sz="1300" dirty="0">
                          <a:solidFill>
                            <a:srgbClr val="1F2328"/>
                          </a:solidFill>
                          <a:latin typeface="Times New Roman" panose="02020603050405020304" pitchFamily="18" charset="0"/>
                          <a:cs typeface="Times New Roman" panose="02020603050405020304" pitchFamily="18" charset="0"/>
                        </a:rPr>
                        <a:t>Convert and load</a:t>
                      </a:r>
                    </a:p>
                  </a:txBody>
                  <a:tcPr marL="73152" marR="73152" marT="45720" marB="45720" anchor="ctr">
                    <a:lnL w="9525">
                      <a:solidFill>
                        <a:srgbClr val="C9D3E0"/>
                      </a:solidFill>
                    </a:lnL>
                    <a:lnR w="9525">
                      <a:solidFill>
                        <a:srgbClr val="C9D3E0"/>
                      </a:solidFill>
                    </a:lnR>
                    <a:lnT w="9525">
                      <a:solidFill>
                        <a:srgbClr val="C9D3E0"/>
                      </a:solidFill>
                    </a:lnT>
                    <a:lnB w="9525">
                      <a:solidFill>
                        <a:srgbClr val="C9D3E0"/>
                      </a:solidFill>
                    </a:lnB>
                    <a:solidFill>
                      <a:srgbClr val="FFFFFF"/>
                    </a:solidFill>
                  </a:tcPr>
                </a:tc>
                <a:tc>
                  <a:txBody>
                    <a:bodyPr/>
                    <a:lstStyle/>
                    <a:p>
                      <a:pPr marL="0" indent="0" algn="l">
                        <a:lnSpc>
                          <a:spcPct val="100000"/>
                        </a:lnSpc>
                        <a:spcBef>
                          <a:spcPts val="0"/>
                        </a:spcBef>
                        <a:spcAft>
                          <a:spcPts val="0"/>
                        </a:spcAft>
                        <a:buNone/>
                      </a:pPr>
                      <a:r>
                        <a:rPr lang="en-IN" sz="1300" dirty="0">
                          <a:solidFill>
                            <a:srgbClr val="1F2328"/>
                          </a:solidFill>
                          <a:latin typeface="Times New Roman" panose="02020603050405020304" pitchFamily="18" charset="0"/>
                          <a:cs typeface="Times New Roman" panose="02020603050405020304" pitchFamily="18" charset="0"/>
                        </a:rPr>
                        <a:t>convert_crop.py, convert_oulad.py, ocel_io.py</a:t>
                      </a:r>
                    </a:p>
                  </a:txBody>
                  <a:tcPr marL="73152" marR="73152" marT="45720" marB="45720" anchor="ctr">
                    <a:lnL w="9525">
                      <a:solidFill>
                        <a:srgbClr val="C9D3E0"/>
                      </a:solidFill>
                    </a:lnL>
                    <a:lnR w="9525">
                      <a:solidFill>
                        <a:srgbClr val="C9D3E0"/>
                      </a:solidFill>
                    </a:lnR>
                    <a:lnT w="9525">
                      <a:solidFill>
                        <a:srgbClr val="C9D3E0"/>
                      </a:solidFill>
                    </a:lnT>
                    <a:lnB w="9525">
                      <a:solidFill>
                        <a:srgbClr val="C9D3E0"/>
                      </a:solidFill>
                    </a:lnB>
                    <a:solidFill>
                      <a:srgbClr val="FFFFFF"/>
                    </a:solidFill>
                  </a:tcPr>
                </a:tc>
                <a:tc>
                  <a:txBody>
                    <a:bodyPr/>
                    <a:lstStyle/>
                    <a:p>
                      <a:pPr marL="0" indent="0" algn="l">
                        <a:lnSpc>
                          <a:spcPct val="100000"/>
                        </a:lnSpc>
                        <a:spcBef>
                          <a:spcPts val="0"/>
                        </a:spcBef>
                        <a:spcAft>
                          <a:spcPts val="0"/>
                        </a:spcAft>
                        <a:buNone/>
                      </a:pPr>
                      <a:r>
                        <a:rPr lang="en-IN" sz="1300" dirty="0">
                          <a:solidFill>
                            <a:srgbClr val="1F2328"/>
                          </a:solidFill>
                          <a:latin typeface="Times New Roman" panose="02020603050405020304" pitchFamily="18" charset="0"/>
                          <a:cs typeface="Times New Roman" panose="02020603050405020304" pitchFamily="18" charset="0"/>
                        </a:rPr>
                        <a:t>Gerrit and OULAD to OCEL; load OCEL 2.x; hash identifiers</a:t>
                      </a:r>
                    </a:p>
                  </a:txBody>
                  <a:tcPr marL="73152" marR="73152" marT="45720" marB="45720" anchor="ctr">
                    <a:lnL w="9525">
                      <a:solidFill>
                        <a:srgbClr val="C9D3E0"/>
                      </a:solidFill>
                    </a:lnL>
                    <a:lnR w="9525">
                      <a:solidFill>
                        <a:srgbClr val="C9D3E0"/>
                      </a:solidFill>
                    </a:lnR>
                    <a:lnT w="9525">
                      <a:solidFill>
                        <a:srgbClr val="C9D3E0"/>
                      </a:solidFill>
                    </a:lnT>
                    <a:lnB w="9525">
                      <a:solidFill>
                        <a:srgbClr val="C9D3E0"/>
                      </a:solidFill>
                    </a:lnB>
                    <a:solidFill>
                      <a:srgbClr val="FFFFFF"/>
                    </a:solidFill>
                  </a:tcPr>
                </a:tc>
              </a:tr>
              <a:tr h="566928">
                <a:tc>
                  <a:txBody>
                    <a:bodyPr/>
                    <a:lstStyle/>
                    <a:p>
                      <a:pPr marL="0" indent="0" algn="l">
                        <a:lnSpc>
                          <a:spcPct val="100000"/>
                        </a:lnSpc>
                        <a:spcBef>
                          <a:spcPts val="0"/>
                        </a:spcBef>
                        <a:spcAft>
                          <a:spcPts val="0"/>
                        </a:spcAft>
                        <a:buNone/>
                      </a:pPr>
                      <a:r>
                        <a:rPr lang="en-IN" sz="1300" dirty="0">
                          <a:solidFill>
                            <a:srgbClr val="1F2328"/>
                          </a:solidFill>
                          <a:latin typeface="Times New Roman" panose="02020603050405020304" pitchFamily="18" charset="0"/>
                          <a:cs typeface="Times New Roman" panose="02020603050405020304" pitchFamily="18" charset="0"/>
                        </a:rPr>
                        <a:t>M3</a:t>
                      </a:r>
                    </a:p>
                  </a:txBody>
                  <a:tcPr marL="73152" marR="73152" marT="45720" marB="45720" anchor="ctr">
                    <a:lnL w="9525">
                      <a:solidFill>
                        <a:srgbClr val="C9D3E0"/>
                      </a:solidFill>
                    </a:lnL>
                    <a:lnR w="9525">
                      <a:solidFill>
                        <a:srgbClr val="C9D3E0"/>
                      </a:solidFill>
                    </a:lnR>
                    <a:lnT w="9525">
                      <a:solidFill>
                        <a:srgbClr val="C9D3E0"/>
                      </a:solidFill>
                    </a:lnT>
                    <a:lnB w="9525">
                      <a:solidFill>
                        <a:srgbClr val="C9D3E0"/>
                      </a:solidFill>
                    </a:lnB>
                    <a:solidFill>
                      <a:srgbClr val="EEF3FA"/>
                    </a:solidFill>
                  </a:tcPr>
                </a:tc>
                <a:tc>
                  <a:txBody>
                    <a:bodyPr/>
                    <a:lstStyle/>
                    <a:p>
                      <a:pPr marL="0" indent="0" algn="l">
                        <a:lnSpc>
                          <a:spcPct val="100000"/>
                        </a:lnSpc>
                        <a:spcBef>
                          <a:spcPts val="0"/>
                        </a:spcBef>
                        <a:spcAft>
                          <a:spcPts val="0"/>
                        </a:spcAft>
                        <a:buNone/>
                      </a:pPr>
                      <a:r>
                        <a:rPr lang="en-IN" sz="1300" dirty="0">
                          <a:solidFill>
                            <a:srgbClr val="1F2328"/>
                          </a:solidFill>
                          <a:latin typeface="Times New Roman" panose="02020603050405020304" pitchFamily="18" charset="0"/>
                          <a:cs typeface="Times New Roman" panose="02020603050405020304" pitchFamily="18" charset="0"/>
                        </a:rPr>
                        <a:t>Distortion metrics</a:t>
                      </a:r>
                    </a:p>
                  </a:txBody>
                  <a:tcPr marL="73152" marR="73152" marT="45720" marB="45720" anchor="ctr">
                    <a:lnL w="9525">
                      <a:solidFill>
                        <a:srgbClr val="C9D3E0"/>
                      </a:solidFill>
                    </a:lnL>
                    <a:lnR w="9525">
                      <a:solidFill>
                        <a:srgbClr val="C9D3E0"/>
                      </a:solidFill>
                    </a:lnR>
                    <a:lnT w="9525">
                      <a:solidFill>
                        <a:srgbClr val="C9D3E0"/>
                      </a:solidFill>
                    </a:lnT>
                    <a:lnB w="9525">
                      <a:solidFill>
                        <a:srgbClr val="C9D3E0"/>
                      </a:solidFill>
                    </a:lnB>
                    <a:solidFill>
                      <a:srgbClr val="EEF3FA"/>
                    </a:solidFill>
                  </a:tcPr>
                </a:tc>
                <a:tc>
                  <a:txBody>
                    <a:bodyPr/>
                    <a:lstStyle/>
                    <a:p>
                      <a:pPr marL="0" indent="0" algn="l">
                        <a:lnSpc>
                          <a:spcPct val="100000"/>
                        </a:lnSpc>
                        <a:spcBef>
                          <a:spcPts val="0"/>
                        </a:spcBef>
                        <a:spcAft>
                          <a:spcPts val="0"/>
                        </a:spcAft>
                        <a:buNone/>
                      </a:pPr>
                      <a:r>
                        <a:rPr lang="en-IN" sz="1300" dirty="0">
                          <a:solidFill>
                            <a:srgbClr val="1F2328"/>
                          </a:solidFill>
                          <a:latin typeface="Times New Roman" panose="02020603050405020304" pitchFamily="18" charset="0"/>
                          <a:cs typeface="Times New Roman" panose="02020603050405020304" pitchFamily="18" charset="0"/>
                        </a:rPr>
                        <a:t>distortion.py</a:t>
                      </a:r>
                    </a:p>
                  </a:txBody>
                  <a:tcPr marL="73152" marR="73152" marT="45720" marB="45720" anchor="ctr">
                    <a:lnL w="9525">
                      <a:solidFill>
                        <a:srgbClr val="C9D3E0"/>
                      </a:solidFill>
                    </a:lnL>
                    <a:lnR w="9525">
                      <a:solidFill>
                        <a:srgbClr val="C9D3E0"/>
                      </a:solidFill>
                    </a:lnR>
                    <a:lnT w="9525">
                      <a:solidFill>
                        <a:srgbClr val="C9D3E0"/>
                      </a:solidFill>
                    </a:lnT>
                    <a:lnB w="9525">
                      <a:solidFill>
                        <a:srgbClr val="C9D3E0"/>
                      </a:solidFill>
                    </a:lnB>
                    <a:solidFill>
                      <a:srgbClr val="EEF3FA"/>
                    </a:solidFill>
                  </a:tcPr>
                </a:tc>
                <a:tc>
                  <a:txBody>
                    <a:bodyPr/>
                    <a:lstStyle/>
                    <a:p>
                      <a:pPr marL="0" indent="0" algn="l">
                        <a:lnSpc>
                          <a:spcPct val="100000"/>
                        </a:lnSpc>
                        <a:spcBef>
                          <a:spcPts val="0"/>
                        </a:spcBef>
                        <a:spcAft>
                          <a:spcPts val="0"/>
                        </a:spcAft>
                        <a:buNone/>
                      </a:pPr>
                      <a:r>
                        <a:rPr lang="en-IN" sz="1300" dirty="0">
                          <a:solidFill>
                            <a:srgbClr val="1F2328"/>
                          </a:solidFill>
                          <a:latin typeface="Times New Roman" panose="02020603050405020304" pitchFamily="18" charset="0"/>
                          <a:cs typeface="Times New Roman" panose="02020603050405020304" pitchFamily="18" charset="0"/>
                        </a:rPr>
                        <a:t>Deficiency, convergence, divergence, coupling per object type</a:t>
                      </a:r>
                    </a:p>
                  </a:txBody>
                  <a:tcPr marL="73152" marR="73152" marT="45720" marB="45720" anchor="ctr">
                    <a:lnL w="9525">
                      <a:solidFill>
                        <a:srgbClr val="C9D3E0"/>
                      </a:solidFill>
                    </a:lnL>
                    <a:lnR w="9525">
                      <a:solidFill>
                        <a:srgbClr val="C9D3E0"/>
                      </a:solidFill>
                    </a:lnR>
                    <a:lnT w="9525">
                      <a:solidFill>
                        <a:srgbClr val="C9D3E0"/>
                      </a:solidFill>
                    </a:lnT>
                    <a:lnB w="9525">
                      <a:solidFill>
                        <a:srgbClr val="C9D3E0"/>
                      </a:solidFill>
                    </a:lnB>
                    <a:solidFill>
                      <a:srgbClr val="EEF3FA"/>
                    </a:solidFill>
                  </a:tcPr>
                </a:tc>
              </a:tr>
              <a:tr h="566928">
                <a:tc>
                  <a:txBody>
                    <a:bodyPr/>
                    <a:lstStyle/>
                    <a:p>
                      <a:pPr marL="0" indent="0" algn="l">
                        <a:lnSpc>
                          <a:spcPct val="100000"/>
                        </a:lnSpc>
                        <a:spcBef>
                          <a:spcPts val="0"/>
                        </a:spcBef>
                        <a:spcAft>
                          <a:spcPts val="0"/>
                        </a:spcAft>
                        <a:buNone/>
                      </a:pPr>
                      <a:r>
                        <a:rPr lang="en-IN" sz="1300" dirty="0">
                          <a:solidFill>
                            <a:srgbClr val="1F2328"/>
                          </a:solidFill>
                          <a:latin typeface="Times New Roman" panose="02020603050405020304" pitchFamily="18" charset="0"/>
                          <a:cs typeface="Times New Roman" panose="02020603050405020304" pitchFamily="18" charset="0"/>
                        </a:rPr>
                        <a:t>M4</a:t>
                      </a:r>
                    </a:p>
                  </a:txBody>
                  <a:tcPr marL="73152" marR="73152" marT="45720" marB="45720" anchor="ctr">
                    <a:lnL w="9525">
                      <a:solidFill>
                        <a:srgbClr val="C9D3E0"/>
                      </a:solidFill>
                    </a:lnL>
                    <a:lnR w="9525">
                      <a:solidFill>
                        <a:srgbClr val="C9D3E0"/>
                      </a:solidFill>
                    </a:lnR>
                    <a:lnT w="9525">
                      <a:solidFill>
                        <a:srgbClr val="C9D3E0"/>
                      </a:solidFill>
                    </a:lnT>
                    <a:lnB w="9525">
                      <a:solidFill>
                        <a:srgbClr val="C9D3E0"/>
                      </a:solidFill>
                    </a:lnB>
                    <a:solidFill>
                      <a:srgbClr val="FFFFFF"/>
                    </a:solidFill>
                  </a:tcPr>
                </a:tc>
                <a:tc>
                  <a:txBody>
                    <a:bodyPr/>
                    <a:lstStyle/>
                    <a:p>
                      <a:pPr marL="0" indent="0" algn="l">
                        <a:lnSpc>
                          <a:spcPct val="100000"/>
                        </a:lnSpc>
                        <a:spcBef>
                          <a:spcPts val="0"/>
                        </a:spcBef>
                        <a:spcAft>
                          <a:spcPts val="0"/>
                        </a:spcAft>
                        <a:buNone/>
                      </a:pPr>
                      <a:r>
                        <a:rPr lang="en-IN" sz="1300" dirty="0">
                          <a:solidFill>
                            <a:srgbClr val="1F2328"/>
                          </a:solidFill>
                          <a:latin typeface="Times New Roman" panose="02020603050405020304" pitchFamily="18" charset="0"/>
                          <a:cs typeface="Times New Roman" panose="02020603050405020304" pitchFamily="18" charset="0"/>
                        </a:rPr>
                        <a:t>Consequence analysis</a:t>
                      </a:r>
                    </a:p>
                  </a:txBody>
                  <a:tcPr marL="73152" marR="73152" marT="45720" marB="45720" anchor="ctr">
                    <a:lnL w="9525">
                      <a:solidFill>
                        <a:srgbClr val="C9D3E0"/>
                      </a:solidFill>
                    </a:lnL>
                    <a:lnR w="9525">
                      <a:solidFill>
                        <a:srgbClr val="C9D3E0"/>
                      </a:solidFill>
                    </a:lnR>
                    <a:lnT w="9525">
                      <a:solidFill>
                        <a:srgbClr val="C9D3E0"/>
                      </a:solidFill>
                    </a:lnT>
                    <a:lnB w="9525">
                      <a:solidFill>
                        <a:srgbClr val="C9D3E0"/>
                      </a:solidFill>
                    </a:lnB>
                    <a:solidFill>
                      <a:srgbClr val="FFFFFF"/>
                    </a:solidFill>
                  </a:tcPr>
                </a:tc>
                <a:tc>
                  <a:txBody>
                    <a:bodyPr/>
                    <a:lstStyle/>
                    <a:p>
                      <a:pPr marL="0" indent="0" algn="l">
                        <a:lnSpc>
                          <a:spcPct val="100000"/>
                        </a:lnSpc>
                        <a:spcBef>
                          <a:spcPts val="0"/>
                        </a:spcBef>
                        <a:spcAft>
                          <a:spcPts val="0"/>
                        </a:spcAft>
                        <a:buNone/>
                      </a:pPr>
                      <a:r>
                        <a:rPr lang="en-IN" sz="1300" dirty="0">
                          <a:solidFill>
                            <a:srgbClr val="1F2328"/>
                          </a:solidFill>
                          <a:latin typeface="Times New Roman" panose="02020603050405020304" pitchFamily="18" charset="0"/>
                          <a:cs typeface="Times New Roman" panose="02020603050405020304" pitchFamily="18" charset="0"/>
                        </a:rPr>
                        <a:t>consequence.py</a:t>
                      </a:r>
                    </a:p>
                  </a:txBody>
                  <a:tcPr marL="73152" marR="73152" marT="45720" marB="45720" anchor="ctr">
                    <a:lnL w="9525">
                      <a:solidFill>
                        <a:srgbClr val="C9D3E0"/>
                      </a:solidFill>
                    </a:lnL>
                    <a:lnR w="9525">
                      <a:solidFill>
                        <a:srgbClr val="C9D3E0"/>
                      </a:solidFill>
                    </a:lnR>
                    <a:lnT w="9525">
                      <a:solidFill>
                        <a:srgbClr val="C9D3E0"/>
                      </a:solidFill>
                    </a:lnT>
                    <a:lnB w="9525">
                      <a:solidFill>
                        <a:srgbClr val="C9D3E0"/>
                      </a:solidFill>
                    </a:lnB>
                    <a:solidFill>
                      <a:srgbClr val="FFFFFF"/>
                    </a:solidFill>
                  </a:tcPr>
                </a:tc>
                <a:tc>
                  <a:txBody>
                    <a:bodyPr/>
                    <a:lstStyle/>
                    <a:p>
                      <a:pPr marL="0" indent="0" algn="l">
                        <a:lnSpc>
                          <a:spcPct val="100000"/>
                        </a:lnSpc>
                        <a:spcBef>
                          <a:spcPts val="0"/>
                        </a:spcBef>
                        <a:spcAft>
                          <a:spcPts val="0"/>
                        </a:spcAft>
                        <a:buNone/>
                      </a:pPr>
                      <a:r>
                        <a:rPr lang="en-IN" sz="1300" dirty="0">
                          <a:solidFill>
                            <a:srgbClr val="1F2328"/>
                          </a:solidFill>
                          <a:latin typeface="Times New Roman" panose="02020603050405020304" pitchFamily="18" charset="0"/>
                          <a:cs typeface="Times New Roman" panose="02020603050405020304" pitchFamily="18" charset="0"/>
                        </a:rPr>
                        <a:t>Flat vs object-centric rankings, edges, variants, entities</a:t>
                      </a:r>
                    </a:p>
                  </a:txBody>
                  <a:tcPr marL="73152" marR="73152" marT="45720" marB="45720" anchor="ctr">
                    <a:lnL w="9525">
                      <a:solidFill>
                        <a:srgbClr val="C9D3E0"/>
                      </a:solidFill>
                    </a:lnL>
                    <a:lnR w="9525">
                      <a:solidFill>
                        <a:srgbClr val="C9D3E0"/>
                      </a:solidFill>
                    </a:lnR>
                    <a:lnT w="9525">
                      <a:solidFill>
                        <a:srgbClr val="C9D3E0"/>
                      </a:solidFill>
                    </a:lnT>
                    <a:lnB w="9525">
                      <a:solidFill>
                        <a:srgbClr val="C9D3E0"/>
                      </a:solidFill>
                    </a:lnB>
                    <a:solidFill>
                      <a:srgbClr val="FFFFFF"/>
                    </a:solidFill>
                  </a:tcPr>
                </a:tc>
              </a:tr>
              <a:tr h="566928">
                <a:tc>
                  <a:txBody>
                    <a:bodyPr/>
                    <a:lstStyle/>
                    <a:p>
                      <a:pPr marL="0" indent="0" algn="l">
                        <a:lnSpc>
                          <a:spcPct val="100000"/>
                        </a:lnSpc>
                        <a:spcBef>
                          <a:spcPts val="0"/>
                        </a:spcBef>
                        <a:spcAft>
                          <a:spcPts val="0"/>
                        </a:spcAft>
                        <a:buNone/>
                      </a:pPr>
                      <a:r>
                        <a:rPr lang="en-IN" sz="1300" dirty="0">
                          <a:solidFill>
                            <a:srgbClr val="1F2328"/>
                          </a:solidFill>
                          <a:latin typeface="Times New Roman" panose="02020603050405020304" pitchFamily="18" charset="0"/>
                          <a:cs typeface="Times New Roman" panose="02020603050405020304" pitchFamily="18" charset="0"/>
                        </a:rPr>
                        <a:t>M5</a:t>
                      </a:r>
                    </a:p>
                  </a:txBody>
                  <a:tcPr marL="73152" marR="73152" marT="45720" marB="45720" anchor="ctr">
                    <a:lnL w="9525">
                      <a:solidFill>
                        <a:srgbClr val="C9D3E0"/>
                      </a:solidFill>
                    </a:lnL>
                    <a:lnR w="9525">
                      <a:solidFill>
                        <a:srgbClr val="C9D3E0"/>
                      </a:solidFill>
                    </a:lnR>
                    <a:lnT w="9525">
                      <a:solidFill>
                        <a:srgbClr val="C9D3E0"/>
                      </a:solidFill>
                    </a:lnT>
                    <a:lnB w="9525">
                      <a:solidFill>
                        <a:srgbClr val="C9D3E0"/>
                      </a:solidFill>
                    </a:lnB>
                    <a:solidFill>
                      <a:srgbClr val="EEF3FA"/>
                    </a:solidFill>
                  </a:tcPr>
                </a:tc>
                <a:tc>
                  <a:txBody>
                    <a:bodyPr/>
                    <a:lstStyle/>
                    <a:p>
                      <a:pPr marL="0" indent="0" algn="l">
                        <a:lnSpc>
                          <a:spcPct val="100000"/>
                        </a:lnSpc>
                        <a:spcBef>
                          <a:spcPts val="0"/>
                        </a:spcBef>
                        <a:spcAft>
                          <a:spcPts val="0"/>
                        </a:spcAft>
                        <a:buNone/>
                      </a:pPr>
                      <a:r>
                        <a:rPr lang="en-IN" sz="1300" dirty="0">
                          <a:solidFill>
                            <a:srgbClr val="1F2328"/>
                          </a:solidFill>
                          <a:latin typeface="Times New Roman" panose="02020603050405020304" pitchFamily="18" charset="0"/>
                          <a:cs typeface="Times New Roman" panose="02020603050405020304" pitchFamily="18" charset="0"/>
                        </a:rPr>
                        <a:t>Predicate engine (appendix)</a:t>
                      </a:r>
                    </a:p>
                  </a:txBody>
                  <a:tcPr marL="73152" marR="73152" marT="45720" marB="45720" anchor="ctr">
                    <a:lnL w="9525">
                      <a:solidFill>
                        <a:srgbClr val="C9D3E0"/>
                      </a:solidFill>
                    </a:lnL>
                    <a:lnR w="9525">
                      <a:solidFill>
                        <a:srgbClr val="C9D3E0"/>
                      </a:solidFill>
                    </a:lnR>
                    <a:lnT w="9525">
                      <a:solidFill>
                        <a:srgbClr val="C9D3E0"/>
                      </a:solidFill>
                    </a:lnT>
                    <a:lnB w="9525">
                      <a:solidFill>
                        <a:srgbClr val="C9D3E0"/>
                      </a:solidFill>
                    </a:lnB>
                    <a:solidFill>
                      <a:srgbClr val="EEF3FA"/>
                    </a:solidFill>
                  </a:tcPr>
                </a:tc>
                <a:tc>
                  <a:txBody>
                    <a:bodyPr/>
                    <a:lstStyle/>
                    <a:p>
                      <a:pPr marL="0" indent="0" algn="l">
                        <a:lnSpc>
                          <a:spcPct val="100000"/>
                        </a:lnSpc>
                        <a:spcBef>
                          <a:spcPts val="0"/>
                        </a:spcBef>
                        <a:spcAft>
                          <a:spcPts val="0"/>
                        </a:spcAft>
                        <a:buNone/>
                      </a:pPr>
                      <a:r>
                        <a:rPr lang="en-IN" sz="1300" dirty="0">
                          <a:solidFill>
                            <a:srgbClr val="1F2328"/>
                          </a:solidFill>
                          <a:latin typeface="Times New Roman" panose="02020603050405020304" pitchFamily="18" charset="0"/>
                          <a:cs typeface="Times New Roman" panose="02020603050405020304" pitchFamily="18" charset="0"/>
                        </a:rPr>
                        <a:t>cooc.py, registry.py, run_cooc.py</a:t>
                      </a:r>
                    </a:p>
                  </a:txBody>
                  <a:tcPr marL="73152" marR="73152" marT="45720" marB="45720" anchor="ctr">
                    <a:lnL w="9525">
                      <a:solidFill>
                        <a:srgbClr val="C9D3E0"/>
                      </a:solidFill>
                    </a:lnL>
                    <a:lnR w="9525">
                      <a:solidFill>
                        <a:srgbClr val="C9D3E0"/>
                      </a:solidFill>
                    </a:lnR>
                    <a:lnT w="9525">
                      <a:solidFill>
                        <a:srgbClr val="C9D3E0"/>
                      </a:solidFill>
                    </a:lnT>
                    <a:lnB w="9525">
                      <a:solidFill>
                        <a:srgbClr val="C9D3E0"/>
                      </a:solidFill>
                    </a:lnB>
                    <a:solidFill>
                      <a:srgbClr val="EEF3FA"/>
                    </a:solidFill>
                  </a:tcPr>
                </a:tc>
                <a:tc>
                  <a:txBody>
                    <a:bodyPr/>
                    <a:lstStyle/>
                    <a:p>
                      <a:pPr marL="0" indent="0" algn="l">
                        <a:lnSpc>
                          <a:spcPct val="100000"/>
                        </a:lnSpc>
                        <a:spcBef>
                          <a:spcPts val="0"/>
                        </a:spcBef>
                        <a:spcAft>
                          <a:spcPts val="0"/>
                        </a:spcAft>
                        <a:buNone/>
                      </a:pPr>
                      <a:r>
                        <a:rPr lang="en-IN" sz="1300" dirty="0">
                          <a:solidFill>
                            <a:srgbClr val="1F2328"/>
                          </a:solidFill>
                          <a:latin typeface="Times New Roman" panose="02020603050405020304" pitchFamily="18" charset="0"/>
                          <a:cs typeface="Times New Roman" panose="02020603050405020304" pitchFamily="18" charset="0"/>
                        </a:rPr>
                        <a:t>11 natural rules on CROP and OULAD</a:t>
                      </a:r>
                    </a:p>
                  </a:txBody>
                  <a:tcPr marL="73152" marR="73152" marT="45720" marB="45720" anchor="ctr">
                    <a:lnL w="9525">
                      <a:solidFill>
                        <a:srgbClr val="C9D3E0"/>
                      </a:solidFill>
                    </a:lnL>
                    <a:lnR w="9525">
                      <a:solidFill>
                        <a:srgbClr val="C9D3E0"/>
                      </a:solidFill>
                    </a:lnR>
                    <a:lnT w="9525">
                      <a:solidFill>
                        <a:srgbClr val="C9D3E0"/>
                      </a:solidFill>
                    </a:lnT>
                    <a:lnB w="9525">
                      <a:solidFill>
                        <a:srgbClr val="C9D3E0"/>
                      </a:solidFill>
                    </a:lnB>
                    <a:solidFill>
                      <a:srgbClr val="EEF3FA"/>
                    </a:solidFill>
                  </a:tcPr>
                </a:tc>
              </a:tr>
              <a:tr h="566928">
                <a:tc>
                  <a:txBody>
                    <a:bodyPr/>
                    <a:lstStyle/>
                    <a:p>
                      <a:pPr marL="0" indent="0" algn="l">
                        <a:lnSpc>
                          <a:spcPct val="100000"/>
                        </a:lnSpc>
                        <a:spcBef>
                          <a:spcPts val="0"/>
                        </a:spcBef>
                        <a:spcAft>
                          <a:spcPts val="0"/>
                        </a:spcAft>
                        <a:buNone/>
                      </a:pPr>
                      <a:r>
                        <a:rPr lang="en-IN" sz="1300" dirty="0">
                          <a:solidFill>
                            <a:srgbClr val="1F2328"/>
                          </a:solidFill>
                          <a:latin typeface="Times New Roman" panose="02020603050405020304" pitchFamily="18" charset="0"/>
                          <a:cs typeface="Times New Roman" panose="02020603050405020304" pitchFamily="18" charset="0"/>
                        </a:rPr>
                        <a:t>M6</a:t>
                      </a:r>
                    </a:p>
                  </a:txBody>
                  <a:tcPr marL="73152" marR="73152" marT="45720" marB="45720" anchor="ctr">
                    <a:lnL w="9525">
                      <a:solidFill>
                        <a:srgbClr val="C9D3E0"/>
                      </a:solidFill>
                    </a:lnL>
                    <a:lnR w="9525">
                      <a:solidFill>
                        <a:srgbClr val="C9D3E0"/>
                      </a:solidFill>
                    </a:lnR>
                    <a:lnT w="9525">
                      <a:solidFill>
                        <a:srgbClr val="C9D3E0"/>
                      </a:solidFill>
                    </a:lnT>
                    <a:lnB w="9525">
                      <a:solidFill>
                        <a:srgbClr val="C9D3E0"/>
                      </a:solidFill>
                    </a:lnB>
                    <a:solidFill>
                      <a:srgbClr val="FFFFFF"/>
                    </a:solidFill>
                  </a:tcPr>
                </a:tc>
                <a:tc>
                  <a:txBody>
                    <a:bodyPr/>
                    <a:lstStyle/>
                    <a:p>
                      <a:pPr marL="0" indent="0" algn="l">
                        <a:lnSpc>
                          <a:spcPct val="100000"/>
                        </a:lnSpc>
                        <a:spcBef>
                          <a:spcPts val="0"/>
                        </a:spcBef>
                        <a:spcAft>
                          <a:spcPts val="0"/>
                        </a:spcAft>
                        <a:buNone/>
                      </a:pPr>
                      <a:r>
                        <a:rPr lang="en-IN" sz="1300" dirty="0">
                          <a:solidFill>
                            <a:srgbClr val="1F2328"/>
                          </a:solidFill>
                          <a:latin typeface="Times New Roman" panose="02020603050405020304" pitchFamily="18" charset="0"/>
                          <a:cs typeface="Times New Roman" panose="02020603050405020304" pitchFamily="18" charset="0"/>
                        </a:rPr>
                        <a:t>Validation</a:t>
                      </a:r>
                    </a:p>
                  </a:txBody>
                  <a:tcPr marL="73152" marR="73152" marT="45720" marB="45720" anchor="ctr">
                    <a:lnL w="9525">
                      <a:solidFill>
                        <a:srgbClr val="C9D3E0"/>
                      </a:solidFill>
                    </a:lnL>
                    <a:lnR w="9525">
                      <a:solidFill>
                        <a:srgbClr val="C9D3E0"/>
                      </a:solidFill>
                    </a:lnR>
                    <a:lnT w="9525">
                      <a:solidFill>
                        <a:srgbClr val="C9D3E0"/>
                      </a:solidFill>
                    </a:lnT>
                    <a:lnB w="9525">
                      <a:solidFill>
                        <a:srgbClr val="C9D3E0"/>
                      </a:solidFill>
                    </a:lnB>
                    <a:solidFill>
                      <a:srgbClr val="FFFFFF"/>
                    </a:solidFill>
                  </a:tcPr>
                </a:tc>
                <a:tc>
                  <a:txBody>
                    <a:bodyPr/>
                    <a:lstStyle/>
                    <a:p>
                      <a:pPr marL="0" indent="0" algn="l">
                        <a:lnSpc>
                          <a:spcPct val="100000"/>
                        </a:lnSpc>
                        <a:spcBef>
                          <a:spcPts val="0"/>
                        </a:spcBef>
                        <a:spcAft>
                          <a:spcPts val="0"/>
                        </a:spcAft>
                        <a:buNone/>
                      </a:pPr>
                      <a:r>
                        <a:rPr lang="en-IN" sz="1300" dirty="0">
                          <a:solidFill>
                            <a:srgbClr val="1F2328"/>
                          </a:solidFill>
                          <a:latin typeface="Times New Roman" panose="02020603050405020304" pitchFamily="18" charset="0"/>
                          <a:cs typeface="Times New Roman" panose="02020603050405020304" pitchFamily="18" charset="0"/>
                        </a:rPr>
                        <a:t>sql_crosscheck.py, check_consequence.py</a:t>
                      </a:r>
                    </a:p>
                  </a:txBody>
                  <a:tcPr marL="73152" marR="73152" marT="45720" marB="45720" anchor="ctr">
                    <a:lnL w="9525">
                      <a:solidFill>
                        <a:srgbClr val="C9D3E0"/>
                      </a:solidFill>
                    </a:lnL>
                    <a:lnR w="9525">
                      <a:solidFill>
                        <a:srgbClr val="C9D3E0"/>
                      </a:solidFill>
                    </a:lnR>
                    <a:lnT w="9525">
                      <a:solidFill>
                        <a:srgbClr val="C9D3E0"/>
                      </a:solidFill>
                    </a:lnT>
                    <a:lnB w="9525">
                      <a:solidFill>
                        <a:srgbClr val="C9D3E0"/>
                      </a:solidFill>
                    </a:lnB>
                    <a:solidFill>
                      <a:srgbClr val="FFFFFF"/>
                    </a:solidFill>
                  </a:tcPr>
                </a:tc>
                <a:tc>
                  <a:txBody>
                    <a:bodyPr/>
                    <a:lstStyle/>
                    <a:p>
                      <a:pPr marL="0" indent="0" algn="l">
                        <a:lnSpc>
                          <a:spcPct val="100000"/>
                        </a:lnSpc>
                        <a:spcBef>
                          <a:spcPts val="0"/>
                        </a:spcBef>
                        <a:spcAft>
                          <a:spcPts val="0"/>
                        </a:spcAft>
                        <a:buNone/>
                      </a:pPr>
                      <a:r>
                        <a:rPr lang="en-IN" sz="1300" dirty="0">
                          <a:solidFill>
                            <a:srgbClr val="1F2328"/>
                          </a:solidFill>
                          <a:latin typeface="Times New Roman" panose="02020603050405020304" pitchFamily="18" charset="0"/>
                          <a:cs typeface="Times New Roman" panose="02020603050405020304" pitchFamily="18" charset="0"/>
                        </a:rPr>
                        <a:t>Independent SQL and brute-force re-implementations</a:t>
                      </a:r>
                    </a:p>
                  </a:txBody>
                  <a:tcPr marL="73152" marR="73152" marT="45720" marB="45720" anchor="ctr">
                    <a:lnL w="9525">
                      <a:solidFill>
                        <a:srgbClr val="C9D3E0"/>
                      </a:solidFill>
                    </a:lnL>
                    <a:lnR w="9525">
                      <a:solidFill>
                        <a:srgbClr val="C9D3E0"/>
                      </a:solidFill>
                    </a:lnR>
                    <a:lnT w="9525">
                      <a:solidFill>
                        <a:srgbClr val="C9D3E0"/>
                      </a:solidFill>
                    </a:lnT>
                    <a:lnB w="9525">
                      <a:solidFill>
                        <a:srgbClr val="C9D3E0"/>
                      </a:solidFill>
                    </a:lnB>
                    <a:solidFill>
                      <a:srgbClr val="FFFFFF"/>
                    </a:solidFill>
                  </a:tcPr>
                </a:tc>
              </a:tr>
              <a:tr h="566928">
                <a:tc>
                  <a:txBody>
                    <a:bodyPr/>
                    <a:lstStyle/>
                    <a:p>
                      <a:pPr marL="0" indent="0" algn="l">
                        <a:lnSpc>
                          <a:spcPct val="100000"/>
                        </a:lnSpc>
                        <a:spcBef>
                          <a:spcPts val="0"/>
                        </a:spcBef>
                        <a:spcAft>
                          <a:spcPts val="0"/>
                        </a:spcAft>
                        <a:buNone/>
                      </a:pPr>
                      <a:r>
                        <a:rPr lang="en-IN" sz="1300" dirty="0">
                          <a:solidFill>
                            <a:srgbClr val="1F2328"/>
                          </a:solidFill>
                          <a:latin typeface="Times New Roman" panose="02020603050405020304" pitchFamily="18" charset="0"/>
                          <a:cs typeface="Times New Roman" panose="02020603050405020304" pitchFamily="18" charset="0"/>
                        </a:rPr>
                        <a:t>M7</a:t>
                      </a:r>
                    </a:p>
                  </a:txBody>
                  <a:tcPr marL="73152" marR="73152" marT="45720" marB="45720" anchor="ctr">
                    <a:lnL w="9525">
                      <a:solidFill>
                        <a:srgbClr val="C9D3E0"/>
                      </a:solidFill>
                    </a:lnL>
                    <a:lnR w="9525">
                      <a:solidFill>
                        <a:srgbClr val="C9D3E0"/>
                      </a:solidFill>
                    </a:lnR>
                    <a:lnT w="9525">
                      <a:solidFill>
                        <a:srgbClr val="C9D3E0"/>
                      </a:solidFill>
                    </a:lnT>
                    <a:lnB w="9525">
                      <a:solidFill>
                        <a:srgbClr val="C9D3E0"/>
                      </a:solidFill>
                    </a:lnB>
                    <a:solidFill>
                      <a:srgbClr val="EEF3FA"/>
                    </a:solidFill>
                  </a:tcPr>
                </a:tc>
                <a:tc>
                  <a:txBody>
                    <a:bodyPr/>
                    <a:lstStyle/>
                    <a:p>
                      <a:pPr marL="0" indent="0" algn="l">
                        <a:lnSpc>
                          <a:spcPct val="100000"/>
                        </a:lnSpc>
                        <a:spcBef>
                          <a:spcPts val="0"/>
                        </a:spcBef>
                        <a:spcAft>
                          <a:spcPts val="0"/>
                        </a:spcAft>
                        <a:buNone/>
                      </a:pPr>
                      <a:r>
                        <a:rPr lang="en-IN" sz="1300" dirty="0">
                          <a:solidFill>
                            <a:srgbClr val="1F2328"/>
                          </a:solidFill>
                          <a:latin typeface="Times New Roman" panose="02020603050405020304" pitchFamily="18" charset="0"/>
                          <a:cs typeface="Times New Roman" panose="02020603050405020304" pitchFamily="18" charset="0"/>
                        </a:rPr>
                        <a:t>Summaries</a:t>
                      </a:r>
                    </a:p>
                  </a:txBody>
                  <a:tcPr marL="73152" marR="73152" marT="45720" marB="45720" anchor="ctr">
                    <a:lnL w="9525">
                      <a:solidFill>
                        <a:srgbClr val="C9D3E0"/>
                      </a:solidFill>
                    </a:lnL>
                    <a:lnR w="9525">
                      <a:solidFill>
                        <a:srgbClr val="C9D3E0"/>
                      </a:solidFill>
                    </a:lnR>
                    <a:lnT w="9525">
                      <a:solidFill>
                        <a:srgbClr val="C9D3E0"/>
                      </a:solidFill>
                    </a:lnT>
                    <a:lnB w="9525">
                      <a:solidFill>
                        <a:srgbClr val="C9D3E0"/>
                      </a:solidFill>
                    </a:lnB>
                    <a:solidFill>
                      <a:srgbClr val="EEF3FA"/>
                    </a:solidFill>
                  </a:tcPr>
                </a:tc>
                <a:tc>
                  <a:txBody>
                    <a:bodyPr/>
                    <a:lstStyle/>
                    <a:p>
                      <a:pPr marL="0" indent="0" algn="l">
                        <a:lnSpc>
                          <a:spcPct val="100000"/>
                        </a:lnSpc>
                        <a:spcBef>
                          <a:spcPts val="0"/>
                        </a:spcBef>
                        <a:spcAft>
                          <a:spcPts val="0"/>
                        </a:spcAft>
                        <a:buNone/>
                      </a:pPr>
                      <a:r>
                        <a:rPr lang="en-IN" sz="1300" dirty="0">
                          <a:solidFill>
                            <a:srgbClr val="1F2328"/>
                          </a:solidFill>
                          <a:latin typeface="Times New Roman" panose="02020603050405020304" pitchFamily="18" charset="0"/>
                          <a:cs typeface="Times New Roman" panose="02020603050405020304" pitchFamily="18" charset="0"/>
                        </a:rPr>
                        <a:t>summarize_distortion.py, summarize_log_level.py, summarize_consequence.py</a:t>
                      </a:r>
                    </a:p>
                  </a:txBody>
                  <a:tcPr marL="73152" marR="73152" marT="45720" marB="45720" anchor="ctr">
                    <a:lnL w="9525">
                      <a:solidFill>
                        <a:srgbClr val="C9D3E0"/>
                      </a:solidFill>
                    </a:lnL>
                    <a:lnR w="9525">
                      <a:solidFill>
                        <a:srgbClr val="C9D3E0"/>
                      </a:solidFill>
                    </a:lnR>
                    <a:lnT w="9525">
                      <a:solidFill>
                        <a:srgbClr val="C9D3E0"/>
                      </a:solidFill>
                    </a:lnT>
                    <a:lnB w="9525">
                      <a:solidFill>
                        <a:srgbClr val="C9D3E0"/>
                      </a:solidFill>
                    </a:lnB>
                    <a:solidFill>
                      <a:srgbClr val="EEF3FA"/>
                    </a:solidFill>
                  </a:tcPr>
                </a:tc>
                <a:tc>
                  <a:txBody>
                    <a:bodyPr/>
                    <a:lstStyle/>
                    <a:p>
                      <a:pPr marL="0" indent="0" algn="l">
                        <a:lnSpc>
                          <a:spcPct val="100000"/>
                        </a:lnSpc>
                        <a:spcBef>
                          <a:spcPts val="0"/>
                        </a:spcBef>
                        <a:spcAft>
                          <a:spcPts val="0"/>
                        </a:spcAft>
                        <a:buNone/>
                      </a:pPr>
                      <a:r>
                        <a:rPr lang="en-IN" sz="1300" dirty="0">
                          <a:solidFill>
                            <a:srgbClr val="1F2328"/>
                          </a:solidFill>
                          <a:latin typeface="Times New Roman" panose="02020603050405020304" pitchFamily="18" charset="0"/>
                          <a:cs typeface="Times New Roman" panose="02020603050405020304" pitchFamily="18" charset="0"/>
                        </a:rPr>
                        <a:t>Tables for the report and the paper</a:t>
                      </a:r>
                    </a:p>
                  </a:txBody>
                  <a:tcPr marL="73152" marR="73152" marT="45720" marB="45720" anchor="ctr">
                    <a:lnL w="9525">
                      <a:solidFill>
                        <a:srgbClr val="C9D3E0"/>
                      </a:solidFill>
                    </a:lnL>
                    <a:lnR w="9525">
                      <a:solidFill>
                        <a:srgbClr val="C9D3E0"/>
                      </a:solidFill>
                    </a:lnR>
                    <a:lnT w="9525">
                      <a:solidFill>
                        <a:srgbClr val="C9D3E0"/>
                      </a:solidFill>
                    </a:lnT>
                    <a:lnB w="9525">
                      <a:solidFill>
                        <a:srgbClr val="C9D3E0"/>
                      </a:solidFill>
                    </a:lnB>
                    <a:solidFill>
                      <a:srgbClr val="EEF3FA"/>
                    </a:solidFill>
                  </a:tcPr>
                </a:tc>
              </a:tr>
            </a:tbl>
          </a:graphicData>
        </a:graphic>
      </p:graphicFrame>
      <p:sp>
        <p:nvSpPr>
          <p:cNvPr id="4" name="Date Placeholder"/>
          <p:cNvSpPr>
            <a:spLocks noGrp="1"/>
          </p:cNvSpPr>
          <p:nvPr>
            <p:ph type="dt" sz="half" idx="10"/>
          </p:nvPr>
        </p:nvSpPr>
        <p:spPr/>
        <p:txBody>
          <a:bodyPr/>
          <a:lstStyle/>
          <a:p>
            <a:fld id="{61736562-4E3F-4038-A291-A7AE35CC3E6A}" type="datetime1">
              <a:rPr lang="en-IN" smtClean="0"/>
              <a:t>28/10/26</a:t>
            </a:fld>
            <a:endParaRPr lang="en-IN"/>
          </a:p>
        </p:txBody>
      </p:sp>
      <p:sp>
        <p:nvSpPr>
          <p:cNvPr id="5" name="Footer Placeholder"/>
          <p:cNvSpPr>
            <a:spLocks noGrp="1"/>
          </p:cNvSpPr>
          <p:nvPr>
            <p:ph type="ftr" sz="quarter" idx="11"/>
          </p:nvPr>
        </p:nvSpPr>
        <p:spPr/>
        <p:txBody>
          <a:bodyPr/>
          <a:lstStyle/>
          <a:p>
            <a:r>
              <a:rPr lang="en-IN"/>
              <a:t>SCOPE</a:t>
            </a:r>
          </a:p>
        </p:txBody>
      </p:sp>
      <p:sp>
        <p:nvSpPr>
          <p:cNvPr id="6" name="Slide Number Placeholder"/>
          <p:cNvSpPr>
            <a:spLocks noGrp="1"/>
          </p:cNvSpPr>
          <p:nvPr>
            <p:ph type="sldNum" sz="quarter" idx="12"/>
          </p:nvPr>
        </p:nvSpPr>
        <p:spPr/>
        <p:txBody>
          <a:bodyPr/>
          <a:lstStyle/>
          <a:p>
            <a:fld id="{65201FD4-9D8D-4491-815B-63C7BF4F0034}" type="slidenum">
              <a:rPr lang="en-IN" smtClean="0"/>
              <a:t>12</a:t>
            </a:fld>
            <a:endParaRPr lang="en-IN"/>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a:spLocks noGrp="1"/>
          </p:cNvSpPr>
          <p:nvPr>
            <p:ph type="title"/>
          </p:nvPr>
        </p:nvSpPr>
        <p:spPr>
          <a:xfrm>
            <a:off x="457200" y="502920"/>
            <a:ext cx="11274552" cy="685800"/>
          </a:xfrm>
          <a:prstGeom prst="rect">
            <a:avLst/>
          </a:prstGeom>
        </p:spPr>
        <p:txBody>
          <a:bodyPr vert="horz" wrap="square" lIns="0" tIns="0" rIns="0" bIns="0" rtlCol="0" anchor="ctr">
            <a:noAutofit/>
          </a:bodyPr>
          <a:lstStyle/>
          <a:p>
            <a:pPr marL="0">
              <a:lnSpc>
                <a:spcPct val="100000"/>
              </a:lnSpc>
            </a:pPr>
            <a:r>
              <a:rPr lang="en-IN" sz="3000" b="1" dirty="0">
                <a:latin typeface="Times New Roman" panose="02020603050405020304" pitchFamily="18" charset="0"/>
                <a:cs typeface="Times New Roman" panose="02020603050405020304" pitchFamily="18" charset="0"/>
              </a:rPr>
              <a:t>Live Demonstration</a:t>
            </a:r>
          </a:p>
        </p:txBody>
      </p:sp>
      <p:sp>
        <p:nvSpPr>
          <p:cNvPr id="3" name="Terminal 3"/>
          <p:cNvSpPr txBox="1"/>
          <p:nvPr/>
        </p:nvSpPr>
        <p:spPr>
          <a:xfrm>
            <a:off x="457200" y="1371600"/>
            <a:ext cx="7223760" cy="4663440"/>
          </a:xfrm>
          <a:prstGeom prst="roundRect">
            <a:avLst>
              <a:gd name="adj" fmla="val 6000"/>
            </a:avLst>
          </a:prstGeom>
          <a:solidFill>
            <a:srgbClr val="1F2328"/>
          </a:solidFill>
          <a:ln>
            <a:noFill/>
          </a:ln>
        </p:spPr>
        <p:txBody>
          <a:bodyPr wrap="square" lIns="228600" tIns="160020" rIns="228600" bIns="160020" rtlCol="0" anchor="ctr">
            <a:noAutofit/>
          </a:bodyPr>
          <a:lstStyle/>
          <a:p>
            <a:pPr marL="0" indent="0" algn="l">
              <a:lnSpc>
                <a:spcPct val="100000"/>
              </a:lnSpc>
              <a:spcBef>
                <a:spcPts val="0"/>
              </a:spcBef>
              <a:spcAft>
                <a:spcPts val="600"/>
              </a:spcAft>
              <a:buNone/>
            </a:pPr>
            <a:r>
              <a:rPr lang="en-IN" sz="1700" dirty="0">
                <a:solidFill>
                  <a:srgbClr val="9AD0FF"/>
                </a:solidFill>
                <a:latin typeface="Courier New"/>
                <a:cs typeface="Courier New"/>
              </a:rPr>
              <a:t>cd realdata</a:t>
            </a:r>
          </a:p>
          <a:p>
            <a:pPr marL="0" indent="0" algn="l">
              <a:lnSpc>
                <a:spcPct val="100000"/>
              </a:lnSpc>
              <a:spcBef>
                <a:spcPts val="1400"/>
              </a:spcBef>
              <a:spcAft>
                <a:spcPts val="0"/>
              </a:spcAft>
              <a:buNone/>
            </a:pPr>
            <a:r>
              <a:rPr lang="en-IN" sz="1700" b="1" dirty="0">
                <a:solidFill>
                  <a:srgbClr val="FFB86B"/>
                </a:solidFill>
                <a:latin typeface="Courier New"/>
                <a:cs typeface="Courier New"/>
              </a:rPr>
              <a:t>1  </a:t>
            </a:r>
            <a:r>
              <a:rPr lang="en-IN" sz="1700" dirty="0">
                <a:solidFill>
                  <a:srgbClr val="F5F5F5"/>
                </a:solidFill>
                <a:latin typeface="Courier New"/>
                <a:cs typeface="Courier New"/>
              </a:rPr>
              <a:t>python3 -I src/fetch_sources.py</a:t>
            </a:r>
          </a:p>
          <a:p>
            <a:pPr marL="0" indent="0" algn="l">
              <a:lnSpc>
                <a:spcPct val="100000"/>
              </a:lnSpc>
              <a:spcBef>
                <a:spcPts val="1400"/>
              </a:spcBef>
              <a:spcAft>
                <a:spcPts val="0"/>
              </a:spcAft>
              <a:buNone/>
            </a:pPr>
            <a:r>
              <a:rPr lang="en-IN" sz="1700" b="1" dirty="0">
                <a:solidFill>
                  <a:srgbClr val="FFB86B"/>
                </a:solidFill>
                <a:latin typeface="Courier New"/>
                <a:cs typeface="Courier New"/>
              </a:rPr>
              <a:t>2  </a:t>
            </a:r>
            <a:r>
              <a:rPr lang="en-IN" sz="1700" dirty="0">
                <a:solidFill>
                  <a:srgbClr val="F5F5F5"/>
                </a:solidFill>
                <a:latin typeface="Courier New"/>
                <a:cs typeface="Courier New"/>
              </a:rPr>
              <a:t>.venv/bin/python -I src/check_consequence.py</a:t>
            </a:r>
          </a:p>
          <a:p>
            <a:pPr marL="0" indent="0" algn="l">
              <a:lnSpc>
                <a:spcPct val="100000"/>
              </a:lnSpc>
              <a:spcBef>
                <a:spcPts val="1400"/>
              </a:spcBef>
              <a:spcAft>
                <a:spcPts val="0"/>
              </a:spcAft>
              <a:buNone/>
            </a:pPr>
            <a:r>
              <a:rPr lang="en-IN" sz="1700" b="1" dirty="0">
                <a:solidFill>
                  <a:srgbClr val="FFB86B"/>
                </a:solidFill>
                <a:latin typeface="Courier New"/>
                <a:cs typeface="Courier New"/>
              </a:rPr>
              <a:t>3  </a:t>
            </a:r>
            <a:r>
              <a:rPr lang="en-IN" sz="1700" dirty="0">
                <a:solidFill>
                  <a:srgbClr val="F5F5F5"/>
                </a:solidFill>
                <a:latin typeface="Courier New"/>
                <a:cs typeface="Courier New"/>
              </a:rPr>
              <a:t>.venv/bin/python -I src/distortion.py enron</a:t>
            </a:r>
          </a:p>
          <a:p>
            <a:pPr marL="0" indent="0" algn="l">
              <a:lnSpc>
                <a:spcPct val="100000"/>
              </a:lnSpc>
              <a:spcBef>
                <a:spcPts val="1400"/>
              </a:spcBef>
              <a:spcAft>
                <a:spcPts val="0"/>
              </a:spcAft>
              <a:buNone/>
            </a:pPr>
            <a:r>
              <a:rPr lang="en-IN" sz="1700" b="1" dirty="0">
                <a:solidFill>
                  <a:srgbClr val="FFB86B"/>
                </a:solidFill>
                <a:latin typeface="Courier New"/>
                <a:cs typeface="Courier New"/>
              </a:rPr>
              <a:t>4  </a:t>
            </a:r>
            <a:r>
              <a:rPr lang="en-IN" sz="1700" dirty="0">
                <a:solidFill>
                  <a:srgbClr val="F5F5F5"/>
                </a:solidFill>
                <a:latin typeface="Courier New"/>
                <a:cs typeface="Courier New"/>
              </a:rPr>
              <a:t>.venv/bin/python -I src/consequence.py enron</a:t>
            </a:r>
          </a:p>
          <a:p>
            <a:pPr marL="0" indent="0" algn="l">
              <a:lnSpc>
                <a:spcPct val="100000"/>
              </a:lnSpc>
              <a:spcBef>
                <a:spcPts val="1400"/>
              </a:spcBef>
              <a:spcAft>
                <a:spcPts val="0"/>
              </a:spcAft>
              <a:buNone/>
            </a:pPr>
            <a:r>
              <a:rPr lang="en-IN" sz="1700" b="1" dirty="0">
                <a:solidFill>
                  <a:srgbClr val="FFB86B"/>
                </a:solidFill>
                <a:latin typeface="Courier New"/>
                <a:cs typeface="Courier New"/>
              </a:rPr>
              <a:t>5  </a:t>
            </a:r>
            <a:r>
              <a:rPr lang="en-IN" sz="1700" dirty="0">
                <a:solidFill>
                  <a:srgbClr val="F5F5F5"/>
                </a:solidFill>
                <a:latin typeface="Courier New"/>
                <a:cs typeface="Courier New"/>
              </a:rPr>
              <a:t>open results/consequence_by_log.md</a:t>
            </a:r>
          </a:p>
        </p:txBody>
      </p:sp>
      <p:sp>
        <p:nvSpPr>
          <p:cNvPr id="4" name="Explain 4"/>
          <p:cNvSpPr txBox="1"/>
          <p:nvPr/>
        </p:nvSpPr>
        <p:spPr>
          <a:xfrm>
            <a:off x="7909560" y="1371600"/>
            <a:ext cx="3822192" cy="4663440"/>
          </a:xfrm>
          <a:prstGeom prst="roundRect">
            <a:avLst>
              <a:gd name="adj" fmla="val 6000"/>
            </a:avLst>
          </a:prstGeom>
          <a:solidFill>
            <a:srgbClr val="F3F6FA"/>
          </a:solidFill>
          <a:ln>
            <a:noFill/>
          </a:ln>
        </p:spPr>
        <p:txBody>
          <a:bodyPr wrap="square" lIns="109728" tIns="76810" rIns="109728" bIns="76810" rtlCol="0" anchor="t">
            <a:noAutofit/>
          </a:bodyPr>
          <a:lstStyle/>
          <a:p>
            <a:pPr marL="0" indent="0" algn="l">
              <a:lnSpc>
                <a:spcPct val="100000"/>
              </a:lnSpc>
              <a:spcBef>
                <a:spcPts val="0"/>
              </a:spcBef>
              <a:spcAft>
                <a:spcPts val="400"/>
              </a:spcAft>
              <a:buNone/>
            </a:pPr>
            <a:r>
              <a:rPr lang="en-IN" sz="1600" b="1" dirty="0">
                <a:solidFill>
                  <a:srgbClr val="2A78D6"/>
                </a:solidFill>
                <a:latin typeface="Times New Roman" panose="02020603050405020304" pitchFamily="18" charset="0"/>
                <a:cs typeface="Times New Roman" panose="02020603050405020304" pitchFamily="18" charset="0"/>
              </a:rPr>
              <a:t>What the panel will see</a:t>
            </a:r>
          </a:p>
          <a:p>
            <a:pPr marL="285750" indent="-285750" algn="l">
              <a:lnSpc>
                <a:spcPct val="100000"/>
              </a:lnSpc>
              <a:spcBef>
                <a:spcPts val="1100"/>
              </a:spcBef>
              <a:spcAft>
                <a:spcPts val="0"/>
              </a:spcAft>
              <a:buFont typeface="Arial" panose="020B0604020202020204" pitchFamily="34" charset="0"/>
              <a:buChar char="•"/>
            </a:pPr>
            <a:r>
              <a:rPr lang="en-IN" sz="1500" dirty="0">
                <a:solidFill>
                  <a:srgbClr val="1F2328"/>
                </a:solidFill>
                <a:latin typeface="Times New Roman" panose="02020603050405020304" pitchFamily="18" charset="0"/>
                <a:cs typeface="Times New Roman" panose="02020603050405020304" pitchFamily="18" charset="0"/>
              </a:rPr>
              <a:t>all 8 sources already present</a:t>
            </a:r>
          </a:p>
          <a:p>
            <a:pPr marL="285750" indent="-285750" algn="l">
              <a:lnSpc>
                <a:spcPct val="100000"/>
              </a:lnSpc>
              <a:spcBef>
                <a:spcPts val="1100"/>
              </a:spcBef>
              <a:spcAft>
                <a:spcPts val="0"/>
              </a:spcAft>
              <a:buFont typeface="Arial" panose="020B0604020202020204" pitchFamily="34" charset="0"/>
              <a:buChar char="•"/>
            </a:pPr>
            <a:r>
              <a:rPr lang="en-IN" sz="1500" dirty="0">
                <a:solidFill>
                  <a:srgbClr val="1F2328"/>
                </a:solidFill>
                <a:latin typeface="Times New Roman" panose="02020603050405020304" pitchFamily="18" charset="0"/>
                <a:cs typeface="Times New Roman" panose="02020603050405020304" pitchFamily="18" charset="0"/>
              </a:rPr>
              <a:t>self-check against a plain-Python version</a:t>
            </a:r>
          </a:p>
          <a:p>
            <a:pPr marL="285750" indent="-285750" algn="l">
              <a:lnSpc>
                <a:spcPct val="100000"/>
              </a:lnSpc>
              <a:spcBef>
                <a:spcPts val="1100"/>
              </a:spcBef>
              <a:spcAft>
                <a:spcPts val="0"/>
              </a:spcAft>
              <a:buFont typeface="Arial" panose="020B0604020202020204" pitchFamily="34" charset="0"/>
              <a:buChar char="•"/>
            </a:pPr>
            <a:r>
              <a:rPr lang="en-IN" sz="1500" dirty="0">
                <a:solidFill>
                  <a:srgbClr val="1F2328"/>
                </a:solidFill>
                <a:latin typeface="Times New Roman" panose="02020603050405020304" pitchFamily="18" charset="0"/>
                <a:cs typeface="Times New Roman" panose="02020603050405020304" pitchFamily="18" charset="0"/>
              </a:rPr>
              <a:t>flat[...] table for Enron (about 10 s)</a:t>
            </a:r>
          </a:p>
          <a:p>
            <a:pPr marL="285750" indent="-285750" algn="l">
              <a:lnSpc>
                <a:spcPct val="100000"/>
              </a:lnSpc>
              <a:spcBef>
                <a:spcPts val="1100"/>
              </a:spcBef>
              <a:spcAft>
                <a:spcPts val="0"/>
              </a:spcAft>
              <a:buFont typeface="Arial" panose="020B0604020202020204" pitchFamily="34" charset="0"/>
              <a:buChar char="•"/>
            </a:pPr>
            <a:r>
              <a:rPr lang="en-IN" sz="1500" dirty="0">
                <a:solidFill>
                  <a:srgbClr val="1F2328"/>
                </a:solidFill>
                <a:latin typeface="Times New Roman" panose="02020603050405020304" pitchFamily="18" charset="0"/>
                <a:cs typeface="Times New Roman" panose="02020603050405020304" pitchFamily="18" charset="0"/>
              </a:rPr>
              <a:t>rankings, edges, variants (about 4 s)</a:t>
            </a:r>
          </a:p>
          <a:p>
            <a:pPr marL="285750" indent="-285750" algn="l">
              <a:lnSpc>
                <a:spcPct val="100000"/>
              </a:lnSpc>
              <a:spcBef>
                <a:spcPts val="1100"/>
              </a:spcBef>
              <a:spcAft>
                <a:spcPts val="0"/>
              </a:spcAft>
              <a:buFont typeface="Arial" panose="020B0604020202020204" pitchFamily="34" charset="0"/>
              <a:buChar char="•"/>
            </a:pPr>
            <a:r>
              <a:rPr lang="en-IN" sz="1500" dirty="0">
                <a:solidFill>
                  <a:srgbClr val="1F2328"/>
                </a:solidFill>
                <a:latin typeface="Times New Roman" panose="02020603050405020304" pitchFamily="18" charset="0"/>
                <a:cs typeface="Times New Roman" panose="02020603050405020304" pitchFamily="18" charset="0"/>
              </a:rPr>
              <a:t>the cross-log summary table</a:t>
            </a:r>
          </a:p>
          <a:p>
            <a:pPr marL="0" indent="0" algn="l">
              <a:lnSpc>
                <a:spcPct val="100000"/>
              </a:lnSpc>
              <a:spcBef>
                <a:spcPts val="1400"/>
              </a:spcBef>
              <a:spcAft>
                <a:spcPts val="0"/>
              </a:spcAft>
              <a:buNone/>
            </a:pPr>
            <a:r>
              <a:rPr lang="en-IN" sz="1300" i="1" dirty="0">
                <a:solidFill>
                  <a:srgbClr val="5B616B"/>
                </a:solidFill>
                <a:latin typeface="Times New Roman" panose="02020603050405020304" pitchFamily="18" charset="0"/>
                <a:cs typeface="Times New Roman" panose="02020603050405020304" pitchFamily="18" charset="0"/>
              </a:rPr>
              <a:t>Full run: make study (5 min 21 s on our laptop)</a:t>
            </a:r>
          </a:p>
        </p:txBody>
      </p:sp>
      <p:sp>
        <p:nvSpPr>
          <p:cNvPr id="5" name="Date Placeholder"/>
          <p:cNvSpPr>
            <a:spLocks noGrp="1"/>
          </p:cNvSpPr>
          <p:nvPr>
            <p:ph type="dt" sz="half" idx="10"/>
          </p:nvPr>
        </p:nvSpPr>
        <p:spPr/>
        <p:txBody>
          <a:bodyPr/>
          <a:lstStyle/>
          <a:p>
            <a:fld id="{61736562-4E3F-4038-A291-A7AE35CC3E6A}" type="datetime1">
              <a:rPr lang="en-IN" smtClean="0"/>
              <a:t>28/10/26</a:t>
            </a:fld>
            <a:endParaRPr lang="en-IN"/>
          </a:p>
        </p:txBody>
      </p:sp>
      <p:sp>
        <p:nvSpPr>
          <p:cNvPr id="6" name="Footer Placeholder"/>
          <p:cNvSpPr>
            <a:spLocks noGrp="1"/>
          </p:cNvSpPr>
          <p:nvPr>
            <p:ph type="ftr" sz="quarter" idx="11"/>
          </p:nvPr>
        </p:nvSpPr>
        <p:spPr/>
        <p:txBody>
          <a:bodyPr/>
          <a:lstStyle/>
          <a:p>
            <a:r>
              <a:rPr lang="en-IN"/>
              <a:t>SCOPE</a:t>
            </a:r>
          </a:p>
        </p:txBody>
      </p:sp>
      <p:sp>
        <p:nvSpPr>
          <p:cNvPr id="7" name="Slide Number Placeholder"/>
          <p:cNvSpPr>
            <a:spLocks noGrp="1"/>
          </p:cNvSpPr>
          <p:nvPr>
            <p:ph type="sldNum" sz="quarter" idx="12"/>
          </p:nvPr>
        </p:nvSpPr>
        <p:spPr/>
        <p:txBody>
          <a:bodyPr/>
          <a:lstStyle/>
          <a:p>
            <a:fld id="{65201FD4-9D8D-4491-815B-63C7BF4F0034}" type="slidenum">
              <a:rPr lang="en-IN" smtClean="0"/>
              <a:t>13</a:t>
            </a:fld>
            <a:endParaRPr lang="en-IN"/>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a:spLocks noGrp="1"/>
          </p:cNvSpPr>
          <p:nvPr>
            <p:ph type="title"/>
          </p:nvPr>
        </p:nvSpPr>
        <p:spPr>
          <a:xfrm>
            <a:off x="457200" y="502920"/>
            <a:ext cx="11274552" cy="685800"/>
          </a:xfrm>
          <a:prstGeom prst="rect">
            <a:avLst/>
          </a:prstGeom>
        </p:spPr>
        <p:txBody>
          <a:bodyPr vert="horz" wrap="square" lIns="0" tIns="0" rIns="0" bIns="0" rtlCol="0" anchor="ctr">
            <a:noAutofit/>
          </a:bodyPr>
          <a:lstStyle/>
          <a:p>
            <a:pPr marL="0">
              <a:lnSpc>
                <a:spcPct val="100000"/>
              </a:lnSpc>
            </a:pPr>
            <a:r>
              <a:rPr lang="en-IN" sz="3000" b="1" dirty="0">
                <a:latin typeface="Times New Roman" panose="02020603050405020304" pitchFamily="18" charset="0"/>
                <a:cs typeface="Times New Roman" panose="02020603050405020304" pitchFamily="18" charset="0"/>
              </a:rPr>
              <a:t>Experiments and Results: Distortion</a:t>
            </a:r>
          </a:p>
        </p:txBody>
      </p:sp>
      <p:pic>
        <p:nvPicPr>
          <p:cNvPr id="3" name="Picture 3" descr="Event duplication versus events dropped for seven real logs"/>
          <p:cNvPicPr>
            <a:picLocks noChangeAspect="1"/>
          </p:cNvPicPr>
          <p:nvPr/>
        </p:nvPicPr>
        <p:blipFill>
          <a:blip r:embed="rId2"/>
          <a:stretch>
            <a:fillRect/>
          </a:stretch>
        </p:blipFill>
        <p:spPr>
          <a:xfrm>
            <a:off x="365760" y="1325880"/>
            <a:ext cx="7223760" cy="4352778"/>
          </a:xfrm>
          <a:prstGeom prst="rect">
            <a:avLst/>
          </a:prstGeom>
        </p:spPr>
      </p:pic>
      <p:sp>
        <p:nvSpPr>
          <p:cNvPr id="4" name="Takeaways 4"/>
          <p:cNvSpPr txBox="1"/>
          <p:nvPr/>
        </p:nvSpPr>
        <p:spPr>
          <a:xfrm>
            <a:off x="7772400" y="1371600"/>
            <a:ext cx="3959352" cy="4206240"/>
          </a:xfrm>
          <a:prstGeom prst="roundRect">
            <a:avLst>
              <a:gd name="adj" fmla="val 6000"/>
            </a:avLst>
          </a:prstGeom>
          <a:solidFill>
            <a:srgbClr val="F3F6FA"/>
          </a:solidFill>
          <a:ln>
            <a:noFill/>
          </a:ln>
        </p:spPr>
        <p:txBody>
          <a:bodyPr wrap="square" lIns="109728" tIns="76810" rIns="109728" bIns="76810" rtlCol="0" anchor="t">
            <a:noAutofit/>
          </a:bodyPr>
          <a:lstStyle/>
          <a:p>
            <a:pPr marL="0" indent="0" algn="l">
              <a:lnSpc>
                <a:spcPct val="100000"/>
              </a:lnSpc>
              <a:spcBef>
                <a:spcPts val="0"/>
              </a:spcBef>
              <a:spcAft>
                <a:spcPts val="400"/>
              </a:spcAft>
              <a:buNone/>
            </a:pPr>
            <a:r>
              <a:rPr lang="en-IN" sz="1600" b="1" dirty="0">
                <a:solidFill>
                  <a:srgbClr val="2A78D6"/>
                </a:solidFill>
                <a:latin typeface="Times New Roman" panose="02020603050405020304" pitchFamily="18" charset="0"/>
                <a:cs typeface="Times New Roman" panose="02020603050405020304" pitchFamily="18" charset="0"/>
              </a:rPr>
              <a:t>Three kinds of log</a:t>
            </a:r>
          </a:p>
          <a:p>
            <a:pPr marL="285750" indent="-285750" algn="l">
              <a:lnSpc>
                <a:spcPct val="100000"/>
              </a:lnSpc>
              <a:spcBef>
                <a:spcPts val="800"/>
              </a:spcBef>
              <a:spcAft>
                <a:spcPts val="0"/>
              </a:spcAft>
              <a:buFont typeface="Arial" panose="020B0604020202020204" pitchFamily="34" charset="0"/>
              <a:buChar char="•"/>
            </a:pPr>
            <a:r>
              <a:rPr lang="en-IN" sz="1500" b="1" dirty="0">
                <a:solidFill>
                  <a:srgbClr val="2A78D6"/>
                </a:solidFill>
                <a:latin typeface="Times New Roman" panose="02020603050405020304" pitchFamily="18" charset="0"/>
                <a:cs typeface="Times New Roman" panose="02020603050405020304" pitchFamily="18" charset="0"/>
              </a:rPr>
              <a:t>Star </a:t>
            </a:r>
            <a:r>
              <a:rPr lang="en-IN" sz="1500" dirty="0">
                <a:solidFill>
                  <a:srgbClr val="1F2328"/>
                </a:solidFill>
                <a:latin typeface="Times New Roman" panose="02020603050405020304" pitchFamily="18" charset="0"/>
                <a:cs typeface="Times New Roman" panose="02020603050405020304" pitchFamily="18" charset="0"/>
              </a:rPr>
              <a:t>(CROP, OULAD): one object per type per event, no duplication</a:t>
            </a:r>
          </a:p>
          <a:p>
            <a:pPr marL="285750" indent="-285750" algn="l">
              <a:lnSpc>
                <a:spcPct val="100000"/>
              </a:lnSpc>
              <a:spcBef>
                <a:spcPts val="800"/>
              </a:spcBef>
              <a:spcAft>
                <a:spcPts val="0"/>
              </a:spcAft>
              <a:buFont typeface="Arial" panose="020B0604020202020204" pitchFamily="34" charset="0"/>
              <a:buChar char="•"/>
            </a:pPr>
            <a:r>
              <a:rPr lang="en-IN" sz="1500" b="1" dirty="0">
                <a:solidFill>
                  <a:srgbClr val="EB6834"/>
                </a:solidFill>
                <a:latin typeface="Times New Roman" panose="02020603050405020304" pitchFamily="18" charset="0"/>
                <a:cs typeface="Times New Roman" panose="02020603050405020304" pitchFamily="18" charset="0"/>
              </a:rPr>
              <a:t>Partitioned </a:t>
            </a:r>
            <a:r>
              <a:rPr lang="en-IN" sz="1500" dirty="0">
                <a:solidFill>
                  <a:srgbClr val="1F2328"/>
                </a:solidFill>
                <a:latin typeface="Times New Roman" panose="02020603050405020304" pitchFamily="18" charset="0"/>
                <a:cs typeface="Times New Roman" panose="02020603050405020304" pitchFamily="18" charset="0"/>
              </a:rPr>
              <a:t>(Bundestag, Age of Empires, Ethereum): one case notion drops 69-91% of events</a:t>
            </a:r>
          </a:p>
          <a:p>
            <a:pPr marL="285750" indent="-285750" algn="l">
              <a:lnSpc>
                <a:spcPct val="100000"/>
              </a:lnSpc>
              <a:spcBef>
                <a:spcPts val="800"/>
              </a:spcBef>
              <a:spcAft>
                <a:spcPts val="0"/>
              </a:spcAft>
              <a:buFont typeface="Arial" panose="020B0604020202020204" pitchFamily="34" charset="0"/>
              <a:buChar char="•"/>
            </a:pPr>
            <a:r>
              <a:rPr lang="en-IN" sz="1500" b="1" dirty="0">
                <a:solidFill>
                  <a:srgbClr val="1BAF7A"/>
                </a:solidFill>
                <a:latin typeface="Times New Roman" panose="02020603050405020304" pitchFamily="18" charset="0"/>
                <a:cs typeface="Times New Roman" panose="02020603050405020304" pitchFamily="18" charset="0"/>
              </a:rPr>
              <a:t>Fan-out </a:t>
            </a:r>
            <a:r>
              <a:rPr lang="en-IN" sz="1500" dirty="0">
                <a:solidFill>
                  <a:srgbClr val="1F2328"/>
                </a:solidFill>
                <a:latin typeface="Times New Roman" panose="02020603050405020304" pitchFamily="18" charset="0"/>
                <a:cs typeface="Times New Roman" panose="02020603050405020304" pitchFamily="18" charset="0"/>
              </a:rPr>
              <a:t>(Angular, Enron): real duplication, up to 81.7 copies of an event</a:t>
            </a:r>
          </a:p>
          <a:p>
            <a:pPr marL="0" indent="0" algn="l">
              <a:lnSpc>
                <a:spcPct val="100000"/>
              </a:lnSpc>
              <a:spcBef>
                <a:spcPts val="1200"/>
              </a:spcBef>
              <a:spcAft>
                <a:spcPts val="0"/>
              </a:spcAft>
              <a:buNone/>
            </a:pPr>
            <a:r>
              <a:rPr lang="en-IN" sz="1400" dirty="0">
                <a:solidFill>
                  <a:srgbClr val="5B616B"/>
                </a:solidFill>
                <a:latin typeface="Times New Roman" panose="02020603050405020304" pitchFamily="18" charset="0"/>
                <a:cs typeface="Times New Roman" panose="02020603050405020304" pitchFamily="18" charset="0"/>
              </a:rPr>
              <a:t>Across all logs, most object types share more than half their objects between cases.</a:t>
            </a:r>
          </a:p>
        </p:txBody>
      </p:sp>
      <p:sp>
        <p:nvSpPr>
          <p:cNvPr id="5" name="Date Placeholder"/>
          <p:cNvSpPr>
            <a:spLocks noGrp="1"/>
          </p:cNvSpPr>
          <p:nvPr>
            <p:ph type="dt" sz="half" idx="10"/>
          </p:nvPr>
        </p:nvSpPr>
        <p:spPr/>
        <p:txBody>
          <a:bodyPr/>
          <a:lstStyle/>
          <a:p>
            <a:fld id="{61736562-4E3F-4038-A291-A7AE35CC3E6A}" type="datetime1">
              <a:rPr lang="en-IN" smtClean="0"/>
              <a:t>28/10/26</a:t>
            </a:fld>
            <a:endParaRPr lang="en-IN"/>
          </a:p>
        </p:txBody>
      </p:sp>
      <p:sp>
        <p:nvSpPr>
          <p:cNvPr id="6" name="Footer Placeholder"/>
          <p:cNvSpPr>
            <a:spLocks noGrp="1"/>
          </p:cNvSpPr>
          <p:nvPr>
            <p:ph type="ftr" sz="quarter" idx="11"/>
          </p:nvPr>
        </p:nvSpPr>
        <p:spPr/>
        <p:txBody>
          <a:bodyPr/>
          <a:lstStyle/>
          <a:p>
            <a:r>
              <a:rPr lang="en-IN"/>
              <a:t>SCOPE</a:t>
            </a:r>
          </a:p>
        </p:txBody>
      </p:sp>
      <p:sp>
        <p:nvSpPr>
          <p:cNvPr id="7" name="Slide Number Placeholder"/>
          <p:cNvSpPr>
            <a:spLocks noGrp="1"/>
          </p:cNvSpPr>
          <p:nvPr>
            <p:ph type="sldNum" sz="quarter" idx="12"/>
          </p:nvPr>
        </p:nvSpPr>
        <p:spPr/>
        <p:txBody>
          <a:bodyPr/>
          <a:lstStyle/>
          <a:p>
            <a:fld id="{65201FD4-9D8D-4491-815B-63C7BF4F0034}" type="slidenum">
              <a:rPr lang="en-IN" smtClean="0"/>
              <a:t>14</a:t>
            </a:fld>
            <a:endParaRPr lang="en-IN"/>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a:spLocks noGrp="1"/>
          </p:cNvSpPr>
          <p:nvPr>
            <p:ph type="title"/>
          </p:nvPr>
        </p:nvSpPr>
        <p:spPr>
          <a:xfrm>
            <a:off x="457200" y="502920"/>
            <a:ext cx="11274552" cy="685800"/>
          </a:xfrm>
          <a:prstGeom prst="rect">
            <a:avLst/>
          </a:prstGeom>
        </p:spPr>
        <p:txBody>
          <a:bodyPr vert="horz" wrap="square" lIns="0" tIns="0" rIns="0" bIns="0" rtlCol="0" anchor="ctr">
            <a:noAutofit/>
          </a:bodyPr>
          <a:lstStyle/>
          <a:p>
            <a:pPr marL="0">
              <a:lnSpc>
                <a:spcPct val="100000"/>
              </a:lnSpc>
            </a:pPr>
            <a:r>
              <a:rPr lang="en-IN" sz="3000" b="1" dirty="0">
                <a:latin typeface="Times New Roman" panose="02020603050405020304" pitchFamily="18" charset="0"/>
                <a:cs typeface="Times New Roman" panose="02020603050405020304" pitchFamily="18" charset="0"/>
              </a:rPr>
              <a:t>Experiments and Results: Consequences</a:t>
            </a:r>
          </a:p>
        </p:txBody>
      </p:sp>
      <p:pic>
        <p:nvPicPr>
          <p:cNvPr id="3" name="Picture 3" descr="Activity ranking agreement per log"/>
          <p:cNvPicPr>
            <a:picLocks noChangeAspect="1"/>
          </p:cNvPicPr>
          <p:nvPr/>
        </p:nvPicPr>
        <p:blipFill>
          <a:blip r:embed="rId2"/>
          <a:stretch>
            <a:fillRect/>
          </a:stretch>
        </p:blipFill>
        <p:spPr>
          <a:xfrm>
            <a:off x="365760" y="1234440"/>
            <a:ext cx="5669280" cy="3543300"/>
          </a:xfrm>
          <a:prstGeom prst="rect">
            <a:avLst/>
          </a:prstGeom>
        </p:spPr>
      </p:pic>
      <p:pic>
        <p:nvPicPr>
          <p:cNvPr id="4" name="Picture 4" descr="Entity ranking agreement per log"/>
          <p:cNvPicPr>
            <a:picLocks noChangeAspect="1"/>
          </p:cNvPicPr>
          <p:nvPr/>
        </p:nvPicPr>
        <p:blipFill>
          <a:blip r:embed="rId3"/>
          <a:stretch>
            <a:fillRect/>
          </a:stretch>
        </p:blipFill>
        <p:spPr>
          <a:xfrm>
            <a:off x="6172200" y="1234440"/>
            <a:ext cx="5669280" cy="3543300"/>
          </a:xfrm>
          <a:prstGeom prst="rect">
            <a:avLst/>
          </a:prstGeom>
        </p:spPr>
      </p:pic>
      <p:sp>
        <p:nvSpPr>
          <p:cNvPr id="5" name="Findings 5"/>
          <p:cNvSpPr txBox="1"/>
          <p:nvPr/>
        </p:nvSpPr>
        <p:spPr>
          <a:xfrm>
            <a:off x="457200" y="4846320"/>
            <a:ext cx="11274552" cy="1417320"/>
          </a:xfrm>
          <a:prstGeom prst="rect">
            <a:avLst/>
          </a:prstGeom>
          <a:noFill/>
          <a:ln>
            <a:noFill/>
          </a:ln>
        </p:spPr>
        <p:txBody>
          <a:bodyPr wrap="square" lIns="109728" tIns="76810" rIns="109728" bIns="76810" rtlCol="0" anchor="t">
            <a:noAutofit/>
          </a:bodyPr>
          <a:lstStyle/>
          <a:p>
            <a:pPr marL="285750" indent="-285750" algn="l">
              <a:lnSpc>
                <a:spcPct val="100000"/>
              </a:lnSpc>
              <a:spcBef>
                <a:spcPts val="400"/>
              </a:spcBef>
              <a:spcAft>
                <a:spcPts val="0"/>
              </a:spcAft>
              <a:buFont typeface="Arial" panose="020B0604020202020204" pitchFamily="34" charset="0"/>
              <a:buChar char="•"/>
            </a:pPr>
            <a:r>
              <a:rPr lang="en-IN" sz="1400" b="1" dirty="0">
                <a:solidFill>
                  <a:srgbClr val="1F2328"/>
                </a:solidFill>
                <a:latin typeface="Times New Roman" panose="02020603050405020304" pitchFamily="18" charset="0"/>
                <a:cs typeface="Times New Roman" panose="02020603050405020304" pitchFamily="18" charset="0"/>
              </a:rPr>
              <a:t>Duplication alone barely reorders activity rankings: </a:t>
            </a:r>
            <a:r>
              <a:rPr lang="en-IN" sz="1400" dirty="0">
                <a:solidFill>
                  <a:srgbClr val="1F2328"/>
                </a:solidFill>
                <a:latin typeface="Times New Roman" panose="02020603050405020304" pitchFamily="18" charset="0"/>
                <a:cs typeface="Times New Roman" panose="02020603050405020304" pitchFamily="18" charset="0"/>
              </a:rPr>
              <a:t>only 2 of 38 case notions fall below rank correlation 0.95.</a:t>
            </a:r>
          </a:p>
          <a:p>
            <a:pPr marL="285750" indent="-285750" algn="l">
              <a:lnSpc>
                <a:spcPct val="100000"/>
              </a:lnSpc>
              <a:spcBef>
                <a:spcPts val="400"/>
              </a:spcBef>
              <a:spcAft>
                <a:spcPts val="0"/>
              </a:spcAft>
              <a:buFont typeface="Arial" panose="020B0604020202020204" pitchFamily="34" charset="0"/>
              <a:buChar char="•"/>
            </a:pPr>
            <a:r>
              <a:rPr lang="en-IN" sz="1400" b="1" dirty="0">
                <a:solidFill>
                  <a:srgbClr val="1F2328"/>
                </a:solidFill>
                <a:latin typeface="Times New Roman" panose="02020603050405020304" pitchFamily="18" charset="0"/>
                <a:cs typeface="Times New Roman" panose="02020603050405020304" pitchFamily="18" charset="0"/>
              </a:rPr>
              <a:t>Narrowing is the real effect: </a:t>
            </a:r>
            <a:r>
              <a:rPr lang="en-IN" sz="1400" dirty="0">
                <a:solidFill>
                  <a:srgbClr val="1F2328"/>
                </a:solidFill>
                <a:latin typeface="Times New Roman" panose="02020603050405020304" pitchFamily="18" charset="0"/>
                <a:cs typeface="Times New Roman" panose="02020603050405020304" pitchFamily="18" charset="0"/>
              </a:rPr>
              <a:t>in 20 of 38 case notions the flat log shows fewer than half of the process's activities.</a:t>
            </a:r>
          </a:p>
          <a:p>
            <a:pPr marL="285750" indent="-285750" algn="l">
              <a:lnSpc>
                <a:spcPct val="100000"/>
              </a:lnSpc>
              <a:spcBef>
                <a:spcPts val="400"/>
              </a:spcBef>
              <a:spcAft>
                <a:spcPts val="0"/>
              </a:spcAft>
              <a:buFont typeface="Arial" panose="020B0604020202020204" pitchFamily="34" charset="0"/>
              <a:buChar char="•"/>
            </a:pPr>
            <a:r>
              <a:rPr lang="en-IN" sz="1400" b="1" dirty="0">
                <a:solidFill>
                  <a:srgbClr val="1F2328"/>
                </a:solidFill>
                <a:latin typeface="Times New Roman" panose="02020603050405020304" pitchFamily="18" charset="0"/>
                <a:cs typeface="Times New Roman" panose="02020603050405020304" pitchFamily="18" charset="0"/>
              </a:rPr>
              <a:t>Careless counting is risky: </a:t>
            </a:r>
            <a:r>
              <a:rPr lang="en-IN" sz="1400" dirty="0">
                <a:solidFill>
                  <a:srgbClr val="1F2328"/>
                </a:solidFill>
                <a:latin typeface="Times New Roman" panose="02020603050405020304" pitchFamily="18" charset="0"/>
                <a:cs typeface="Times New Roman" panose="02020603050405020304" pitchFamily="18" charset="0"/>
              </a:rPr>
              <a:t>entity rankings from a denormalised export reach correlation 0.16 (Enron), -0.01 (Ethereum) and -0.41 (Age of Empires) in the worst case.</a:t>
            </a:r>
          </a:p>
        </p:txBody>
      </p:sp>
      <p:sp>
        <p:nvSpPr>
          <p:cNvPr id="6" name="Date Placeholder"/>
          <p:cNvSpPr>
            <a:spLocks noGrp="1"/>
          </p:cNvSpPr>
          <p:nvPr>
            <p:ph type="dt" sz="half" idx="10"/>
          </p:nvPr>
        </p:nvSpPr>
        <p:spPr/>
        <p:txBody>
          <a:bodyPr/>
          <a:lstStyle/>
          <a:p>
            <a:fld id="{61736562-4E3F-4038-A291-A7AE35CC3E6A}" type="datetime1">
              <a:rPr lang="en-IN" smtClean="0"/>
              <a:t>28/10/26</a:t>
            </a:fld>
            <a:endParaRPr lang="en-IN"/>
          </a:p>
        </p:txBody>
      </p:sp>
      <p:sp>
        <p:nvSpPr>
          <p:cNvPr id="7" name="Footer Placeholder"/>
          <p:cNvSpPr>
            <a:spLocks noGrp="1"/>
          </p:cNvSpPr>
          <p:nvPr>
            <p:ph type="ftr" sz="quarter" idx="11"/>
          </p:nvPr>
        </p:nvSpPr>
        <p:spPr/>
        <p:txBody>
          <a:bodyPr/>
          <a:lstStyle/>
          <a:p>
            <a:r>
              <a:rPr lang="en-IN"/>
              <a:t>SCOPE</a:t>
            </a:r>
          </a:p>
        </p:txBody>
      </p:sp>
      <p:sp>
        <p:nvSpPr>
          <p:cNvPr id="8" name="Slide Number Placeholder"/>
          <p:cNvSpPr>
            <a:spLocks noGrp="1"/>
          </p:cNvSpPr>
          <p:nvPr>
            <p:ph type="sldNum" sz="quarter" idx="12"/>
          </p:nvPr>
        </p:nvSpPr>
        <p:spPr/>
        <p:txBody>
          <a:bodyPr/>
          <a:lstStyle/>
          <a:p>
            <a:fld id="{65201FD4-9D8D-4491-815B-63C7BF4F0034}" type="slidenum">
              <a:rPr lang="en-IN" smtClean="0"/>
              <a:t>15</a:t>
            </a:fld>
            <a:endParaRPr lang="en-IN"/>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a:spLocks noGrp="1"/>
          </p:cNvSpPr>
          <p:nvPr>
            <p:ph type="title"/>
          </p:nvPr>
        </p:nvSpPr>
        <p:spPr>
          <a:xfrm>
            <a:off x="457200" y="502920"/>
            <a:ext cx="11274552" cy="685800"/>
          </a:xfrm>
          <a:prstGeom prst="rect">
            <a:avLst/>
          </a:prstGeom>
        </p:spPr>
        <p:txBody>
          <a:bodyPr vert="horz" wrap="square" lIns="0" tIns="0" rIns="0" bIns="0" rtlCol="0" anchor="ctr">
            <a:noAutofit/>
          </a:bodyPr>
          <a:lstStyle/>
          <a:p>
            <a:pPr marL="0">
              <a:lnSpc>
                <a:spcPct val="100000"/>
              </a:lnSpc>
            </a:pPr>
            <a:r>
              <a:rPr lang="en-IN" sz="3000" b="1" dirty="0">
                <a:latin typeface="Times New Roman" panose="02020603050405020304" pitchFamily="18" charset="0"/>
                <a:cs typeface="Times New Roman" panose="02020603050405020304" pitchFamily="18" charset="0"/>
              </a:rPr>
              <a:t>Testing and Validation</a:t>
            </a:r>
          </a:p>
        </p:txBody>
      </p:sp>
      <p:graphicFrame>
        <p:nvGraphicFramePr>
          <p:cNvPr id="3" name="Table 3"/>
          <p:cNvGraphicFramePr>
            <a:graphicFrameLocks noGrp="1"/>
          </p:cNvGraphicFramePr>
          <p:nvPr/>
        </p:nvGraphicFramePr>
        <p:xfrm>
          <a:off x="457200" y="1371600"/>
          <a:ext cx="11274552" cy="4059936"/>
        </p:xfrm>
        <a:graphic>
          <a:graphicData uri="http://schemas.openxmlformats.org/drawingml/2006/table">
            <a:tbl>
              <a:tblPr firstRow="1" bandRow="1"/>
              <a:tblGrid>
                <a:gridCol w="3108960"/>
                <a:gridCol w="5120640"/>
                <a:gridCol w="3044952"/>
              </a:tblGrid>
              <a:tr h="411480">
                <a:tc>
                  <a:txBody>
                    <a:bodyPr/>
                    <a:lstStyle/>
                    <a:p>
                      <a:pPr marL="0" indent="0" algn="l">
                        <a:lnSpc>
                          <a:spcPct val="100000"/>
                        </a:lnSpc>
                        <a:spcBef>
                          <a:spcPts val="0"/>
                        </a:spcBef>
                        <a:spcAft>
                          <a:spcPts val="0"/>
                        </a:spcAft>
                        <a:buNone/>
                      </a:pPr>
                      <a:r>
                        <a:rPr lang="en-IN" sz="1300" b="1" dirty="0">
                          <a:solidFill>
                            <a:srgbClr val="FFFFFF"/>
                          </a:solidFill>
                          <a:latin typeface="Times New Roman" panose="02020603050405020304" pitchFamily="18" charset="0"/>
                          <a:cs typeface="Times New Roman" panose="02020603050405020304" pitchFamily="18" charset="0"/>
                        </a:rPr>
                        <a:t>Check</a:t>
                      </a:r>
                    </a:p>
                  </a:txBody>
                  <a:tcPr marL="73152" marR="73152" marT="45720" marB="45720" anchor="ctr">
                    <a:lnL w="9525">
                      <a:solidFill>
                        <a:srgbClr val="C9D3E0"/>
                      </a:solidFill>
                    </a:lnL>
                    <a:lnR w="9525">
                      <a:solidFill>
                        <a:srgbClr val="C9D3E0"/>
                      </a:solidFill>
                    </a:lnR>
                    <a:lnT w="9525">
                      <a:solidFill>
                        <a:srgbClr val="C9D3E0"/>
                      </a:solidFill>
                    </a:lnT>
                    <a:lnB w="9525">
                      <a:solidFill>
                        <a:srgbClr val="C9D3E0"/>
                      </a:solidFill>
                    </a:lnB>
                    <a:solidFill>
                      <a:srgbClr val="2A78D6"/>
                    </a:solidFill>
                  </a:tcPr>
                </a:tc>
                <a:tc>
                  <a:txBody>
                    <a:bodyPr/>
                    <a:lstStyle/>
                    <a:p>
                      <a:pPr marL="0" indent="0" algn="l">
                        <a:lnSpc>
                          <a:spcPct val="100000"/>
                        </a:lnSpc>
                        <a:spcBef>
                          <a:spcPts val="0"/>
                        </a:spcBef>
                        <a:spcAft>
                          <a:spcPts val="0"/>
                        </a:spcAft>
                        <a:buNone/>
                      </a:pPr>
                      <a:r>
                        <a:rPr lang="en-IN" sz="1300" b="1" dirty="0">
                          <a:solidFill>
                            <a:srgbClr val="FFFFFF"/>
                          </a:solidFill>
                          <a:latin typeface="Times New Roman" panose="02020603050405020304" pitchFamily="18" charset="0"/>
                          <a:cs typeface="Times New Roman" panose="02020603050405020304" pitchFamily="18" charset="0"/>
                        </a:rPr>
                        <a:t>What it proves</a:t>
                      </a:r>
                    </a:p>
                  </a:txBody>
                  <a:tcPr marL="73152" marR="73152" marT="45720" marB="45720" anchor="ctr">
                    <a:lnL w="9525">
                      <a:solidFill>
                        <a:srgbClr val="C9D3E0"/>
                      </a:solidFill>
                    </a:lnL>
                    <a:lnR w="9525">
                      <a:solidFill>
                        <a:srgbClr val="C9D3E0"/>
                      </a:solidFill>
                    </a:lnR>
                    <a:lnT w="9525">
                      <a:solidFill>
                        <a:srgbClr val="C9D3E0"/>
                      </a:solidFill>
                    </a:lnT>
                    <a:lnB w="9525">
                      <a:solidFill>
                        <a:srgbClr val="C9D3E0"/>
                      </a:solidFill>
                    </a:lnB>
                    <a:solidFill>
                      <a:srgbClr val="2A78D6"/>
                    </a:solidFill>
                  </a:tcPr>
                </a:tc>
                <a:tc>
                  <a:txBody>
                    <a:bodyPr/>
                    <a:lstStyle/>
                    <a:p>
                      <a:pPr marL="0" indent="0" algn="l">
                        <a:lnSpc>
                          <a:spcPct val="100000"/>
                        </a:lnSpc>
                        <a:spcBef>
                          <a:spcPts val="0"/>
                        </a:spcBef>
                        <a:spcAft>
                          <a:spcPts val="0"/>
                        </a:spcAft>
                        <a:buNone/>
                      </a:pPr>
                      <a:r>
                        <a:rPr lang="en-IN" sz="1300" b="1" dirty="0">
                          <a:solidFill>
                            <a:srgbClr val="FFFFFF"/>
                          </a:solidFill>
                          <a:latin typeface="Times New Roman" panose="02020603050405020304" pitchFamily="18" charset="0"/>
                          <a:cs typeface="Times New Roman" panose="02020603050405020304" pitchFamily="18" charset="0"/>
                        </a:rPr>
                        <a:t>Result</a:t>
                      </a:r>
                    </a:p>
                  </a:txBody>
                  <a:tcPr marL="73152" marR="73152" marT="45720" marB="45720" anchor="ctr">
                    <a:lnL w="9525">
                      <a:solidFill>
                        <a:srgbClr val="C9D3E0"/>
                      </a:solidFill>
                    </a:lnL>
                    <a:lnR w="9525">
                      <a:solidFill>
                        <a:srgbClr val="C9D3E0"/>
                      </a:solidFill>
                    </a:lnR>
                    <a:lnT w="9525">
                      <a:solidFill>
                        <a:srgbClr val="C9D3E0"/>
                      </a:solidFill>
                    </a:lnT>
                    <a:lnB w="9525">
                      <a:solidFill>
                        <a:srgbClr val="C9D3E0"/>
                      </a:solidFill>
                    </a:lnB>
                    <a:solidFill>
                      <a:srgbClr val="2A78D6"/>
                    </a:solidFill>
                  </a:tcPr>
                </a:tc>
              </a:tr>
              <a:tr h="521208">
                <a:tc>
                  <a:txBody>
                    <a:bodyPr/>
                    <a:lstStyle/>
                    <a:p>
                      <a:pPr marL="0" indent="0" algn="l">
                        <a:lnSpc>
                          <a:spcPct val="100000"/>
                        </a:lnSpc>
                        <a:spcBef>
                          <a:spcPts val="0"/>
                        </a:spcBef>
                        <a:spcAft>
                          <a:spcPts val="0"/>
                        </a:spcAft>
                        <a:buNone/>
                      </a:pPr>
                      <a:r>
                        <a:rPr lang="en-IN" sz="1300" dirty="0">
                          <a:solidFill>
                            <a:srgbClr val="1F2328"/>
                          </a:solidFill>
                          <a:latin typeface="Times New Roman" panose="02020603050405020304" pitchFamily="18" charset="0"/>
                          <a:cs typeface="Times New Roman" panose="02020603050405020304" pitchFamily="18" charset="0"/>
                        </a:rPr>
                        <a:t>Download integrity</a:t>
                      </a:r>
                    </a:p>
                  </a:txBody>
                  <a:tcPr marL="73152" marR="73152" marT="45720" marB="45720" anchor="ctr">
                    <a:lnL w="9525">
                      <a:solidFill>
                        <a:srgbClr val="C9D3E0"/>
                      </a:solidFill>
                    </a:lnL>
                    <a:lnR w="9525">
                      <a:solidFill>
                        <a:srgbClr val="C9D3E0"/>
                      </a:solidFill>
                    </a:lnR>
                    <a:lnT w="9525">
                      <a:solidFill>
                        <a:srgbClr val="C9D3E0"/>
                      </a:solidFill>
                    </a:lnT>
                    <a:lnB w="9525">
                      <a:solidFill>
                        <a:srgbClr val="C9D3E0"/>
                      </a:solidFill>
                    </a:lnB>
                    <a:solidFill>
                      <a:srgbClr val="EEF3FA"/>
                    </a:solidFill>
                  </a:tcPr>
                </a:tc>
                <a:tc>
                  <a:txBody>
                    <a:bodyPr/>
                    <a:lstStyle/>
                    <a:p>
                      <a:pPr marL="0" indent="0" algn="l">
                        <a:lnSpc>
                          <a:spcPct val="100000"/>
                        </a:lnSpc>
                        <a:spcBef>
                          <a:spcPts val="0"/>
                        </a:spcBef>
                        <a:spcAft>
                          <a:spcPts val="0"/>
                        </a:spcAft>
                        <a:buNone/>
                      </a:pPr>
                      <a:r>
                        <a:rPr lang="en-IN" sz="1300" dirty="0">
                          <a:solidFill>
                            <a:srgbClr val="1F2328"/>
                          </a:solidFill>
                          <a:latin typeface="Times New Roman" panose="02020603050405020304" pitchFamily="18" charset="0"/>
                          <a:cs typeface="Times New Roman" panose="02020603050405020304" pitchFamily="18" charset="0"/>
                        </a:rPr>
                        <a:t>Zenodo files match the published size and MD5</a:t>
                      </a:r>
                    </a:p>
                  </a:txBody>
                  <a:tcPr marL="73152" marR="73152" marT="45720" marB="45720" anchor="ctr">
                    <a:lnL w="9525">
                      <a:solidFill>
                        <a:srgbClr val="C9D3E0"/>
                      </a:solidFill>
                    </a:lnL>
                    <a:lnR w="9525">
                      <a:solidFill>
                        <a:srgbClr val="C9D3E0"/>
                      </a:solidFill>
                    </a:lnR>
                    <a:lnT w="9525">
                      <a:solidFill>
                        <a:srgbClr val="C9D3E0"/>
                      </a:solidFill>
                    </a:lnT>
                    <a:lnB w="9525">
                      <a:solidFill>
                        <a:srgbClr val="C9D3E0"/>
                      </a:solidFill>
                    </a:lnB>
                    <a:solidFill>
                      <a:srgbClr val="EEF3FA"/>
                    </a:solidFill>
                  </a:tcPr>
                </a:tc>
                <a:tc>
                  <a:txBody>
                    <a:bodyPr/>
                    <a:lstStyle/>
                    <a:p>
                      <a:pPr marL="0" indent="0" algn="l">
                        <a:lnSpc>
                          <a:spcPct val="100000"/>
                        </a:lnSpc>
                        <a:spcBef>
                          <a:spcPts val="0"/>
                        </a:spcBef>
                        <a:spcAft>
                          <a:spcPts val="0"/>
                        </a:spcAft>
                        <a:buNone/>
                      </a:pPr>
                      <a:r>
                        <a:rPr lang="en-IN" sz="1300" dirty="0">
                          <a:solidFill>
                            <a:srgbClr val="1F2328"/>
                          </a:solidFill>
                          <a:latin typeface="Times New Roman" panose="02020603050405020304" pitchFamily="18" charset="0"/>
                          <a:cs typeface="Times New Roman" panose="02020603050405020304" pitchFamily="18" charset="0"/>
                        </a:rPr>
                        <a:t>Zenodo: size + MD5 checked; every file: SHA-256 recorded</a:t>
                      </a:r>
                    </a:p>
                  </a:txBody>
                  <a:tcPr marL="73152" marR="73152" marT="45720" marB="45720" anchor="ctr">
                    <a:lnL w="9525">
                      <a:solidFill>
                        <a:srgbClr val="C9D3E0"/>
                      </a:solidFill>
                    </a:lnL>
                    <a:lnR w="9525">
                      <a:solidFill>
                        <a:srgbClr val="C9D3E0"/>
                      </a:solidFill>
                    </a:lnR>
                    <a:lnT w="9525">
                      <a:solidFill>
                        <a:srgbClr val="C9D3E0"/>
                      </a:solidFill>
                    </a:lnT>
                    <a:lnB w="9525">
                      <a:solidFill>
                        <a:srgbClr val="C9D3E0"/>
                      </a:solidFill>
                    </a:lnB>
                    <a:solidFill>
                      <a:srgbClr val="EEF3FA"/>
                    </a:solidFill>
                  </a:tcPr>
                </a:tc>
              </a:tr>
              <a:tr h="521208">
                <a:tc>
                  <a:txBody>
                    <a:bodyPr/>
                    <a:lstStyle/>
                    <a:p>
                      <a:pPr marL="0" indent="0" algn="l">
                        <a:lnSpc>
                          <a:spcPct val="100000"/>
                        </a:lnSpc>
                        <a:spcBef>
                          <a:spcPts val="0"/>
                        </a:spcBef>
                        <a:spcAft>
                          <a:spcPts val="0"/>
                        </a:spcAft>
                        <a:buNone/>
                      </a:pPr>
                      <a:r>
                        <a:rPr lang="en-IN" sz="1300" dirty="0">
                          <a:solidFill>
                            <a:srgbClr val="1F2328"/>
                          </a:solidFill>
                          <a:latin typeface="Times New Roman" panose="02020603050405020304" pitchFamily="18" charset="0"/>
                          <a:cs typeface="Times New Roman" panose="02020603050405020304" pitchFamily="18" charset="0"/>
                        </a:rPr>
                        <a:t>Reproducibility</a:t>
                      </a:r>
                    </a:p>
                  </a:txBody>
                  <a:tcPr marL="73152" marR="73152" marT="45720" marB="45720" anchor="ctr">
                    <a:lnL w="9525">
                      <a:solidFill>
                        <a:srgbClr val="C9D3E0"/>
                      </a:solidFill>
                    </a:lnL>
                    <a:lnR w="9525">
                      <a:solidFill>
                        <a:srgbClr val="C9D3E0"/>
                      </a:solidFill>
                    </a:lnR>
                    <a:lnT w="9525">
                      <a:solidFill>
                        <a:srgbClr val="C9D3E0"/>
                      </a:solidFill>
                    </a:lnT>
                    <a:lnB w="9525">
                      <a:solidFill>
                        <a:srgbClr val="C9D3E0"/>
                      </a:solidFill>
                    </a:lnB>
                    <a:solidFill>
                      <a:srgbClr val="FFFFFF"/>
                    </a:solidFill>
                  </a:tcPr>
                </a:tc>
                <a:tc>
                  <a:txBody>
                    <a:bodyPr/>
                    <a:lstStyle/>
                    <a:p>
                      <a:pPr marL="0" indent="0" algn="l">
                        <a:lnSpc>
                          <a:spcPct val="100000"/>
                        </a:lnSpc>
                        <a:spcBef>
                          <a:spcPts val="0"/>
                        </a:spcBef>
                        <a:spcAft>
                          <a:spcPts val="0"/>
                        </a:spcAft>
                        <a:buNone/>
                      </a:pPr>
                      <a:r>
                        <a:rPr lang="en-IN" sz="1300" dirty="0">
                          <a:solidFill>
                            <a:srgbClr val="1F2328"/>
                          </a:solidFill>
                          <a:latin typeface="Times New Roman" panose="02020603050405020304" pitchFamily="18" charset="0"/>
                          <a:cs typeface="Times New Roman" panose="02020603050405020304" pitchFamily="18" charset="0"/>
                        </a:rPr>
                        <a:t>Re-running gives the same outputs</a:t>
                      </a:r>
                    </a:p>
                  </a:txBody>
                  <a:tcPr marL="73152" marR="73152" marT="45720" marB="45720" anchor="ctr">
                    <a:lnL w="9525">
                      <a:solidFill>
                        <a:srgbClr val="C9D3E0"/>
                      </a:solidFill>
                    </a:lnL>
                    <a:lnR w="9525">
                      <a:solidFill>
                        <a:srgbClr val="C9D3E0"/>
                      </a:solidFill>
                    </a:lnR>
                    <a:lnT w="9525">
                      <a:solidFill>
                        <a:srgbClr val="C9D3E0"/>
                      </a:solidFill>
                    </a:lnT>
                    <a:lnB w="9525">
                      <a:solidFill>
                        <a:srgbClr val="C9D3E0"/>
                      </a:solidFill>
                    </a:lnB>
                    <a:solidFill>
                      <a:srgbClr val="FFFFFF"/>
                    </a:solidFill>
                  </a:tcPr>
                </a:tc>
                <a:tc>
                  <a:txBody>
                    <a:bodyPr/>
                    <a:lstStyle/>
                    <a:p>
                      <a:pPr marL="0" indent="0" algn="l">
                        <a:lnSpc>
                          <a:spcPct val="100000"/>
                        </a:lnSpc>
                        <a:spcBef>
                          <a:spcPts val="0"/>
                        </a:spcBef>
                        <a:spcAft>
                          <a:spcPts val="0"/>
                        </a:spcAft>
                        <a:buNone/>
                      </a:pPr>
                      <a:r>
                        <a:rPr lang="en-IN" sz="1300" dirty="0">
                          <a:solidFill>
                            <a:srgbClr val="1F2328"/>
                          </a:solidFill>
                          <a:latin typeface="Times New Roman" panose="02020603050405020304" pitchFamily="18" charset="0"/>
                          <a:cs typeface="Times New Roman" panose="02020603050405020304" pitchFamily="18" charset="0"/>
                        </a:rPr>
                        <a:t>All tracked results byte-identical</a:t>
                      </a:r>
                    </a:p>
                  </a:txBody>
                  <a:tcPr marL="73152" marR="73152" marT="45720" marB="45720" anchor="ctr">
                    <a:lnL w="9525">
                      <a:solidFill>
                        <a:srgbClr val="C9D3E0"/>
                      </a:solidFill>
                    </a:lnL>
                    <a:lnR w="9525">
                      <a:solidFill>
                        <a:srgbClr val="C9D3E0"/>
                      </a:solidFill>
                    </a:lnR>
                    <a:lnT w="9525">
                      <a:solidFill>
                        <a:srgbClr val="C9D3E0"/>
                      </a:solidFill>
                    </a:lnT>
                    <a:lnB w="9525">
                      <a:solidFill>
                        <a:srgbClr val="C9D3E0"/>
                      </a:solidFill>
                    </a:lnB>
                    <a:solidFill>
                      <a:srgbClr val="FFFFFF"/>
                    </a:solidFill>
                  </a:tcPr>
                </a:tc>
              </a:tr>
              <a:tr h="521208">
                <a:tc>
                  <a:txBody>
                    <a:bodyPr/>
                    <a:lstStyle/>
                    <a:p>
                      <a:pPr marL="0" indent="0" algn="l">
                        <a:lnSpc>
                          <a:spcPct val="100000"/>
                        </a:lnSpc>
                        <a:spcBef>
                          <a:spcPts val="0"/>
                        </a:spcBef>
                        <a:spcAft>
                          <a:spcPts val="0"/>
                        </a:spcAft>
                        <a:buNone/>
                      </a:pPr>
                      <a:r>
                        <a:rPr lang="en-IN" sz="1300" dirty="0">
                          <a:solidFill>
                            <a:srgbClr val="1F2328"/>
                          </a:solidFill>
                          <a:latin typeface="Times New Roman" panose="02020603050405020304" pitchFamily="18" charset="0"/>
                          <a:cs typeface="Times New Roman" panose="02020603050405020304" pitchFamily="18" charset="0"/>
                        </a:rPr>
                        <a:t>SQL cross-check</a:t>
                      </a:r>
                    </a:p>
                  </a:txBody>
                  <a:tcPr marL="73152" marR="73152" marT="45720" marB="45720" anchor="ctr">
                    <a:lnL w="9525">
                      <a:solidFill>
                        <a:srgbClr val="C9D3E0"/>
                      </a:solidFill>
                    </a:lnL>
                    <a:lnR w="9525">
                      <a:solidFill>
                        <a:srgbClr val="C9D3E0"/>
                      </a:solidFill>
                    </a:lnR>
                    <a:lnT w="9525">
                      <a:solidFill>
                        <a:srgbClr val="C9D3E0"/>
                      </a:solidFill>
                    </a:lnT>
                    <a:lnB w="9525">
                      <a:solidFill>
                        <a:srgbClr val="C9D3E0"/>
                      </a:solidFill>
                    </a:lnB>
                    <a:solidFill>
                      <a:srgbClr val="EEF3FA"/>
                    </a:solidFill>
                  </a:tcPr>
                </a:tc>
                <a:tc>
                  <a:txBody>
                    <a:bodyPr/>
                    <a:lstStyle/>
                    <a:p>
                      <a:pPr marL="0" indent="0" algn="l">
                        <a:lnSpc>
                          <a:spcPct val="100000"/>
                        </a:lnSpc>
                        <a:spcBef>
                          <a:spcPts val="0"/>
                        </a:spcBef>
                        <a:spcAft>
                          <a:spcPts val="0"/>
                        </a:spcAft>
                        <a:buNone/>
                      </a:pPr>
                      <a:r>
                        <a:rPr lang="en-IN" sz="1300" dirty="0">
                          <a:solidFill>
                            <a:srgbClr val="1F2328"/>
                          </a:solidFill>
                          <a:latin typeface="Times New Roman" panose="02020603050405020304" pitchFamily="18" charset="0"/>
                          <a:cs typeface="Times New Roman" panose="02020603050405020304" pitchFamily="18" charset="0"/>
                        </a:rPr>
                        <a:t>Predicate code matches independent SQL</a:t>
                      </a:r>
                    </a:p>
                  </a:txBody>
                  <a:tcPr marL="73152" marR="73152" marT="45720" marB="45720" anchor="ctr">
                    <a:lnL w="9525">
                      <a:solidFill>
                        <a:srgbClr val="C9D3E0"/>
                      </a:solidFill>
                    </a:lnL>
                    <a:lnR w="9525">
                      <a:solidFill>
                        <a:srgbClr val="C9D3E0"/>
                      </a:solidFill>
                    </a:lnR>
                    <a:lnT w="9525">
                      <a:solidFill>
                        <a:srgbClr val="C9D3E0"/>
                      </a:solidFill>
                    </a:lnT>
                    <a:lnB w="9525">
                      <a:solidFill>
                        <a:srgbClr val="C9D3E0"/>
                      </a:solidFill>
                    </a:lnB>
                    <a:solidFill>
                      <a:srgbClr val="EEF3FA"/>
                    </a:solidFill>
                  </a:tcPr>
                </a:tc>
                <a:tc>
                  <a:txBody>
                    <a:bodyPr/>
                    <a:lstStyle/>
                    <a:p>
                      <a:pPr marL="0" indent="0" algn="l">
                        <a:lnSpc>
                          <a:spcPct val="100000"/>
                        </a:lnSpc>
                        <a:spcBef>
                          <a:spcPts val="0"/>
                        </a:spcBef>
                        <a:spcAft>
                          <a:spcPts val="0"/>
                        </a:spcAft>
                        <a:buNone/>
                      </a:pPr>
                      <a:r>
                        <a:rPr lang="en-IN" sz="1300" dirty="0">
                          <a:solidFill>
                            <a:srgbClr val="1F2328"/>
                          </a:solidFill>
                          <a:latin typeface="Times New Roman" panose="02020603050405020304" pitchFamily="18" charset="0"/>
                          <a:cs typeface="Times New Roman" panose="02020603050405020304" pitchFamily="18" charset="0"/>
                        </a:rPr>
                        <a:t>4 of 4 CROP rules exact</a:t>
                      </a:r>
                    </a:p>
                  </a:txBody>
                  <a:tcPr marL="73152" marR="73152" marT="45720" marB="45720" anchor="ctr">
                    <a:lnL w="9525">
                      <a:solidFill>
                        <a:srgbClr val="C9D3E0"/>
                      </a:solidFill>
                    </a:lnL>
                    <a:lnR w="9525">
                      <a:solidFill>
                        <a:srgbClr val="C9D3E0"/>
                      </a:solidFill>
                    </a:lnR>
                    <a:lnT w="9525">
                      <a:solidFill>
                        <a:srgbClr val="C9D3E0"/>
                      </a:solidFill>
                    </a:lnT>
                    <a:lnB w="9525">
                      <a:solidFill>
                        <a:srgbClr val="C9D3E0"/>
                      </a:solidFill>
                    </a:lnB>
                    <a:solidFill>
                      <a:srgbClr val="EEF3FA"/>
                    </a:solidFill>
                  </a:tcPr>
                </a:tc>
              </a:tr>
              <a:tr h="521208">
                <a:tc>
                  <a:txBody>
                    <a:bodyPr/>
                    <a:lstStyle/>
                    <a:p>
                      <a:pPr marL="0" indent="0" algn="l">
                        <a:lnSpc>
                          <a:spcPct val="100000"/>
                        </a:lnSpc>
                        <a:spcBef>
                          <a:spcPts val="0"/>
                        </a:spcBef>
                        <a:spcAft>
                          <a:spcPts val="0"/>
                        </a:spcAft>
                        <a:buNone/>
                      </a:pPr>
                      <a:r>
                        <a:rPr lang="en-IN" sz="1300" dirty="0">
                          <a:solidFill>
                            <a:srgbClr val="1F2328"/>
                          </a:solidFill>
                          <a:latin typeface="Times New Roman" panose="02020603050405020304" pitchFamily="18" charset="0"/>
                          <a:cs typeface="Times New Roman" panose="02020603050405020304" pitchFamily="18" charset="0"/>
                        </a:rPr>
                        <a:t>Brute-force self-check</a:t>
                      </a:r>
                    </a:p>
                  </a:txBody>
                  <a:tcPr marL="73152" marR="73152" marT="45720" marB="45720" anchor="ctr">
                    <a:lnL w="9525">
                      <a:solidFill>
                        <a:srgbClr val="C9D3E0"/>
                      </a:solidFill>
                    </a:lnL>
                    <a:lnR w="9525">
                      <a:solidFill>
                        <a:srgbClr val="C9D3E0"/>
                      </a:solidFill>
                    </a:lnR>
                    <a:lnT w="9525">
                      <a:solidFill>
                        <a:srgbClr val="C9D3E0"/>
                      </a:solidFill>
                    </a:lnT>
                    <a:lnB w="9525">
                      <a:solidFill>
                        <a:srgbClr val="C9D3E0"/>
                      </a:solidFill>
                    </a:lnB>
                    <a:solidFill>
                      <a:srgbClr val="FFFFFF"/>
                    </a:solidFill>
                  </a:tcPr>
                </a:tc>
                <a:tc>
                  <a:txBody>
                    <a:bodyPr/>
                    <a:lstStyle/>
                    <a:p>
                      <a:pPr marL="0" indent="0" algn="l">
                        <a:lnSpc>
                          <a:spcPct val="100000"/>
                        </a:lnSpc>
                        <a:spcBef>
                          <a:spcPts val="0"/>
                        </a:spcBef>
                        <a:spcAft>
                          <a:spcPts val="0"/>
                        </a:spcAft>
                        <a:buNone/>
                      </a:pPr>
                      <a:r>
                        <a:rPr lang="en-IN" sz="1300" dirty="0">
                          <a:solidFill>
                            <a:srgbClr val="1F2328"/>
                          </a:solidFill>
                          <a:latin typeface="Times New Roman" panose="02020603050405020304" pitchFamily="18" charset="0"/>
                          <a:cs typeface="Times New Roman" panose="02020603050405020304" pitchFamily="18" charset="0"/>
                        </a:rPr>
                        <a:t>Fast code equals plain Python</a:t>
                      </a:r>
                    </a:p>
                  </a:txBody>
                  <a:tcPr marL="73152" marR="73152" marT="45720" marB="45720" anchor="ctr">
                    <a:lnL w="9525">
                      <a:solidFill>
                        <a:srgbClr val="C9D3E0"/>
                      </a:solidFill>
                    </a:lnL>
                    <a:lnR w="9525">
                      <a:solidFill>
                        <a:srgbClr val="C9D3E0"/>
                      </a:solidFill>
                    </a:lnR>
                    <a:lnT w="9525">
                      <a:solidFill>
                        <a:srgbClr val="C9D3E0"/>
                      </a:solidFill>
                    </a:lnT>
                    <a:lnB w="9525">
                      <a:solidFill>
                        <a:srgbClr val="C9D3E0"/>
                      </a:solidFill>
                    </a:lnB>
                    <a:solidFill>
                      <a:srgbClr val="FFFFFF"/>
                    </a:solidFill>
                  </a:tcPr>
                </a:tc>
                <a:tc>
                  <a:txBody>
                    <a:bodyPr/>
                    <a:lstStyle/>
                    <a:p>
                      <a:pPr marL="0" indent="0" algn="l">
                        <a:lnSpc>
                          <a:spcPct val="100000"/>
                        </a:lnSpc>
                        <a:spcBef>
                          <a:spcPts val="0"/>
                        </a:spcBef>
                        <a:spcAft>
                          <a:spcPts val="0"/>
                        </a:spcAft>
                        <a:buNone/>
                      </a:pPr>
                      <a:r>
                        <a:rPr lang="en-IN" sz="1300" dirty="0">
                          <a:solidFill>
                            <a:srgbClr val="1F2328"/>
                          </a:solidFill>
                          <a:latin typeface="Times New Roman" panose="02020603050405020304" pitchFamily="18" charset="0"/>
                          <a:cs typeface="Times New Roman" panose="02020603050405020304" pitchFamily="18" charset="0"/>
                        </a:rPr>
                        <a:t>Event pairs identical on 4 case notions</a:t>
                      </a:r>
                    </a:p>
                  </a:txBody>
                  <a:tcPr marL="73152" marR="73152" marT="45720" marB="45720" anchor="ctr">
                    <a:lnL w="9525">
                      <a:solidFill>
                        <a:srgbClr val="C9D3E0"/>
                      </a:solidFill>
                    </a:lnL>
                    <a:lnR w="9525">
                      <a:solidFill>
                        <a:srgbClr val="C9D3E0"/>
                      </a:solidFill>
                    </a:lnR>
                    <a:lnT w="9525">
                      <a:solidFill>
                        <a:srgbClr val="C9D3E0"/>
                      </a:solidFill>
                    </a:lnT>
                    <a:lnB w="9525">
                      <a:solidFill>
                        <a:srgbClr val="C9D3E0"/>
                      </a:solidFill>
                    </a:lnB>
                    <a:solidFill>
                      <a:srgbClr val="FFFFFF"/>
                    </a:solidFill>
                  </a:tcPr>
                </a:tc>
              </a:tr>
              <a:tr h="521208">
                <a:tc>
                  <a:txBody>
                    <a:bodyPr/>
                    <a:lstStyle/>
                    <a:p>
                      <a:pPr marL="0" indent="0" algn="l">
                        <a:lnSpc>
                          <a:spcPct val="100000"/>
                        </a:lnSpc>
                        <a:spcBef>
                          <a:spcPts val="0"/>
                        </a:spcBef>
                        <a:spcAft>
                          <a:spcPts val="0"/>
                        </a:spcAft>
                        <a:buNone/>
                      </a:pPr>
                      <a:r>
                        <a:rPr lang="en-IN" sz="1300" dirty="0">
                          <a:solidFill>
                            <a:srgbClr val="1F2328"/>
                          </a:solidFill>
                          <a:latin typeface="Times New Roman" panose="02020603050405020304" pitchFamily="18" charset="0"/>
                          <a:cs typeface="Times New Roman" panose="02020603050405020304" pitchFamily="18" charset="0"/>
                        </a:rPr>
                        <a:t>Distortion self-check</a:t>
                      </a:r>
                    </a:p>
                  </a:txBody>
                  <a:tcPr marL="73152" marR="73152" marT="45720" marB="45720" anchor="ctr">
                    <a:lnL w="9525">
                      <a:solidFill>
                        <a:srgbClr val="C9D3E0"/>
                      </a:solidFill>
                    </a:lnL>
                    <a:lnR w="9525">
                      <a:solidFill>
                        <a:srgbClr val="C9D3E0"/>
                      </a:solidFill>
                    </a:lnR>
                    <a:lnT w="9525">
                      <a:solidFill>
                        <a:srgbClr val="C9D3E0"/>
                      </a:solidFill>
                    </a:lnT>
                    <a:lnB w="9525">
                      <a:solidFill>
                        <a:srgbClr val="C9D3E0"/>
                      </a:solidFill>
                    </a:lnB>
                    <a:solidFill>
                      <a:srgbClr val="EEF3FA"/>
                    </a:solidFill>
                  </a:tcPr>
                </a:tc>
                <a:tc>
                  <a:txBody>
                    <a:bodyPr/>
                    <a:lstStyle/>
                    <a:p>
                      <a:pPr marL="0" indent="0" algn="l">
                        <a:lnSpc>
                          <a:spcPct val="100000"/>
                        </a:lnSpc>
                        <a:spcBef>
                          <a:spcPts val="0"/>
                        </a:spcBef>
                        <a:spcAft>
                          <a:spcPts val="0"/>
                        </a:spcAft>
                        <a:buNone/>
                      </a:pPr>
                      <a:r>
                        <a:rPr lang="en-IN" sz="1300" dirty="0">
                          <a:solidFill>
                            <a:srgbClr val="1F2328"/>
                          </a:solidFill>
                          <a:latin typeface="Times New Roman" panose="02020603050405020304" pitchFamily="18" charset="0"/>
                          <a:cs typeface="Times New Roman" panose="02020603050405020304" pitchFamily="18" charset="0"/>
                        </a:rPr>
                        <a:t>Pandas metrics equal a plain-Python version</a:t>
                      </a:r>
                    </a:p>
                  </a:txBody>
                  <a:tcPr marL="73152" marR="73152" marT="45720" marB="45720" anchor="ctr">
                    <a:lnL w="9525">
                      <a:solidFill>
                        <a:srgbClr val="C9D3E0"/>
                      </a:solidFill>
                    </a:lnL>
                    <a:lnR w="9525">
                      <a:solidFill>
                        <a:srgbClr val="C9D3E0"/>
                      </a:solidFill>
                    </a:lnR>
                    <a:lnT w="9525">
                      <a:solidFill>
                        <a:srgbClr val="C9D3E0"/>
                      </a:solidFill>
                    </a:lnT>
                    <a:lnB w="9525">
                      <a:solidFill>
                        <a:srgbClr val="C9D3E0"/>
                      </a:solidFill>
                    </a:lnB>
                    <a:solidFill>
                      <a:srgbClr val="EEF3FA"/>
                    </a:solidFill>
                  </a:tcPr>
                </a:tc>
                <a:tc>
                  <a:txBody>
                    <a:bodyPr/>
                    <a:lstStyle/>
                    <a:p>
                      <a:pPr marL="0" indent="0" algn="l">
                        <a:lnSpc>
                          <a:spcPct val="100000"/>
                        </a:lnSpc>
                        <a:spcBef>
                          <a:spcPts val="0"/>
                        </a:spcBef>
                        <a:spcAft>
                          <a:spcPts val="0"/>
                        </a:spcAft>
                        <a:buNone/>
                      </a:pPr>
                      <a:r>
                        <a:rPr lang="en-IN" sz="1300" dirty="0">
                          <a:solidFill>
                            <a:srgbClr val="1F2328"/>
                          </a:solidFill>
                          <a:latin typeface="Times New Roman" panose="02020603050405020304" pitchFamily="18" charset="0"/>
                          <a:cs typeface="Times New Roman" panose="02020603050405020304" pitchFamily="18" charset="0"/>
                        </a:rPr>
                        <a:t>60 case notions identical on 3 real slices</a:t>
                      </a:r>
                    </a:p>
                  </a:txBody>
                  <a:tcPr marL="73152" marR="73152" marT="45720" marB="45720" anchor="ctr">
                    <a:lnL w="9525">
                      <a:solidFill>
                        <a:srgbClr val="C9D3E0"/>
                      </a:solidFill>
                    </a:lnL>
                    <a:lnR w="9525">
                      <a:solidFill>
                        <a:srgbClr val="C9D3E0"/>
                      </a:solidFill>
                    </a:lnR>
                    <a:lnT w="9525">
                      <a:solidFill>
                        <a:srgbClr val="C9D3E0"/>
                      </a:solidFill>
                    </a:lnT>
                    <a:lnB w="9525">
                      <a:solidFill>
                        <a:srgbClr val="C9D3E0"/>
                      </a:solidFill>
                    </a:lnB>
                    <a:solidFill>
                      <a:srgbClr val="EEF3FA"/>
                    </a:solidFill>
                  </a:tcPr>
                </a:tc>
              </a:tr>
              <a:tr h="521208">
                <a:tc>
                  <a:txBody>
                    <a:bodyPr/>
                    <a:lstStyle/>
                    <a:p>
                      <a:pPr marL="0" indent="0" algn="l">
                        <a:lnSpc>
                          <a:spcPct val="100000"/>
                        </a:lnSpc>
                        <a:spcBef>
                          <a:spcPts val="0"/>
                        </a:spcBef>
                        <a:spcAft>
                          <a:spcPts val="0"/>
                        </a:spcAft>
                        <a:buNone/>
                      </a:pPr>
                      <a:r>
                        <a:rPr lang="en-IN" sz="1300" dirty="0">
                          <a:solidFill>
                            <a:srgbClr val="1F2328"/>
                          </a:solidFill>
                          <a:latin typeface="Times New Roman" panose="02020603050405020304" pitchFamily="18" charset="0"/>
                          <a:cs typeface="Times New Roman" panose="02020603050405020304" pitchFamily="18" charset="0"/>
                        </a:rPr>
                        <a:t>Independent recomputation</a:t>
                      </a:r>
                    </a:p>
                  </a:txBody>
                  <a:tcPr marL="73152" marR="73152" marT="45720" marB="45720" anchor="ctr">
                    <a:lnL w="9525">
                      <a:solidFill>
                        <a:srgbClr val="C9D3E0"/>
                      </a:solidFill>
                    </a:lnL>
                    <a:lnR w="9525">
                      <a:solidFill>
                        <a:srgbClr val="C9D3E0"/>
                      </a:solidFill>
                    </a:lnR>
                    <a:lnT w="9525">
                      <a:solidFill>
                        <a:srgbClr val="C9D3E0"/>
                      </a:solidFill>
                    </a:lnT>
                    <a:lnB w="9525">
                      <a:solidFill>
                        <a:srgbClr val="C9D3E0"/>
                      </a:solidFill>
                    </a:lnB>
                    <a:solidFill>
                      <a:srgbClr val="FFFFFF"/>
                    </a:solidFill>
                  </a:tcPr>
                </a:tc>
                <a:tc>
                  <a:txBody>
                    <a:bodyPr/>
                    <a:lstStyle/>
                    <a:p>
                      <a:pPr marL="0" indent="0" algn="l">
                        <a:lnSpc>
                          <a:spcPct val="100000"/>
                        </a:lnSpc>
                        <a:spcBef>
                          <a:spcPts val="0"/>
                        </a:spcBef>
                        <a:spcAft>
                          <a:spcPts val="0"/>
                        </a:spcAft>
                        <a:buNone/>
                      </a:pPr>
                      <a:r>
                        <a:rPr lang="en-IN" sz="1300" dirty="0">
                          <a:solidFill>
                            <a:srgbClr val="1F2328"/>
                          </a:solidFill>
                          <a:latin typeface="Times New Roman" panose="02020603050405020304" pitchFamily="18" charset="0"/>
                          <a:cs typeface="Times New Roman" panose="02020603050405020304" pitchFamily="18" charset="0"/>
                        </a:rPr>
                        <a:t>OULAD counts match raw CSVs</a:t>
                      </a:r>
                    </a:p>
                  </a:txBody>
                  <a:tcPr marL="73152" marR="73152" marT="45720" marB="45720" anchor="ctr">
                    <a:lnL w="9525">
                      <a:solidFill>
                        <a:srgbClr val="C9D3E0"/>
                      </a:solidFill>
                    </a:lnL>
                    <a:lnR w="9525">
                      <a:solidFill>
                        <a:srgbClr val="C9D3E0"/>
                      </a:solidFill>
                    </a:lnR>
                    <a:lnT w="9525">
                      <a:solidFill>
                        <a:srgbClr val="C9D3E0"/>
                      </a:solidFill>
                    </a:lnT>
                    <a:lnB w="9525">
                      <a:solidFill>
                        <a:srgbClr val="C9D3E0"/>
                      </a:solidFill>
                    </a:lnB>
                    <a:solidFill>
                      <a:srgbClr val="FFFFFF"/>
                    </a:solidFill>
                  </a:tcPr>
                </a:tc>
                <a:tc>
                  <a:txBody>
                    <a:bodyPr/>
                    <a:lstStyle/>
                    <a:p>
                      <a:pPr marL="0" indent="0" algn="l">
                        <a:lnSpc>
                          <a:spcPct val="100000"/>
                        </a:lnSpc>
                        <a:spcBef>
                          <a:spcPts val="0"/>
                        </a:spcBef>
                        <a:spcAft>
                          <a:spcPts val="0"/>
                        </a:spcAft>
                        <a:buNone/>
                      </a:pPr>
                      <a:r>
                        <a:rPr lang="en-IN" sz="1300" dirty="0">
                          <a:solidFill>
                            <a:srgbClr val="1F2328"/>
                          </a:solidFill>
                          <a:latin typeface="Times New Roman" panose="02020603050405020304" pitchFamily="18" charset="0"/>
                          <a:cs typeface="Times New Roman" panose="02020603050405020304" pitchFamily="18" charset="0"/>
                        </a:rPr>
                        <a:t>15,348 / 415 / 29 exact</a:t>
                      </a:r>
                    </a:p>
                  </a:txBody>
                  <a:tcPr marL="73152" marR="73152" marT="45720" marB="45720" anchor="ctr">
                    <a:lnL w="9525">
                      <a:solidFill>
                        <a:srgbClr val="C9D3E0"/>
                      </a:solidFill>
                    </a:lnL>
                    <a:lnR w="9525">
                      <a:solidFill>
                        <a:srgbClr val="C9D3E0"/>
                      </a:solidFill>
                    </a:lnR>
                    <a:lnT w="9525">
                      <a:solidFill>
                        <a:srgbClr val="C9D3E0"/>
                      </a:solidFill>
                    </a:lnT>
                    <a:lnB w="9525">
                      <a:solidFill>
                        <a:srgbClr val="C9D3E0"/>
                      </a:solidFill>
                    </a:lnB>
                    <a:solidFill>
                      <a:srgbClr val="FFFFFF"/>
                    </a:solidFill>
                  </a:tcPr>
                </a:tc>
              </a:tr>
              <a:tr h="521208">
                <a:tc>
                  <a:txBody>
                    <a:bodyPr/>
                    <a:lstStyle/>
                    <a:p>
                      <a:pPr marL="0" indent="0" algn="l">
                        <a:lnSpc>
                          <a:spcPct val="100000"/>
                        </a:lnSpc>
                        <a:spcBef>
                          <a:spcPts val="0"/>
                        </a:spcBef>
                        <a:spcAft>
                          <a:spcPts val="0"/>
                        </a:spcAft>
                        <a:buNone/>
                      </a:pPr>
                      <a:r>
                        <a:rPr lang="en-IN" sz="1300" dirty="0">
                          <a:solidFill>
                            <a:srgbClr val="1F2328"/>
                          </a:solidFill>
                          <a:latin typeface="Times New Roman" panose="02020603050405020304" pitchFamily="18" charset="0"/>
                          <a:cs typeface="Times New Roman" panose="02020603050405020304" pitchFamily="18" charset="0"/>
                        </a:rPr>
                        <a:t>Bugs our own checks found</a:t>
                      </a:r>
                    </a:p>
                  </a:txBody>
                  <a:tcPr marL="73152" marR="73152" marT="45720" marB="45720" anchor="ctr">
                    <a:lnL w="9525">
                      <a:solidFill>
                        <a:srgbClr val="C9D3E0"/>
                      </a:solidFill>
                    </a:lnL>
                    <a:lnR w="9525">
                      <a:solidFill>
                        <a:srgbClr val="C9D3E0"/>
                      </a:solidFill>
                    </a:lnR>
                    <a:lnT w="9525">
                      <a:solidFill>
                        <a:srgbClr val="C9D3E0"/>
                      </a:solidFill>
                    </a:lnT>
                    <a:lnB w="9525">
                      <a:solidFill>
                        <a:srgbClr val="C9D3E0"/>
                      </a:solidFill>
                    </a:lnB>
                    <a:solidFill>
                      <a:srgbClr val="EEF3FA"/>
                    </a:solidFill>
                  </a:tcPr>
                </a:tc>
                <a:tc>
                  <a:txBody>
                    <a:bodyPr/>
                    <a:lstStyle/>
                    <a:p>
                      <a:pPr marL="0" indent="0" algn="l">
                        <a:lnSpc>
                          <a:spcPct val="100000"/>
                        </a:lnSpc>
                        <a:spcBef>
                          <a:spcPts val="0"/>
                        </a:spcBef>
                        <a:spcAft>
                          <a:spcPts val="0"/>
                        </a:spcAft>
                        <a:buNone/>
                      </a:pPr>
                      <a:r>
                        <a:rPr lang="en-IN" sz="1300" dirty="0">
                          <a:solidFill>
                            <a:srgbClr val="1F2328"/>
                          </a:solidFill>
                          <a:latin typeface="Times New Roman" panose="02020603050405020304" pitchFamily="18" charset="0"/>
                          <a:cs typeface="Times New Roman" panose="02020603050405020304" pitchFamily="18" charset="0"/>
                        </a:rPr>
                        <a:t>Verification is not a formality</a:t>
                      </a:r>
                    </a:p>
                  </a:txBody>
                  <a:tcPr marL="73152" marR="73152" marT="45720" marB="45720" anchor="ctr">
                    <a:lnL w="9525">
                      <a:solidFill>
                        <a:srgbClr val="C9D3E0"/>
                      </a:solidFill>
                    </a:lnL>
                    <a:lnR w="9525">
                      <a:solidFill>
                        <a:srgbClr val="C9D3E0"/>
                      </a:solidFill>
                    </a:lnR>
                    <a:lnT w="9525">
                      <a:solidFill>
                        <a:srgbClr val="C9D3E0"/>
                      </a:solidFill>
                    </a:lnT>
                    <a:lnB w="9525">
                      <a:solidFill>
                        <a:srgbClr val="C9D3E0"/>
                      </a:solidFill>
                    </a:lnB>
                    <a:solidFill>
                      <a:srgbClr val="EEF3FA"/>
                    </a:solidFill>
                  </a:tcPr>
                </a:tc>
                <a:tc>
                  <a:txBody>
                    <a:bodyPr/>
                    <a:lstStyle/>
                    <a:p>
                      <a:pPr marL="0" indent="0" algn="l">
                        <a:lnSpc>
                          <a:spcPct val="100000"/>
                        </a:lnSpc>
                        <a:spcBef>
                          <a:spcPts val="0"/>
                        </a:spcBef>
                        <a:spcAft>
                          <a:spcPts val="0"/>
                        </a:spcAft>
                        <a:buNone/>
                      </a:pPr>
                      <a:r>
                        <a:rPr lang="en-IN" sz="1300" dirty="0">
                          <a:solidFill>
                            <a:srgbClr val="1F2328"/>
                          </a:solidFill>
                          <a:latin typeface="Times New Roman" panose="02020603050405020304" pitchFamily="18" charset="0"/>
                          <a:cs typeface="Times New Roman" panose="02020603050405020304" pitchFamily="18" charset="0"/>
                        </a:rPr>
                        <a:t>3 fixed: duplicate events, missed abandon form, tie-breaking</a:t>
                      </a:r>
                    </a:p>
                  </a:txBody>
                  <a:tcPr marL="73152" marR="73152" marT="45720" marB="45720" anchor="ctr">
                    <a:lnL w="9525">
                      <a:solidFill>
                        <a:srgbClr val="C9D3E0"/>
                      </a:solidFill>
                    </a:lnL>
                    <a:lnR w="9525">
                      <a:solidFill>
                        <a:srgbClr val="C9D3E0"/>
                      </a:solidFill>
                    </a:lnR>
                    <a:lnT w="9525">
                      <a:solidFill>
                        <a:srgbClr val="C9D3E0"/>
                      </a:solidFill>
                    </a:lnT>
                    <a:lnB w="9525">
                      <a:solidFill>
                        <a:srgbClr val="C9D3E0"/>
                      </a:solidFill>
                    </a:lnB>
                    <a:solidFill>
                      <a:srgbClr val="EEF3FA"/>
                    </a:solidFill>
                  </a:tcPr>
                </a:tc>
              </a:tr>
            </a:tbl>
          </a:graphicData>
        </a:graphic>
      </p:graphicFrame>
      <p:sp>
        <p:nvSpPr>
          <p:cNvPr id="4" name="Limits 4"/>
          <p:cNvSpPr txBox="1"/>
          <p:nvPr/>
        </p:nvSpPr>
        <p:spPr>
          <a:xfrm>
            <a:off x="457200" y="5486400"/>
            <a:ext cx="11274552" cy="685800"/>
          </a:xfrm>
          <a:prstGeom prst="roundRect">
            <a:avLst>
              <a:gd name="adj" fmla="val 6000"/>
            </a:avLst>
          </a:prstGeom>
          <a:solidFill>
            <a:srgbClr val="F3F6FA"/>
          </a:solidFill>
          <a:ln>
            <a:noFill/>
          </a:ln>
        </p:spPr>
        <p:txBody>
          <a:bodyPr wrap="square" lIns="109728" tIns="76810" rIns="109728" bIns="76810" rtlCol="0" anchor="ctr">
            <a:noAutofit/>
          </a:bodyPr>
          <a:lstStyle/>
          <a:p>
            <a:pPr marL="0" indent="0" algn="l">
              <a:lnSpc>
                <a:spcPct val="100000"/>
              </a:lnSpc>
              <a:spcBef>
                <a:spcPts val="0"/>
              </a:spcBef>
              <a:spcAft>
                <a:spcPts val="0"/>
              </a:spcAft>
              <a:buNone/>
            </a:pPr>
            <a:r>
              <a:rPr lang="en-IN" sz="1500" b="1" dirty="0">
                <a:solidFill>
                  <a:srgbClr val="EB6834"/>
                </a:solidFill>
                <a:latin typeface="Times New Roman" panose="02020603050405020304" pitchFamily="18" charset="0"/>
                <a:cs typeface="Times New Roman" panose="02020603050405020304" pitchFamily="18" charset="0"/>
              </a:rPr>
              <a:t>What we did not do: </a:t>
            </a:r>
            <a:r>
              <a:rPr lang="en-IN" sz="1500" dirty="0">
                <a:solidFill>
                  <a:srgbClr val="1F2328"/>
                </a:solidFill>
                <a:latin typeface="Times New Roman" panose="02020603050405020304" pitchFamily="18" charset="0"/>
                <a:cs typeface="Times New Roman" panose="02020603050405020304" pitchFamily="18" charset="0"/>
              </a:rPr>
              <a:t>independent human labelling; the distortion check covers slices, not full logs; the activity rankings have no second implementation; the converters are checked by us only.</a:t>
            </a:r>
          </a:p>
        </p:txBody>
      </p:sp>
      <p:sp>
        <p:nvSpPr>
          <p:cNvPr id="5" name="Date Placeholder"/>
          <p:cNvSpPr>
            <a:spLocks noGrp="1"/>
          </p:cNvSpPr>
          <p:nvPr>
            <p:ph type="dt" sz="half" idx="10"/>
          </p:nvPr>
        </p:nvSpPr>
        <p:spPr/>
        <p:txBody>
          <a:bodyPr/>
          <a:lstStyle/>
          <a:p>
            <a:fld id="{61736562-4E3F-4038-A291-A7AE35CC3E6A}" type="datetime1">
              <a:rPr lang="en-IN" smtClean="0"/>
              <a:t>28/10/26</a:t>
            </a:fld>
            <a:endParaRPr lang="en-IN"/>
          </a:p>
        </p:txBody>
      </p:sp>
      <p:sp>
        <p:nvSpPr>
          <p:cNvPr id="6" name="Footer Placeholder"/>
          <p:cNvSpPr>
            <a:spLocks noGrp="1"/>
          </p:cNvSpPr>
          <p:nvPr>
            <p:ph type="ftr" sz="quarter" idx="11"/>
          </p:nvPr>
        </p:nvSpPr>
        <p:spPr/>
        <p:txBody>
          <a:bodyPr/>
          <a:lstStyle/>
          <a:p>
            <a:r>
              <a:rPr lang="en-IN"/>
              <a:t>SCOPE</a:t>
            </a:r>
          </a:p>
        </p:txBody>
      </p:sp>
      <p:sp>
        <p:nvSpPr>
          <p:cNvPr id="7" name="Slide Number Placeholder"/>
          <p:cNvSpPr>
            <a:spLocks noGrp="1"/>
          </p:cNvSpPr>
          <p:nvPr>
            <p:ph type="sldNum" sz="quarter" idx="12"/>
          </p:nvPr>
        </p:nvSpPr>
        <p:spPr/>
        <p:txBody>
          <a:bodyPr/>
          <a:lstStyle/>
          <a:p>
            <a:fld id="{65201FD4-9D8D-4491-815B-63C7BF4F0034}" type="slidenum">
              <a:rPr lang="en-IN" smtClean="0"/>
              <a:t>16</a:t>
            </a:fld>
            <a:endParaRPr lang="en-IN"/>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a:spLocks noGrp="1"/>
          </p:cNvSpPr>
          <p:nvPr>
            <p:ph type="title"/>
          </p:nvPr>
        </p:nvSpPr>
        <p:spPr>
          <a:xfrm>
            <a:off x="457200" y="502920"/>
            <a:ext cx="11274552" cy="685800"/>
          </a:xfrm>
          <a:prstGeom prst="rect">
            <a:avLst/>
          </a:prstGeom>
        </p:spPr>
        <p:txBody>
          <a:bodyPr vert="horz" wrap="square" lIns="0" tIns="0" rIns="0" bIns="0" rtlCol="0" anchor="ctr">
            <a:noAutofit/>
          </a:bodyPr>
          <a:lstStyle/>
          <a:p>
            <a:pPr marL="0">
              <a:lnSpc>
                <a:spcPct val="100000"/>
              </a:lnSpc>
            </a:pPr>
            <a:r>
              <a:rPr lang="en-IN" sz="3000" b="1" dirty="0">
                <a:latin typeface="Times New Roman" panose="02020603050405020304" pitchFamily="18" charset="0"/>
                <a:cs typeface="Times New Roman" panose="02020603050405020304" pitchFamily="18" charset="0"/>
              </a:rPr>
              <a:t>Conclusion and Future Work</a:t>
            </a:r>
          </a:p>
        </p:txBody>
      </p:sp>
      <p:sp>
        <p:nvSpPr>
          <p:cNvPr id="3" name="Conclusion 3"/>
          <p:cNvSpPr txBox="1"/>
          <p:nvPr/>
        </p:nvSpPr>
        <p:spPr>
          <a:xfrm>
            <a:off x="457200" y="1371600"/>
            <a:ext cx="5532120" cy="4206240"/>
          </a:xfrm>
          <a:prstGeom prst="roundRect">
            <a:avLst>
              <a:gd name="adj" fmla="val 6000"/>
            </a:avLst>
          </a:prstGeom>
          <a:solidFill>
            <a:srgbClr val="F3F6FA"/>
          </a:solidFill>
          <a:ln>
            <a:noFill/>
          </a:ln>
        </p:spPr>
        <p:txBody>
          <a:bodyPr wrap="square" lIns="109728" tIns="76810" rIns="109728" bIns="76810" rtlCol="0" anchor="t">
            <a:noAutofit/>
          </a:bodyPr>
          <a:lstStyle/>
          <a:p>
            <a:pPr marL="0" indent="0" algn="l">
              <a:lnSpc>
                <a:spcPct val="100000"/>
              </a:lnSpc>
              <a:spcBef>
                <a:spcPts val="0"/>
              </a:spcBef>
              <a:spcAft>
                <a:spcPts val="400"/>
              </a:spcAft>
              <a:buNone/>
            </a:pPr>
            <a:r>
              <a:rPr lang="en-IN" sz="2000" b="1" dirty="0">
                <a:solidFill>
                  <a:srgbClr val="2A78D6"/>
                </a:solidFill>
                <a:latin typeface="Times New Roman" panose="02020603050405020304" pitchFamily="18" charset="0"/>
                <a:cs typeface="Times New Roman" panose="02020603050405020304" pitchFamily="18" charset="0"/>
              </a:rPr>
              <a:t>Conclusion</a:t>
            </a:r>
          </a:p>
          <a:p>
            <a:pPr marL="285750" indent="-285750" algn="l">
              <a:lnSpc>
                <a:spcPct val="100000"/>
              </a:lnSpc>
              <a:spcBef>
                <a:spcPts val="1400"/>
              </a:spcBef>
              <a:spcAft>
                <a:spcPts val="0"/>
              </a:spcAft>
              <a:buFont typeface="Arial" panose="020B0604020202020204" pitchFamily="34" charset="0"/>
              <a:buChar char="•"/>
            </a:pPr>
            <a:r>
              <a:rPr lang="en-IN" sz="1900" dirty="0">
                <a:solidFill>
                  <a:srgbClr val="1F2328"/>
                </a:solidFill>
                <a:latin typeface="Times New Roman" panose="02020603050405020304" pitchFamily="18" charset="0"/>
                <a:cs typeface="Times New Roman" panose="02020603050405020304" pitchFamily="18" charset="0"/>
              </a:rPr>
              <a:t>We built a reproducible, checked OCEL 2.0 pipeline on 7 real public logs.</a:t>
            </a:r>
          </a:p>
          <a:p>
            <a:pPr marL="285750" indent="-285750" algn="l">
              <a:lnSpc>
                <a:spcPct val="100000"/>
              </a:lnSpc>
              <a:spcBef>
                <a:spcPts val="1400"/>
              </a:spcBef>
              <a:spcAft>
                <a:spcPts val="0"/>
              </a:spcAft>
              <a:buFont typeface="Arial" panose="020B0604020202020204" pitchFamily="34" charset="0"/>
              <a:buChar char="•"/>
            </a:pPr>
            <a:r>
              <a:rPr lang="en-IN" sz="1900" dirty="0">
                <a:solidFill>
                  <a:srgbClr val="1F2328"/>
                </a:solidFill>
                <a:latin typeface="Times New Roman" panose="02020603050405020304" pitchFamily="18" charset="0"/>
                <a:cs typeface="Times New Roman" panose="02020603050405020304" pitchFamily="18" charset="0"/>
              </a:rPr>
              <a:t>Flattening duplicates events only in fan-out logs; the common effect is narrowing.</a:t>
            </a:r>
          </a:p>
          <a:p>
            <a:pPr marL="285750" indent="-285750" algn="l">
              <a:lnSpc>
                <a:spcPct val="100000"/>
              </a:lnSpc>
              <a:spcBef>
                <a:spcPts val="1400"/>
              </a:spcBef>
              <a:spcAft>
                <a:spcPts val="0"/>
              </a:spcAft>
              <a:buFont typeface="Arial" panose="020B0604020202020204" pitchFamily="34" charset="0"/>
              <a:buChar char="•"/>
            </a:pPr>
            <a:r>
              <a:rPr lang="en-IN" sz="1900" dirty="0">
                <a:solidFill>
                  <a:srgbClr val="1F2328"/>
                </a:solidFill>
                <a:latin typeface="Times New Roman" panose="02020603050405020304" pitchFamily="18" charset="0"/>
                <a:cs typeface="Times New Roman" panose="02020603050405020304" pitchFamily="18" charset="0"/>
              </a:rPr>
              <a:t>Naive entity counts from flat exports can mislead badly.</a:t>
            </a:r>
          </a:p>
          <a:p>
            <a:pPr marL="285750" indent="-285750" algn="l">
              <a:lnSpc>
                <a:spcPct val="100000"/>
              </a:lnSpc>
              <a:spcBef>
                <a:spcPts val="1400"/>
              </a:spcBef>
              <a:spcAft>
                <a:spcPts val="0"/>
              </a:spcAft>
              <a:buFont typeface="Arial" panose="020B0604020202020204" pitchFamily="34" charset="0"/>
              <a:buChar char="•"/>
            </a:pPr>
            <a:r>
              <a:rPr lang="en-IN" sz="1900" dirty="0">
                <a:solidFill>
                  <a:srgbClr val="1F2328"/>
                </a:solidFill>
                <a:latin typeface="Times New Roman" panose="02020603050405020304" pitchFamily="18" charset="0"/>
                <a:cs typeface="Times New Roman" panose="02020603050405020304" pitchFamily="18" charset="0"/>
              </a:rPr>
              <a:t>The capstone model is a design; no portal data was available to test it.</a:t>
            </a:r>
          </a:p>
        </p:txBody>
      </p:sp>
      <p:sp>
        <p:nvSpPr>
          <p:cNvPr id="4" name="Future 4"/>
          <p:cNvSpPr txBox="1"/>
          <p:nvPr/>
        </p:nvSpPr>
        <p:spPr>
          <a:xfrm>
            <a:off x="6199632" y="1371600"/>
            <a:ext cx="5532120" cy="4206240"/>
          </a:xfrm>
          <a:prstGeom prst="roundRect">
            <a:avLst>
              <a:gd name="adj" fmla="val 6000"/>
            </a:avLst>
          </a:prstGeom>
          <a:solidFill>
            <a:srgbClr val="F3F6FA"/>
          </a:solidFill>
          <a:ln>
            <a:noFill/>
          </a:ln>
        </p:spPr>
        <p:txBody>
          <a:bodyPr wrap="square" lIns="109728" tIns="76810" rIns="109728" bIns="76810" rtlCol="0" anchor="t">
            <a:noAutofit/>
          </a:bodyPr>
          <a:lstStyle/>
          <a:p>
            <a:pPr marL="0" indent="0" algn="l">
              <a:lnSpc>
                <a:spcPct val="100000"/>
              </a:lnSpc>
              <a:spcBef>
                <a:spcPts val="0"/>
              </a:spcBef>
              <a:spcAft>
                <a:spcPts val="400"/>
              </a:spcAft>
              <a:buNone/>
            </a:pPr>
            <a:r>
              <a:rPr lang="en-IN" sz="2000" b="1" dirty="0">
                <a:solidFill>
                  <a:srgbClr val="EB6834"/>
                </a:solidFill>
                <a:latin typeface="Times New Roman" panose="02020603050405020304" pitchFamily="18" charset="0"/>
                <a:cs typeface="Times New Roman" panose="02020603050405020304" pitchFamily="18" charset="0"/>
              </a:rPr>
              <a:t>Future work</a:t>
            </a:r>
          </a:p>
          <a:p>
            <a:pPr marL="285750" indent="-285750" algn="l">
              <a:lnSpc>
                <a:spcPct val="100000"/>
              </a:lnSpc>
              <a:spcBef>
                <a:spcPts val="1400"/>
              </a:spcBef>
              <a:spcAft>
                <a:spcPts val="0"/>
              </a:spcAft>
              <a:buFont typeface="Arial" panose="020B0604020202020204" pitchFamily="34" charset="0"/>
              <a:buChar char="•"/>
            </a:pPr>
            <a:r>
              <a:rPr lang="en-IN" sz="1900" dirty="0">
                <a:solidFill>
                  <a:srgbClr val="1F2328"/>
                </a:solidFill>
                <a:latin typeface="Times New Roman" panose="02020603050405020304" pitchFamily="18" charset="0"/>
                <a:cs typeface="Times New Roman" panose="02020603050405020304" pitchFamily="18" charset="0"/>
              </a:rPr>
              <a:t>Independent two-rater labelling of the real-data findings.</a:t>
            </a:r>
          </a:p>
          <a:p>
            <a:pPr marL="285750" indent="-285750" algn="l">
              <a:lnSpc>
                <a:spcPct val="100000"/>
              </a:lnSpc>
              <a:spcBef>
                <a:spcPts val="1400"/>
              </a:spcBef>
              <a:spcAft>
                <a:spcPts val="0"/>
              </a:spcAft>
              <a:buFont typeface="Arial" panose="020B0604020202020204" pitchFamily="34" charset="0"/>
              <a:buChar char="•"/>
            </a:pPr>
            <a:r>
              <a:rPr lang="en-IN" sz="1900" dirty="0">
                <a:solidFill>
                  <a:srgbClr val="1F2328"/>
                </a:solidFill>
                <a:latin typeface="Times New Roman" panose="02020603050405020304" pitchFamily="18" charset="0"/>
                <a:cs typeface="Times New Roman" panose="02020603050405020304" pitchFamily="18" charset="0"/>
              </a:rPr>
              <a:t>Process-discovery quality and predictive-monitoring comparisons.</a:t>
            </a:r>
          </a:p>
          <a:p>
            <a:pPr marL="285750" indent="-285750" algn="l">
              <a:lnSpc>
                <a:spcPct val="100000"/>
              </a:lnSpc>
              <a:spcBef>
                <a:spcPts val="1400"/>
              </a:spcBef>
              <a:spcAft>
                <a:spcPts val="0"/>
              </a:spcAft>
              <a:buFont typeface="Arial" panose="020B0604020202020204" pitchFamily="34" charset="0"/>
              <a:buChar char="•"/>
            </a:pPr>
            <a:r>
              <a:rPr lang="en-IN" sz="1900" dirty="0">
                <a:solidFill>
                  <a:srgbClr val="1F2328"/>
                </a:solidFill>
                <a:latin typeface="Times New Roman" panose="02020603050405020304" pitchFamily="18" charset="0"/>
                <a:cs typeface="Times New Roman" panose="02020603050405020304" pitchFamily="18" charset="0"/>
              </a:rPr>
              <a:t>Two or three more real logs (for example BPI 2019).</a:t>
            </a:r>
          </a:p>
          <a:p>
            <a:pPr marL="285750" indent="-285750" algn="l">
              <a:lnSpc>
                <a:spcPct val="100000"/>
              </a:lnSpc>
              <a:spcBef>
                <a:spcPts val="1400"/>
              </a:spcBef>
              <a:spcAft>
                <a:spcPts val="0"/>
              </a:spcAft>
              <a:buFont typeface="Arial" panose="020B0604020202020204" pitchFamily="34" charset="0"/>
              <a:buChar char="•"/>
            </a:pPr>
            <a:r>
              <a:rPr lang="en-IN" sz="1900" dirty="0">
                <a:solidFill>
                  <a:srgbClr val="1F2328"/>
                </a:solidFill>
                <a:latin typeface="Times New Roman" panose="02020603050405020304" pitchFamily="18" charset="0"/>
                <a:cs typeface="Times New Roman" panose="02020603050405020304" pitchFamily="18" charset="0"/>
              </a:rPr>
              <a:t>A portal adapter once de-identified audit logs are approved.</a:t>
            </a:r>
          </a:p>
          <a:p>
            <a:pPr marL="285750" indent="-285750" algn="l">
              <a:lnSpc>
                <a:spcPct val="100000"/>
              </a:lnSpc>
              <a:spcBef>
                <a:spcPts val="1400"/>
              </a:spcBef>
              <a:spcAft>
                <a:spcPts val="0"/>
              </a:spcAft>
              <a:buFont typeface="Arial" panose="020B0604020202020204" pitchFamily="34" charset="0"/>
              <a:buChar char="•"/>
            </a:pPr>
            <a:r>
              <a:rPr lang="en-IN" sz="1900" dirty="0">
                <a:solidFill>
                  <a:srgbClr val="1F2328"/>
                </a:solidFill>
                <a:latin typeface="Times New Roman" panose="02020603050405020304" pitchFamily="18" charset="0"/>
                <a:cs typeface="Times New Roman" panose="02020603050405020304" pitchFamily="18" charset="0"/>
              </a:rPr>
              <a:t>Journal manuscript, venue still to be chosen.</a:t>
            </a:r>
          </a:p>
        </p:txBody>
      </p:sp>
      <p:sp>
        <p:nvSpPr>
          <p:cNvPr id="5" name="Date Placeholder"/>
          <p:cNvSpPr>
            <a:spLocks noGrp="1"/>
          </p:cNvSpPr>
          <p:nvPr>
            <p:ph type="dt" sz="half" idx="10"/>
          </p:nvPr>
        </p:nvSpPr>
        <p:spPr/>
        <p:txBody>
          <a:bodyPr/>
          <a:lstStyle/>
          <a:p>
            <a:fld id="{61736562-4E3F-4038-A291-A7AE35CC3E6A}" type="datetime1">
              <a:rPr lang="en-IN" smtClean="0"/>
              <a:t>28/10/26</a:t>
            </a:fld>
            <a:endParaRPr lang="en-IN"/>
          </a:p>
        </p:txBody>
      </p:sp>
      <p:sp>
        <p:nvSpPr>
          <p:cNvPr id="6" name="Footer Placeholder"/>
          <p:cNvSpPr>
            <a:spLocks noGrp="1"/>
          </p:cNvSpPr>
          <p:nvPr>
            <p:ph type="ftr" sz="quarter" idx="11"/>
          </p:nvPr>
        </p:nvSpPr>
        <p:spPr/>
        <p:txBody>
          <a:bodyPr/>
          <a:lstStyle/>
          <a:p>
            <a:r>
              <a:rPr lang="en-IN"/>
              <a:t>SCOPE</a:t>
            </a:r>
          </a:p>
        </p:txBody>
      </p:sp>
      <p:sp>
        <p:nvSpPr>
          <p:cNvPr id="7" name="Slide Number Placeholder"/>
          <p:cNvSpPr>
            <a:spLocks noGrp="1"/>
          </p:cNvSpPr>
          <p:nvPr>
            <p:ph type="sldNum" sz="quarter" idx="12"/>
          </p:nvPr>
        </p:nvSpPr>
        <p:spPr/>
        <p:txBody>
          <a:bodyPr/>
          <a:lstStyle/>
          <a:p>
            <a:fld id="{65201FD4-9D8D-4491-815B-63C7BF4F0034}" type="slidenum">
              <a:rPr lang="en-IN" smtClean="0"/>
              <a:t>17</a:t>
            </a:fld>
            <a:endParaRPr lang="en-IN"/>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a:spLocks noGrp="1"/>
          </p:cNvSpPr>
          <p:nvPr>
            <p:ph type="title"/>
          </p:nvPr>
        </p:nvSpPr>
        <p:spPr>
          <a:xfrm>
            <a:off x="457200" y="502920"/>
            <a:ext cx="11274552" cy="685800"/>
          </a:xfrm>
          <a:prstGeom prst="rect">
            <a:avLst/>
          </a:prstGeom>
        </p:spPr>
        <p:txBody>
          <a:bodyPr vert="horz" wrap="square" lIns="0" tIns="0" rIns="0" bIns="0" rtlCol="0" anchor="ctr">
            <a:noAutofit/>
          </a:bodyPr>
          <a:lstStyle/>
          <a:p>
            <a:pPr marL="0">
              <a:lnSpc>
                <a:spcPct val="100000"/>
              </a:lnSpc>
            </a:pPr>
            <a:r>
              <a:rPr lang="en-IN" sz="3000" b="1" dirty="0">
                <a:latin typeface="Times New Roman" panose="02020603050405020304" pitchFamily="18" charset="0"/>
                <a:cs typeface="Times New Roman" panose="02020603050405020304" pitchFamily="18" charset="0"/>
              </a:rPr>
              <a:t>Outcome Achieved</a:t>
            </a:r>
          </a:p>
        </p:txBody>
      </p:sp>
      <p:graphicFrame>
        <p:nvGraphicFramePr>
          <p:cNvPr id="3" name="Table 3"/>
          <p:cNvGraphicFramePr>
            <a:graphicFrameLocks noGrp="1"/>
          </p:cNvGraphicFramePr>
          <p:nvPr/>
        </p:nvGraphicFramePr>
        <p:xfrm>
          <a:off x="457200" y="1371600"/>
          <a:ext cx="11274552" cy="3429000"/>
        </p:xfrm>
        <a:graphic>
          <a:graphicData uri="http://schemas.openxmlformats.org/drawingml/2006/table">
            <a:tbl>
              <a:tblPr firstRow="1" bandRow="1"/>
              <a:tblGrid>
                <a:gridCol w="3840480"/>
                <a:gridCol w="7434072"/>
              </a:tblGrid>
              <a:tr h="457200">
                <a:tc>
                  <a:txBody>
                    <a:bodyPr/>
                    <a:lstStyle/>
                    <a:p>
                      <a:pPr marL="0" indent="0" algn="l">
                        <a:lnSpc>
                          <a:spcPct val="100000"/>
                        </a:lnSpc>
                        <a:spcBef>
                          <a:spcPts val="0"/>
                        </a:spcBef>
                        <a:spcAft>
                          <a:spcPts val="0"/>
                        </a:spcAft>
                        <a:buNone/>
                      </a:pPr>
                      <a:r>
                        <a:rPr lang="en-IN" sz="1500" b="1" dirty="0">
                          <a:solidFill>
                            <a:srgbClr val="FFFFFF"/>
                          </a:solidFill>
                          <a:latin typeface="Times New Roman" panose="02020603050405020304" pitchFamily="18" charset="0"/>
                          <a:cs typeface="Times New Roman" panose="02020603050405020304" pitchFamily="18" charset="0"/>
                        </a:rPr>
                        <a:t>Outcome type</a:t>
                      </a:r>
                    </a:p>
                  </a:txBody>
                  <a:tcPr marL="73152" marR="73152" marT="45720" marB="45720" anchor="ctr">
                    <a:lnL w="9525">
                      <a:solidFill>
                        <a:srgbClr val="C9D3E0"/>
                      </a:solidFill>
                    </a:lnL>
                    <a:lnR w="9525">
                      <a:solidFill>
                        <a:srgbClr val="C9D3E0"/>
                      </a:solidFill>
                    </a:lnR>
                    <a:lnT w="9525">
                      <a:solidFill>
                        <a:srgbClr val="C9D3E0"/>
                      </a:solidFill>
                    </a:lnT>
                    <a:lnB w="9525">
                      <a:solidFill>
                        <a:srgbClr val="C9D3E0"/>
                      </a:solidFill>
                    </a:lnB>
                    <a:solidFill>
                      <a:srgbClr val="2A78D6"/>
                    </a:solidFill>
                  </a:tcPr>
                </a:tc>
                <a:tc>
                  <a:txBody>
                    <a:bodyPr/>
                    <a:lstStyle/>
                    <a:p>
                      <a:pPr marL="0" indent="0" algn="l">
                        <a:lnSpc>
                          <a:spcPct val="100000"/>
                        </a:lnSpc>
                        <a:spcBef>
                          <a:spcPts val="0"/>
                        </a:spcBef>
                        <a:spcAft>
                          <a:spcPts val="0"/>
                        </a:spcAft>
                        <a:buNone/>
                      </a:pPr>
                      <a:r>
                        <a:rPr lang="en-IN" sz="1500" b="1" dirty="0">
                          <a:solidFill>
                            <a:srgbClr val="FFFFFF"/>
                          </a:solidFill>
                          <a:latin typeface="Times New Roman" panose="02020603050405020304" pitchFamily="18" charset="0"/>
                          <a:cs typeface="Times New Roman" panose="02020603050405020304" pitchFamily="18" charset="0"/>
                        </a:rPr>
                        <a:t>Status today</a:t>
                      </a:r>
                    </a:p>
                  </a:txBody>
                  <a:tcPr marL="73152" marR="73152" marT="45720" marB="45720" anchor="ctr">
                    <a:lnL w="9525">
                      <a:solidFill>
                        <a:srgbClr val="C9D3E0"/>
                      </a:solidFill>
                    </a:lnL>
                    <a:lnR w="9525">
                      <a:solidFill>
                        <a:srgbClr val="C9D3E0"/>
                      </a:solidFill>
                    </a:lnR>
                    <a:lnT w="9525">
                      <a:solidFill>
                        <a:srgbClr val="C9D3E0"/>
                      </a:solidFill>
                    </a:lnT>
                    <a:lnB w="9525">
                      <a:solidFill>
                        <a:srgbClr val="C9D3E0"/>
                      </a:solidFill>
                    </a:lnB>
                    <a:solidFill>
                      <a:srgbClr val="2A78D6"/>
                    </a:solidFill>
                  </a:tcPr>
                </a:tc>
              </a:tr>
              <a:tr h="594360">
                <a:tc>
                  <a:txBody>
                    <a:bodyPr/>
                    <a:lstStyle/>
                    <a:p>
                      <a:pPr marL="0" indent="0" algn="l">
                        <a:lnSpc>
                          <a:spcPct val="100000"/>
                        </a:lnSpc>
                        <a:spcBef>
                          <a:spcPts val="0"/>
                        </a:spcBef>
                        <a:spcAft>
                          <a:spcPts val="0"/>
                        </a:spcAft>
                        <a:buNone/>
                      </a:pPr>
                      <a:r>
                        <a:rPr lang="en-IN" sz="1500" dirty="0">
                          <a:solidFill>
                            <a:srgbClr val="1F2328"/>
                          </a:solidFill>
                          <a:latin typeface="Times New Roman" panose="02020603050405020304" pitchFamily="18" charset="0"/>
                          <a:cs typeface="Times New Roman" panose="02020603050405020304" pitchFamily="18" charset="0"/>
                        </a:rPr>
                        <a:t>Patent</a:t>
                      </a:r>
                    </a:p>
                  </a:txBody>
                  <a:tcPr marL="73152" marR="73152" marT="45720" marB="45720" anchor="ctr">
                    <a:lnL w="9525">
                      <a:solidFill>
                        <a:srgbClr val="C9D3E0"/>
                      </a:solidFill>
                    </a:lnL>
                    <a:lnR w="9525">
                      <a:solidFill>
                        <a:srgbClr val="C9D3E0"/>
                      </a:solidFill>
                    </a:lnR>
                    <a:lnT w="9525">
                      <a:solidFill>
                        <a:srgbClr val="C9D3E0"/>
                      </a:solidFill>
                    </a:lnT>
                    <a:lnB w="9525">
                      <a:solidFill>
                        <a:srgbClr val="C9D3E0"/>
                      </a:solidFill>
                    </a:lnB>
                    <a:solidFill>
                      <a:srgbClr val="EEF3FA"/>
                    </a:solidFill>
                  </a:tcPr>
                </a:tc>
                <a:tc>
                  <a:txBody>
                    <a:bodyPr/>
                    <a:lstStyle/>
                    <a:p>
                      <a:pPr marL="0" indent="0" algn="l">
                        <a:lnSpc>
                          <a:spcPct val="100000"/>
                        </a:lnSpc>
                        <a:spcBef>
                          <a:spcPts val="0"/>
                        </a:spcBef>
                        <a:spcAft>
                          <a:spcPts val="0"/>
                        </a:spcAft>
                        <a:buNone/>
                      </a:pPr>
                      <a:r>
                        <a:rPr lang="en-IN" sz="1500" dirty="0">
                          <a:solidFill>
                            <a:srgbClr val="1F2328"/>
                          </a:solidFill>
                          <a:latin typeface="Times New Roman" panose="02020603050405020304" pitchFamily="18" charset="0"/>
                          <a:cs typeface="Times New Roman" panose="02020603050405020304" pitchFamily="18" charset="0"/>
                        </a:rPr>
                        <a:t>None filed</a:t>
                      </a:r>
                    </a:p>
                  </a:txBody>
                  <a:tcPr marL="73152" marR="73152" marT="45720" marB="45720" anchor="ctr">
                    <a:lnL w="9525">
                      <a:solidFill>
                        <a:srgbClr val="C9D3E0"/>
                      </a:solidFill>
                    </a:lnL>
                    <a:lnR w="9525">
                      <a:solidFill>
                        <a:srgbClr val="C9D3E0"/>
                      </a:solidFill>
                    </a:lnR>
                    <a:lnT w="9525">
                      <a:solidFill>
                        <a:srgbClr val="C9D3E0"/>
                      </a:solidFill>
                    </a:lnT>
                    <a:lnB w="9525">
                      <a:solidFill>
                        <a:srgbClr val="C9D3E0"/>
                      </a:solidFill>
                    </a:lnB>
                    <a:solidFill>
                      <a:srgbClr val="EEF3FA"/>
                    </a:solidFill>
                  </a:tcPr>
                </a:tc>
              </a:tr>
              <a:tr h="594360">
                <a:tc>
                  <a:txBody>
                    <a:bodyPr/>
                    <a:lstStyle/>
                    <a:p>
                      <a:pPr marL="0" indent="0" algn="l">
                        <a:lnSpc>
                          <a:spcPct val="100000"/>
                        </a:lnSpc>
                        <a:spcBef>
                          <a:spcPts val="0"/>
                        </a:spcBef>
                        <a:spcAft>
                          <a:spcPts val="0"/>
                        </a:spcAft>
                        <a:buNone/>
                      </a:pPr>
                      <a:r>
                        <a:rPr lang="en-IN" sz="1500" dirty="0">
                          <a:solidFill>
                            <a:srgbClr val="1F2328"/>
                          </a:solidFill>
                          <a:latin typeface="Times New Roman" panose="02020603050405020304" pitchFamily="18" charset="0"/>
                          <a:cs typeface="Times New Roman" panose="02020603050405020304" pitchFamily="18" charset="0"/>
                        </a:rPr>
                        <a:t>International conference proceedings</a:t>
                      </a:r>
                    </a:p>
                  </a:txBody>
                  <a:tcPr marL="73152" marR="73152" marT="45720" marB="45720" anchor="ctr">
                    <a:lnL w="9525">
                      <a:solidFill>
                        <a:srgbClr val="C9D3E0"/>
                      </a:solidFill>
                    </a:lnL>
                    <a:lnR w="9525">
                      <a:solidFill>
                        <a:srgbClr val="C9D3E0"/>
                      </a:solidFill>
                    </a:lnR>
                    <a:lnT w="9525">
                      <a:solidFill>
                        <a:srgbClr val="C9D3E0"/>
                      </a:solidFill>
                    </a:lnT>
                    <a:lnB w="9525">
                      <a:solidFill>
                        <a:srgbClr val="C9D3E0"/>
                      </a:solidFill>
                    </a:lnB>
                    <a:solidFill>
                      <a:srgbClr val="FFFFFF"/>
                    </a:solidFill>
                  </a:tcPr>
                </a:tc>
                <a:tc>
                  <a:txBody>
                    <a:bodyPr/>
                    <a:lstStyle/>
                    <a:p>
                      <a:pPr marL="0" indent="0" algn="l">
                        <a:lnSpc>
                          <a:spcPct val="100000"/>
                        </a:lnSpc>
                        <a:spcBef>
                          <a:spcPts val="0"/>
                        </a:spcBef>
                        <a:spcAft>
                          <a:spcPts val="0"/>
                        </a:spcAft>
                        <a:buNone/>
                      </a:pPr>
                      <a:r>
                        <a:rPr lang="en-IN" sz="1500" dirty="0">
                          <a:solidFill>
                            <a:srgbClr val="1F2328"/>
                          </a:solidFill>
                          <a:latin typeface="Times New Roman" panose="02020603050405020304" pitchFamily="18" charset="0"/>
                          <a:cs typeface="Times New Roman" panose="02020603050405020304" pitchFamily="18" charset="0"/>
                        </a:rPr>
                        <a:t>None submitted</a:t>
                      </a:r>
                    </a:p>
                  </a:txBody>
                  <a:tcPr marL="73152" marR="73152" marT="45720" marB="45720" anchor="ctr">
                    <a:lnL w="9525">
                      <a:solidFill>
                        <a:srgbClr val="C9D3E0"/>
                      </a:solidFill>
                    </a:lnL>
                    <a:lnR w="9525">
                      <a:solidFill>
                        <a:srgbClr val="C9D3E0"/>
                      </a:solidFill>
                    </a:lnR>
                    <a:lnT w="9525">
                      <a:solidFill>
                        <a:srgbClr val="C9D3E0"/>
                      </a:solidFill>
                    </a:lnT>
                    <a:lnB w="9525">
                      <a:solidFill>
                        <a:srgbClr val="C9D3E0"/>
                      </a:solidFill>
                    </a:lnB>
                    <a:solidFill>
                      <a:srgbClr val="FFFFFF"/>
                    </a:solidFill>
                  </a:tcPr>
                </a:tc>
              </a:tr>
              <a:tr h="594360">
                <a:tc>
                  <a:txBody>
                    <a:bodyPr/>
                    <a:lstStyle/>
                    <a:p>
                      <a:pPr marL="0" indent="0" algn="l">
                        <a:lnSpc>
                          <a:spcPct val="100000"/>
                        </a:lnSpc>
                        <a:spcBef>
                          <a:spcPts val="0"/>
                        </a:spcBef>
                        <a:spcAft>
                          <a:spcPts val="0"/>
                        </a:spcAft>
                        <a:buNone/>
                      </a:pPr>
                      <a:r>
                        <a:rPr lang="en-IN" sz="1500" dirty="0">
                          <a:solidFill>
                            <a:srgbClr val="1F2328"/>
                          </a:solidFill>
                          <a:latin typeface="Times New Roman" panose="02020603050405020304" pitchFamily="18" charset="0"/>
                          <a:cs typeface="Times New Roman" panose="02020603050405020304" pitchFamily="18" charset="0"/>
                        </a:rPr>
                        <a:t>Journal publication (Scopus-indexed)</a:t>
                      </a:r>
                    </a:p>
                  </a:txBody>
                  <a:tcPr marL="73152" marR="73152" marT="45720" marB="45720" anchor="ctr">
                    <a:lnL w="9525">
                      <a:solidFill>
                        <a:srgbClr val="C9D3E0"/>
                      </a:solidFill>
                    </a:lnL>
                    <a:lnR w="9525">
                      <a:solidFill>
                        <a:srgbClr val="C9D3E0"/>
                      </a:solidFill>
                    </a:lnR>
                    <a:lnT w="9525">
                      <a:solidFill>
                        <a:srgbClr val="C9D3E0"/>
                      </a:solidFill>
                    </a:lnT>
                    <a:lnB w="9525">
                      <a:solidFill>
                        <a:srgbClr val="C9D3E0"/>
                      </a:solidFill>
                    </a:lnB>
                    <a:solidFill>
                      <a:srgbClr val="EEF3FA"/>
                    </a:solidFill>
                  </a:tcPr>
                </a:tc>
                <a:tc>
                  <a:txBody>
                    <a:bodyPr/>
                    <a:lstStyle/>
                    <a:p>
                      <a:pPr marL="0" indent="0" algn="l">
                        <a:lnSpc>
                          <a:spcPct val="100000"/>
                        </a:lnSpc>
                        <a:spcBef>
                          <a:spcPts val="0"/>
                        </a:spcBef>
                        <a:spcAft>
                          <a:spcPts val="0"/>
                        </a:spcAft>
                        <a:buNone/>
                      </a:pPr>
                      <a:r>
                        <a:rPr lang="en-IN" sz="1500" dirty="0">
                          <a:solidFill>
                            <a:srgbClr val="1F2328"/>
                          </a:solidFill>
                          <a:latin typeface="Times New Roman" panose="02020603050405020304" pitchFamily="18" charset="0"/>
                          <a:cs typeface="Times New Roman" panose="02020603050405020304" pitchFamily="18" charset="0"/>
                        </a:rPr>
                        <a:t>Manuscript in preparation (draft v0.3); not submitted; venue not yet chosen</a:t>
                      </a:r>
                    </a:p>
                  </a:txBody>
                  <a:tcPr marL="73152" marR="73152" marT="45720" marB="45720" anchor="ctr">
                    <a:lnL w="9525">
                      <a:solidFill>
                        <a:srgbClr val="C9D3E0"/>
                      </a:solidFill>
                    </a:lnL>
                    <a:lnR w="9525">
                      <a:solidFill>
                        <a:srgbClr val="C9D3E0"/>
                      </a:solidFill>
                    </a:lnR>
                    <a:lnT w="9525">
                      <a:solidFill>
                        <a:srgbClr val="C9D3E0"/>
                      </a:solidFill>
                    </a:lnT>
                    <a:lnB w="9525">
                      <a:solidFill>
                        <a:srgbClr val="C9D3E0"/>
                      </a:solidFill>
                    </a:lnB>
                    <a:solidFill>
                      <a:srgbClr val="EEF3FA"/>
                    </a:solidFill>
                  </a:tcPr>
                </a:tc>
              </a:tr>
              <a:tr h="594360">
                <a:tc>
                  <a:txBody>
                    <a:bodyPr/>
                    <a:lstStyle/>
                    <a:p>
                      <a:pPr marL="0" indent="0" algn="l">
                        <a:lnSpc>
                          <a:spcPct val="100000"/>
                        </a:lnSpc>
                        <a:spcBef>
                          <a:spcPts val="0"/>
                        </a:spcBef>
                        <a:spcAft>
                          <a:spcPts val="0"/>
                        </a:spcAft>
                        <a:buNone/>
                      </a:pPr>
                      <a:r>
                        <a:rPr lang="en-IN" sz="1500" dirty="0">
                          <a:solidFill>
                            <a:srgbClr val="1F2328"/>
                          </a:solidFill>
                          <a:latin typeface="Times New Roman" panose="02020603050405020304" pitchFamily="18" charset="0"/>
                          <a:cs typeface="Times New Roman" panose="02020603050405020304" pitchFamily="18" charset="0"/>
                        </a:rPr>
                        <a:t>Start-up</a:t>
                      </a:r>
                    </a:p>
                  </a:txBody>
                  <a:tcPr marL="73152" marR="73152" marT="45720" marB="45720" anchor="ctr">
                    <a:lnL w="9525">
                      <a:solidFill>
                        <a:srgbClr val="C9D3E0"/>
                      </a:solidFill>
                    </a:lnL>
                    <a:lnR w="9525">
                      <a:solidFill>
                        <a:srgbClr val="C9D3E0"/>
                      </a:solidFill>
                    </a:lnR>
                    <a:lnT w="9525">
                      <a:solidFill>
                        <a:srgbClr val="C9D3E0"/>
                      </a:solidFill>
                    </a:lnT>
                    <a:lnB w="9525">
                      <a:solidFill>
                        <a:srgbClr val="C9D3E0"/>
                      </a:solidFill>
                    </a:lnB>
                    <a:solidFill>
                      <a:srgbClr val="FFFFFF"/>
                    </a:solidFill>
                  </a:tcPr>
                </a:tc>
                <a:tc>
                  <a:txBody>
                    <a:bodyPr/>
                    <a:lstStyle/>
                    <a:p>
                      <a:pPr marL="0" indent="0" algn="l">
                        <a:lnSpc>
                          <a:spcPct val="100000"/>
                        </a:lnSpc>
                        <a:spcBef>
                          <a:spcPts val="0"/>
                        </a:spcBef>
                        <a:spcAft>
                          <a:spcPts val="0"/>
                        </a:spcAft>
                        <a:buNone/>
                      </a:pPr>
                      <a:r>
                        <a:rPr lang="en-IN" sz="1500" dirty="0">
                          <a:solidFill>
                            <a:srgbClr val="1F2328"/>
                          </a:solidFill>
                          <a:latin typeface="Times New Roman" panose="02020603050405020304" pitchFamily="18" charset="0"/>
                          <a:cs typeface="Times New Roman" panose="02020603050405020304" pitchFamily="18" charset="0"/>
                        </a:rPr>
                        <a:t>None</a:t>
                      </a:r>
                    </a:p>
                  </a:txBody>
                  <a:tcPr marL="73152" marR="73152" marT="45720" marB="45720" anchor="ctr">
                    <a:lnL w="9525">
                      <a:solidFill>
                        <a:srgbClr val="C9D3E0"/>
                      </a:solidFill>
                    </a:lnL>
                    <a:lnR w="9525">
                      <a:solidFill>
                        <a:srgbClr val="C9D3E0"/>
                      </a:solidFill>
                    </a:lnR>
                    <a:lnT w="9525">
                      <a:solidFill>
                        <a:srgbClr val="C9D3E0"/>
                      </a:solidFill>
                    </a:lnT>
                    <a:lnB w="9525">
                      <a:solidFill>
                        <a:srgbClr val="C9D3E0"/>
                      </a:solidFill>
                    </a:lnB>
                    <a:solidFill>
                      <a:srgbClr val="FFFFFF"/>
                    </a:solidFill>
                  </a:tcPr>
                </a:tc>
              </a:tr>
              <a:tr h="594360">
                <a:tc>
                  <a:txBody>
                    <a:bodyPr/>
                    <a:lstStyle/>
                    <a:p>
                      <a:pPr marL="0" indent="0" algn="l">
                        <a:lnSpc>
                          <a:spcPct val="100000"/>
                        </a:lnSpc>
                        <a:spcBef>
                          <a:spcPts val="0"/>
                        </a:spcBef>
                        <a:spcAft>
                          <a:spcPts val="0"/>
                        </a:spcAft>
                        <a:buNone/>
                      </a:pPr>
                      <a:r>
                        <a:rPr lang="en-IN" sz="1500" dirty="0">
                          <a:solidFill>
                            <a:srgbClr val="1F2328"/>
                          </a:solidFill>
                          <a:latin typeface="Times New Roman" panose="02020603050405020304" pitchFamily="18" charset="0"/>
                          <a:cs typeface="Times New Roman" panose="02020603050405020304" pitchFamily="18" charset="0"/>
                        </a:rPr>
                        <a:t>Others</a:t>
                      </a:r>
                    </a:p>
                  </a:txBody>
                  <a:tcPr marL="73152" marR="73152" marT="45720" marB="45720" anchor="ctr">
                    <a:lnL w="9525">
                      <a:solidFill>
                        <a:srgbClr val="C9D3E0"/>
                      </a:solidFill>
                    </a:lnL>
                    <a:lnR w="9525">
                      <a:solidFill>
                        <a:srgbClr val="C9D3E0"/>
                      </a:solidFill>
                    </a:lnR>
                    <a:lnT w="9525">
                      <a:solidFill>
                        <a:srgbClr val="C9D3E0"/>
                      </a:solidFill>
                    </a:lnT>
                    <a:lnB w="9525">
                      <a:solidFill>
                        <a:srgbClr val="C9D3E0"/>
                      </a:solidFill>
                    </a:lnB>
                    <a:solidFill>
                      <a:srgbClr val="EEF3FA"/>
                    </a:solidFill>
                  </a:tcPr>
                </a:tc>
                <a:tc>
                  <a:txBody>
                    <a:bodyPr/>
                    <a:lstStyle/>
                    <a:p>
                      <a:pPr marL="0" indent="0" algn="l">
                        <a:lnSpc>
                          <a:spcPct val="100000"/>
                        </a:lnSpc>
                        <a:spcBef>
                          <a:spcPts val="0"/>
                        </a:spcBef>
                        <a:spcAft>
                          <a:spcPts val="0"/>
                        </a:spcAft>
                        <a:buNone/>
                      </a:pPr>
                      <a:r>
                        <a:rPr lang="en-IN" sz="1500" dirty="0">
                          <a:solidFill>
                            <a:srgbClr val="1F2328"/>
                          </a:solidFill>
                          <a:latin typeface="Times New Roman" panose="02020603050405020304" pitchFamily="18" charset="0"/>
                          <a:cs typeface="Times New Roman" panose="02020603050405020304" pitchFamily="18" charset="0"/>
                        </a:rPr>
                        <a:t>Open, re-runnable code and result tables in the project repository</a:t>
                      </a:r>
                    </a:p>
                  </a:txBody>
                  <a:tcPr marL="73152" marR="73152" marT="45720" marB="45720" anchor="ctr">
                    <a:lnL w="9525">
                      <a:solidFill>
                        <a:srgbClr val="C9D3E0"/>
                      </a:solidFill>
                    </a:lnL>
                    <a:lnR w="9525">
                      <a:solidFill>
                        <a:srgbClr val="C9D3E0"/>
                      </a:solidFill>
                    </a:lnR>
                    <a:lnT w="9525">
                      <a:solidFill>
                        <a:srgbClr val="C9D3E0"/>
                      </a:solidFill>
                    </a:lnT>
                    <a:lnB w="9525">
                      <a:solidFill>
                        <a:srgbClr val="C9D3E0"/>
                      </a:solidFill>
                    </a:lnB>
                    <a:solidFill>
                      <a:srgbClr val="EEF3FA"/>
                    </a:solidFill>
                  </a:tcPr>
                </a:tc>
              </a:tr>
            </a:tbl>
          </a:graphicData>
        </a:graphic>
      </p:graphicFrame>
      <p:sp>
        <p:nvSpPr>
          <p:cNvPr id="4" name="Proof 4"/>
          <p:cNvSpPr txBox="1"/>
          <p:nvPr/>
        </p:nvSpPr>
        <p:spPr>
          <a:xfrm>
            <a:off x="457200" y="4937760"/>
            <a:ext cx="11274552" cy="1188720"/>
          </a:xfrm>
          <a:prstGeom prst="roundRect">
            <a:avLst>
              <a:gd name="adj" fmla="val 6000"/>
            </a:avLst>
          </a:prstGeom>
          <a:solidFill>
            <a:srgbClr val="F3F6FA"/>
          </a:solidFill>
          <a:ln>
            <a:noFill/>
          </a:ln>
        </p:spPr>
        <p:txBody>
          <a:bodyPr wrap="square" lIns="109728" tIns="76810" rIns="109728" bIns="76810" rtlCol="0" anchor="ctr">
            <a:noAutofit/>
          </a:bodyPr>
          <a:lstStyle/>
          <a:p>
            <a:pPr marL="0" indent="0" algn="l">
              <a:lnSpc>
                <a:spcPct val="100000"/>
              </a:lnSpc>
              <a:spcBef>
                <a:spcPts val="0"/>
              </a:spcBef>
              <a:spcAft>
                <a:spcPts val="0"/>
              </a:spcAft>
              <a:buNone/>
            </a:pPr>
            <a:r>
              <a:rPr lang="en-IN" sz="1500" b="1" dirty="0">
                <a:solidFill>
                  <a:srgbClr val="2A78D6"/>
                </a:solidFill>
                <a:latin typeface="Times New Roman" panose="02020603050405020304" pitchFamily="18" charset="0"/>
                <a:cs typeface="Times New Roman" panose="02020603050405020304" pitchFamily="18" charset="0"/>
              </a:rPr>
              <a:t>Proof to upload: </a:t>
            </a:r>
            <a:r>
              <a:rPr lang="en-IN" sz="1500" dirty="0">
                <a:solidFill>
                  <a:srgbClr val="1F2328"/>
                </a:solidFill>
                <a:latin typeface="Times New Roman" panose="02020603050405020304" pitchFamily="18" charset="0"/>
                <a:cs typeface="Times New Roman" panose="02020603050405020304" pitchFamily="18" charset="0"/>
              </a:rPr>
              <a:t>none yet, because nothing has been accepted or published. We will upload proof as soon as a submission receipt or acceptance exists.</a:t>
            </a:r>
          </a:p>
          <a:p>
            <a:pPr marL="0" indent="0" algn="l">
              <a:lnSpc>
                <a:spcPct val="100000"/>
              </a:lnSpc>
              <a:spcBef>
                <a:spcPts val="800"/>
              </a:spcBef>
              <a:spcAft>
                <a:spcPts val="0"/>
              </a:spcAft>
              <a:buNone/>
            </a:pPr>
            <a:r>
              <a:rPr lang="en-IN" sz="1400" b="1" dirty="0">
                <a:solidFill>
                  <a:srgbClr val="5B616B"/>
                </a:solidFill>
                <a:latin typeface="Times New Roman" panose="02020603050405020304" pitchFamily="18" charset="0"/>
                <a:cs typeface="Times New Roman" panose="02020603050405020304" pitchFamily="18" charset="0"/>
              </a:rPr>
              <a:t>Outcome form (Google form, due 27 Oct 2026): </a:t>
            </a:r>
            <a:r>
              <a:rPr lang="en-IN" sz="1400" dirty="0">
                <a:solidFill>
                  <a:srgbClr val="1F2328"/>
                </a:solidFill>
                <a:highlight>
                  <a:srgbClr val="FFFF00"/>
                </a:highlight>
                <a:latin typeface="Times New Roman" panose="02020603050405020304" pitchFamily="18" charset="0"/>
                <a:cs typeface="Times New Roman" panose="02020603050405020304" pitchFamily="18" charset="0"/>
              </a:rPr>
              <a:t>[confirm submitted]</a:t>
            </a:r>
          </a:p>
        </p:txBody>
      </p:sp>
      <p:sp>
        <p:nvSpPr>
          <p:cNvPr id="5" name="Date Placeholder"/>
          <p:cNvSpPr>
            <a:spLocks noGrp="1"/>
          </p:cNvSpPr>
          <p:nvPr>
            <p:ph type="dt" sz="half" idx="10"/>
          </p:nvPr>
        </p:nvSpPr>
        <p:spPr/>
        <p:txBody>
          <a:bodyPr/>
          <a:lstStyle/>
          <a:p>
            <a:fld id="{61736562-4E3F-4038-A291-A7AE35CC3E6A}" type="datetime1">
              <a:rPr lang="en-IN" smtClean="0"/>
              <a:t>28/10/26</a:t>
            </a:fld>
            <a:endParaRPr lang="en-IN"/>
          </a:p>
        </p:txBody>
      </p:sp>
      <p:sp>
        <p:nvSpPr>
          <p:cNvPr id="6" name="Footer Placeholder"/>
          <p:cNvSpPr>
            <a:spLocks noGrp="1"/>
          </p:cNvSpPr>
          <p:nvPr>
            <p:ph type="ftr" sz="quarter" idx="11"/>
          </p:nvPr>
        </p:nvSpPr>
        <p:spPr/>
        <p:txBody>
          <a:bodyPr/>
          <a:lstStyle/>
          <a:p>
            <a:r>
              <a:rPr lang="en-IN"/>
              <a:t>SCOPE</a:t>
            </a:r>
          </a:p>
        </p:txBody>
      </p:sp>
      <p:sp>
        <p:nvSpPr>
          <p:cNvPr id="7" name="Slide Number Placeholder"/>
          <p:cNvSpPr>
            <a:spLocks noGrp="1"/>
          </p:cNvSpPr>
          <p:nvPr>
            <p:ph type="sldNum" sz="quarter" idx="12"/>
          </p:nvPr>
        </p:nvSpPr>
        <p:spPr/>
        <p:txBody>
          <a:bodyPr/>
          <a:lstStyle/>
          <a:p>
            <a:fld id="{65201FD4-9D8D-4491-815B-63C7BF4F0034}" type="slidenum">
              <a:rPr lang="en-IN" smtClean="0"/>
              <a:t>18</a:t>
            </a:fld>
            <a:endParaRPr lang="en-IN"/>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txBox="1">
            <a:spLocks noGrp="1"/>
          </p:cNvSpPr>
          <p:nvPr>
            <p:ph type="title"/>
          </p:nvPr>
        </p:nvSpPr>
        <p:spPr>
          <a:xfrm>
            <a:off x="457200" y="502920"/>
            <a:ext cx="11274552" cy="685800"/>
          </a:xfrm>
          <a:prstGeom prst="rect">
            <a:avLst/>
          </a:prstGeom>
        </p:spPr>
        <p:txBody>
          <a:bodyPr vert="horz" wrap="square" lIns="0" tIns="0" rIns="0" bIns="0" rtlCol="0" anchor="ctr">
            <a:noAutofit/>
          </a:bodyPr>
          <a:lstStyle/>
          <a:p>
            <a:pPr marL="0">
              <a:lnSpc>
                <a:spcPct val="100000"/>
              </a:lnSpc>
            </a:pPr>
            <a:r>
              <a:rPr lang="en-IN" sz="3000" b="1" dirty="0">
                <a:latin typeface="Times New Roman" panose="02020603050405020304" pitchFamily="18" charset="0"/>
                <a:cs typeface="Times New Roman" panose="02020603050405020304" pitchFamily="18" charset="0"/>
              </a:rPr>
              <a:t>References</a:t>
            </a:r>
          </a:p>
        </p:txBody>
      </p:sp>
      <p:sp>
        <p:nvSpPr>
          <p:cNvPr id="3" name="Refs left 3"/>
          <p:cNvSpPr txBox="1"/>
          <p:nvPr/>
        </p:nvSpPr>
        <p:spPr>
          <a:xfrm>
            <a:off x="457200" y="1325880"/>
            <a:ext cx="5577840" cy="4846320"/>
          </a:xfrm>
          <a:prstGeom prst="rect">
            <a:avLst/>
          </a:prstGeom>
          <a:noFill/>
          <a:ln>
            <a:noFill/>
          </a:ln>
        </p:spPr>
        <p:txBody>
          <a:bodyPr wrap="square" lIns="109728" tIns="76810" rIns="109728" bIns="76810" rtlCol="0" anchor="t">
            <a:noAutofit/>
          </a:bodyPr>
          <a:lstStyle/>
          <a:p>
            <a:pPr marL="0" indent="0" algn="l">
              <a:lnSpc>
                <a:spcPct val="100000"/>
              </a:lnSpc>
              <a:spcBef>
                <a:spcPts val="700"/>
              </a:spcBef>
              <a:spcAft>
                <a:spcPts val="0"/>
              </a:spcAft>
              <a:buNone/>
            </a:pPr>
            <a:r>
              <a:rPr lang="en-IN" sz="1400" dirty="0">
                <a:solidFill>
                  <a:srgbClr val="1F2328"/>
                </a:solidFill>
                <a:latin typeface="Times New Roman" panose="02020603050405020304" pitchFamily="18" charset="0"/>
                <a:cs typeface="Times New Roman" panose="02020603050405020304" pitchFamily="18" charset="0"/>
              </a:rPr>
              <a:t>[1] W. M. P. van der Aalst, "Object-centric process mining: Dealing with divergence and convergence in event data," in SEFM, LNCS, Springer, 2019, pp. 3-25.</a:t>
            </a:r>
          </a:p>
          <a:p>
            <a:pPr marL="0" indent="0" algn="l">
              <a:lnSpc>
                <a:spcPct val="100000"/>
              </a:lnSpc>
              <a:spcBef>
                <a:spcPts val="700"/>
              </a:spcBef>
              <a:spcAft>
                <a:spcPts val="0"/>
              </a:spcAft>
              <a:buNone/>
            </a:pPr>
            <a:r>
              <a:rPr lang="en-IN" sz="1400" dirty="0">
                <a:solidFill>
                  <a:srgbClr val="1F2328"/>
                </a:solidFill>
                <a:latin typeface="Times New Roman" panose="02020603050405020304" pitchFamily="18" charset="0"/>
                <a:cs typeface="Times New Roman" panose="02020603050405020304" pitchFamily="18" charset="0"/>
              </a:rPr>
              <a:t>[2] A. Berti et al., "OCEL (Object-Centric Event Log) 2.0 specification," arXiv:2403.01975, 2024.</a:t>
            </a:r>
          </a:p>
          <a:p>
            <a:pPr marL="0" indent="0" algn="l">
              <a:lnSpc>
                <a:spcPct val="100000"/>
              </a:lnSpc>
              <a:spcBef>
                <a:spcPts val="700"/>
              </a:spcBef>
              <a:spcAft>
                <a:spcPts val="0"/>
              </a:spcAft>
              <a:buNone/>
            </a:pPr>
            <a:r>
              <a:rPr lang="en-IN" sz="1400" dirty="0">
                <a:solidFill>
                  <a:srgbClr val="1F2328"/>
                </a:solidFill>
                <a:latin typeface="Times New Roman" panose="02020603050405020304" pitchFamily="18" charset="0"/>
                <a:cs typeface="Times New Roman" panose="02020603050405020304" pitchFamily="18" charset="0"/>
              </a:rPr>
              <a:t>[3] J. N. Adams, G. Park, and W. M. P. van der Aalst, "Preserving complex object-centric graph structures to improve machine learning tasks in process mining," Eng. Appl. Artif. Intell., vol. 125, p. 106764, 2023.</a:t>
            </a:r>
          </a:p>
          <a:p>
            <a:pPr marL="0" indent="0" algn="l">
              <a:lnSpc>
                <a:spcPct val="100000"/>
              </a:lnSpc>
              <a:spcBef>
                <a:spcPts val="700"/>
              </a:spcBef>
              <a:spcAft>
                <a:spcPts val="0"/>
              </a:spcAft>
              <a:buNone/>
            </a:pPr>
            <a:r>
              <a:rPr lang="en-IN" sz="1400" dirty="0">
                <a:solidFill>
                  <a:srgbClr val="1F2328"/>
                </a:solidFill>
                <a:latin typeface="Times New Roman" panose="02020603050405020304" pitchFamily="18" charset="0"/>
                <a:cs typeface="Times New Roman" panose="02020603050405020304" pitchFamily="18" charset="0"/>
              </a:rPr>
              <a:t>[4] J. N. Adams and W. M. P. van der Aalst, "Addressing convergence, divergence, and deficiency issues," LNBIP, Springer, 2024.</a:t>
            </a:r>
          </a:p>
          <a:p>
            <a:pPr marL="0" indent="0" algn="l">
              <a:lnSpc>
                <a:spcPct val="100000"/>
              </a:lnSpc>
              <a:spcBef>
                <a:spcPts val="700"/>
              </a:spcBef>
              <a:spcAft>
                <a:spcPts val="0"/>
              </a:spcAft>
              <a:buNone/>
            </a:pPr>
            <a:r>
              <a:rPr lang="en-IN" sz="1400" dirty="0">
                <a:solidFill>
                  <a:srgbClr val="1F2328"/>
                </a:solidFill>
                <a:latin typeface="Times New Roman" panose="02020603050405020304" pitchFamily="18" charset="0"/>
                <a:cs typeface="Times New Roman" panose="02020603050405020304" pitchFamily="18" charset="0"/>
              </a:rPr>
              <a:t>[5] P. Waibel, L. Pfahlsberger, K. Revoredo, and J. Mendling, "Causal process mining from relational databases with domain knowledge," arXiv:2202.08314, 2022.</a:t>
            </a:r>
          </a:p>
          <a:p>
            <a:pPr marL="0" indent="0" algn="l">
              <a:lnSpc>
                <a:spcPct val="100000"/>
              </a:lnSpc>
              <a:spcBef>
                <a:spcPts val="700"/>
              </a:spcBef>
              <a:spcAft>
                <a:spcPts val="0"/>
              </a:spcAft>
              <a:buNone/>
            </a:pPr>
            <a:r>
              <a:rPr lang="en-IN" sz="1400" dirty="0">
                <a:solidFill>
                  <a:srgbClr val="1F2328"/>
                </a:solidFill>
                <a:latin typeface="Times New Roman" panose="02020603050405020304" pitchFamily="18" charset="0"/>
                <a:cs typeface="Times New Roman" panose="02020603050405020304" pitchFamily="18" charset="0"/>
              </a:rPr>
              <a:t>[6] M. Kabierski et al., "Data quality in object-centric event data: Issues classification and evaluation," Process Science, vol. 3, 2026.</a:t>
            </a:r>
          </a:p>
        </p:txBody>
      </p:sp>
      <p:sp>
        <p:nvSpPr>
          <p:cNvPr id="4" name="Refs right 4"/>
          <p:cNvSpPr txBox="1"/>
          <p:nvPr/>
        </p:nvSpPr>
        <p:spPr>
          <a:xfrm>
            <a:off x="6172200" y="1325880"/>
            <a:ext cx="5577840" cy="4846320"/>
          </a:xfrm>
          <a:prstGeom prst="rect">
            <a:avLst/>
          </a:prstGeom>
          <a:noFill/>
          <a:ln>
            <a:noFill/>
          </a:ln>
        </p:spPr>
        <p:txBody>
          <a:bodyPr wrap="square" lIns="109728" tIns="76810" rIns="109728" bIns="76810" rtlCol="0" anchor="t">
            <a:noAutofit/>
          </a:bodyPr>
          <a:lstStyle/>
          <a:p>
            <a:pPr marL="0" indent="0" algn="l">
              <a:lnSpc>
                <a:spcPct val="100000"/>
              </a:lnSpc>
              <a:spcBef>
                <a:spcPts val="700"/>
              </a:spcBef>
              <a:spcAft>
                <a:spcPts val="0"/>
              </a:spcAft>
              <a:buNone/>
            </a:pPr>
            <a:r>
              <a:rPr lang="en-IN" sz="1400" dirty="0">
                <a:solidFill>
                  <a:srgbClr val="1F2328"/>
                </a:solidFill>
                <a:latin typeface="Times New Roman" panose="02020603050405020304" pitchFamily="18" charset="0"/>
                <a:cs typeface="Times New Roman" panose="02020603050405020304" pitchFamily="18" charset="0"/>
              </a:rPr>
              <a:t>[7] N. Miri, S. Khayatbashi, J. Zdravkovic, and A. Jalali, "An object-centric approach to multi-entity educational process mining," Decis. Anal. J., vol. 19, p. 100724, 2026.</a:t>
            </a:r>
          </a:p>
          <a:p>
            <a:pPr marL="0" indent="0" algn="l">
              <a:lnSpc>
                <a:spcPct val="100000"/>
              </a:lnSpc>
              <a:spcBef>
                <a:spcPts val="700"/>
              </a:spcBef>
              <a:spcAft>
                <a:spcPts val="0"/>
              </a:spcAft>
              <a:buNone/>
            </a:pPr>
            <a:r>
              <a:rPr lang="en-IN" sz="1400" dirty="0">
                <a:solidFill>
                  <a:srgbClr val="1F2328"/>
                </a:solidFill>
                <a:latin typeface="Times New Roman" panose="02020603050405020304" pitchFamily="18" charset="0"/>
                <a:cs typeface="Times New Roman" panose="02020603050405020304" pitchFamily="18" charset="0"/>
              </a:rPr>
              <a:t>[8] J. Kuzilek, M. Hlosta, and Z. Zdrahal, "Open University Learning Analytics dataset," Sci. Data, vol. 4, p. 170171, 2017.</a:t>
            </a:r>
          </a:p>
          <a:p>
            <a:pPr marL="0" indent="0" algn="l">
              <a:lnSpc>
                <a:spcPct val="100000"/>
              </a:lnSpc>
              <a:spcBef>
                <a:spcPts val="700"/>
              </a:spcBef>
              <a:spcAft>
                <a:spcPts val="0"/>
              </a:spcAft>
              <a:buNone/>
            </a:pPr>
            <a:r>
              <a:rPr lang="en-IN" sz="1400" dirty="0">
                <a:solidFill>
                  <a:srgbClr val="1F2328"/>
                </a:solidFill>
                <a:latin typeface="Times New Roman" panose="02020603050405020304" pitchFamily="18" charset="0"/>
                <a:cs typeface="Times New Roman" panose="02020603050405020304" pitchFamily="18" charset="0"/>
              </a:rPr>
              <a:t>[9] M. Paixao, J. Krinke, D. Han, and M. Harman, "CROP: Linking code reviews to source code changes," in Proc. MSR, 2018.</a:t>
            </a:r>
          </a:p>
          <a:p>
            <a:pPr marL="0" indent="0" algn="l">
              <a:lnSpc>
                <a:spcPct val="100000"/>
              </a:lnSpc>
              <a:spcBef>
                <a:spcPts val="700"/>
              </a:spcBef>
              <a:spcAft>
                <a:spcPts val="0"/>
              </a:spcAft>
              <a:buNone/>
            </a:pPr>
            <a:r>
              <a:rPr lang="en-IN" sz="1400" dirty="0">
                <a:solidFill>
                  <a:srgbClr val="1F2328"/>
                </a:solidFill>
                <a:latin typeface="Times New Roman" panose="02020603050405020304" pitchFamily="18" charset="0"/>
                <a:cs typeface="Times New Roman" panose="02020603050405020304" pitchFamily="18" charset="0"/>
              </a:rPr>
              <a:t>[10] H. Hassani et al., "Supervision of undergraduate final year projects in computing: A case study," Educ. Sci., vol. 8, no. 4, p. 210, 2018.</a:t>
            </a:r>
          </a:p>
          <a:p>
            <a:pPr marL="0" indent="0" algn="l">
              <a:lnSpc>
                <a:spcPct val="100000"/>
              </a:lnSpc>
              <a:spcBef>
                <a:spcPts val="700"/>
              </a:spcBef>
              <a:spcAft>
                <a:spcPts val="0"/>
              </a:spcAft>
              <a:buNone/>
            </a:pPr>
            <a:r>
              <a:rPr lang="en-IN" sz="1400" dirty="0">
                <a:solidFill>
                  <a:srgbClr val="1F2328"/>
                </a:solidFill>
                <a:latin typeface="Times New Roman" panose="02020603050405020304" pitchFamily="18" charset="0"/>
                <a:cs typeface="Times New Roman" panose="02020603050405020304" pitchFamily="18" charset="0"/>
              </a:rPr>
              <a:t>[11] W. Premchaiswadi and P. Porouhan, "Process modeling and bottleneck mining in online peer-review systems," SpringerPlus, vol. 4, p. 441, 2015.</a:t>
            </a:r>
          </a:p>
          <a:p>
            <a:pPr marL="0" indent="0" algn="l">
              <a:lnSpc>
                <a:spcPct val="100000"/>
              </a:lnSpc>
              <a:spcBef>
                <a:spcPts val="700"/>
              </a:spcBef>
              <a:spcAft>
                <a:spcPts val="0"/>
              </a:spcAft>
              <a:buNone/>
            </a:pPr>
            <a:r>
              <a:rPr lang="en-IN" sz="1400" dirty="0">
                <a:solidFill>
                  <a:srgbClr val="1F2328"/>
                </a:solidFill>
                <a:latin typeface="Times New Roman" panose="02020603050405020304" pitchFamily="18" charset="0"/>
                <a:cs typeface="Times New Roman" panose="02020603050405020304" pitchFamily="18" charset="0"/>
              </a:rPr>
              <a:t>[12] Datasets (CC BY 4.0): Zenodo 16811928 (Bundestag), 21989732 (Enron), 21989580 (Ethereum), 13365584 (Age of Empires), 8430332 (Angular), 3599150 (CROP); UCI 10.24432/C5KK69 (OULAD).</a:t>
            </a:r>
          </a:p>
        </p:txBody>
      </p:sp>
      <p:sp>
        <p:nvSpPr>
          <p:cNvPr id="5" name="Date Placeholder"/>
          <p:cNvSpPr>
            <a:spLocks noGrp="1"/>
          </p:cNvSpPr>
          <p:nvPr>
            <p:ph type="dt" sz="half" idx="10"/>
          </p:nvPr>
        </p:nvSpPr>
        <p:spPr/>
        <p:txBody>
          <a:bodyPr/>
          <a:lstStyle/>
          <a:p>
            <a:fld id="{61736562-4E3F-4038-A291-A7AE35CC3E6A}" type="datetime1">
              <a:rPr lang="en-IN" smtClean="0"/>
              <a:t>28/10/26</a:t>
            </a:fld>
            <a:endParaRPr lang="en-IN"/>
          </a:p>
        </p:txBody>
      </p:sp>
      <p:sp>
        <p:nvSpPr>
          <p:cNvPr id="6" name="Footer Placeholder"/>
          <p:cNvSpPr>
            <a:spLocks noGrp="1"/>
          </p:cNvSpPr>
          <p:nvPr>
            <p:ph type="ftr" sz="quarter" idx="11"/>
          </p:nvPr>
        </p:nvSpPr>
        <p:spPr/>
        <p:txBody>
          <a:bodyPr/>
          <a:lstStyle/>
          <a:p>
            <a:r>
              <a:rPr lang="en-IN"/>
              <a:t>SCOPE</a:t>
            </a:r>
          </a:p>
        </p:txBody>
      </p:sp>
      <p:sp>
        <p:nvSpPr>
          <p:cNvPr id="7" name="Slide Number Placeholder"/>
          <p:cNvSpPr>
            <a:spLocks noGrp="1"/>
          </p:cNvSpPr>
          <p:nvPr>
            <p:ph type="sldNum" sz="quarter" idx="12"/>
          </p:nvPr>
        </p:nvSpPr>
        <p:spPr/>
        <p:txBody>
          <a:bodyPr/>
          <a:lstStyle/>
          <a:p>
            <a:fld id="{65201FD4-9D8D-4491-815B-63C7BF4F0034}" type="slidenum">
              <a:rPr lang="en-IN" smtClean="0"/>
              <a:t>19</a:t>
            </a:fld>
            <a:endParaRPr lang="en-IN"/>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100</TotalTime>
  <Words>376</Words>
  <Application>Microsoft Macintosh PowerPoint</Application>
  <PresentationFormat>Custom</PresentationFormat>
  <Paragraphs>98</Paragraphs>
  <Slides>19</Slides>
  <Notes>19</Notes>
  <HiddenSlides>0</HiddenSlides>
  <MMClips>0</MMClips>
  <ScaleCrop>false</ScaleCrop>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&lt;&lt;Programme B.Tech/ M.Tech Course Code – Course Title&gt;&gt; &lt;&lt;Project Title&gt;&gt;</dc:title>
  <dc:creator>Parthasarathy G</dc:creator>
  <cp:lastModifiedBy>Prakash Mohan</cp:lastModifiedBy>
  <cp:revision>12</cp:revision>
  <dcterms:created xsi:type="dcterms:W3CDTF">2026-07-14T06:00:41Z</dcterms:created>
  <dcterms:modified xsi:type="dcterms:W3CDTF">2026-10-05T06:25:49Z</dcterms:modified>
</cp:coreProperties>
</file>