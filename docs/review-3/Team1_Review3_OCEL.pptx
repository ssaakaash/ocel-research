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png" ContentType="image/png"/>
  <Default Extension="rels" ContentType="application/vnd.openxmlformats-package.relationships+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6"/>
  </p:notesMasterIdLst>
  <p:sldIdLst>
    <p:sldId id="256" r:id="rId101"/>
    <p:sldId id="257" r:id="rId102"/>
    <p:sldId id="258" r:id="rId103"/>
    <p:sldId id="259" r:id="rId104"/>
    <p:sldId id="260" r:id="rId105"/>
    <p:sldId id="261" r:id="rId106"/>
    <p:sldId id="262" r:id="rId107"/>
    <p:sldId id="263" r:id="rId108"/>
    <p:sldId id="264" r:id="rId109"/>
    <p:sldId id="265" r:id="rId110"/>
    <p:sldId id="266" r:id="rId111"/>
    <p:sldId id="267" r:id="rId112"/>
    <p:sldId id="268" r:id="rId113"/>
    <p:sldId id="269" r:id="rId114"/>
    <p:sldId id="270" r:id="rId115"/>
    <p:sldId id="271" r:id="rId116"/>
    <p:sldId id="272" r:id="rId117"/>
    <p:sldId id="273" r:id="rId118"/>
    <p:sldId id="274" r:id="rId119"/>
    <p:sldId id="275" r:id="rId1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6" d="100"/>
          <a:sy n="76" d="100"/>
        </p:scale>
        <p:origin x="-1232" y="-10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0" Type="http://schemas.openxmlformats.org/officeDocument/2006/relationships/theme" Target="theme/theme1.xml"/><Relationship Id="rId21" Type="http://schemas.openxmlformats.org/officeDocument/2006/relationships/tableStyles" Target="tableStyles.xml"/><Relationship Id="rId16" Type="http://schemas.openxmlformats.org/officeDocument/2006/relationships/notesMaster" Target="notesMasters/notesMaster1.xml"/><Relationship Id="rId17" Type="http://schemas.openxmlformats.org/officeDocument/2006/relationships/printerSettings" Target="printerSettings/printerSettings1.bin"/><Relationship Id="rId18" Type="http://schemas.openxmlformats.org/officeDocument/2006/relationships/presProps" Target="presProps.xml"/><Relationship Id="rId19" Type="http://schemas.openxmlformats.org/officeDocument/2006/relationships/viewProps" Target="viewProps.xml"/><Relationship Id="rId1" Type="http://schemas.openxmlformats.org/officeDocument/2006/relationships/slideMaster" Target="slideMasters/slideMaster1.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2" Type="http://schemas.openxmlformats.org/officeDocument/2006/relationships/slide" Target="slides/slide12.xml"/><Relationship Id="rId113" Type="http://schemas.openxmlformats.org/officeDocument/2006/relationships/slide" Target="slides/slide13.xml"/><Relationship Id="rId114" Type="http://schemas.openxmlformats.org/officeDocument/2006/relationships/slide" Target="slides/slide14.xml"/><Relationship Id="rId115" Type="http://schemas.openxmlformats.org/officeDocument/2006/relationships/slide" Target="slides/slide15.xml"/><Relationship Id="rId116" Type="http://schemas.openxmlformats.org/officeDocument/2006/relationships/slide" Target="slides/slide16.xml"/><Relationship Id="rId117" Type="http://schemas.openxmlformats.org/officeDocument/2006/relationships/slide" Target="slides/slide17.xml"/><Relationship Id="rId118" Type="http://schemas.openxmlformats.org/officeDocument/2006/relationships/slide" Target="slides/slide18.xml"/><Relationship Id="rId119" Type="http://schemas.openxmlformats.org/officeDocument/2006/relationships/slide" Target="slides/slide19.xml"/><Relationship Id="rId12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58E2E1-8886-43B2-B986-F2B06DAA2FAC}" type="datetimeFigureOut">
              <a:rPr lang="en-IN" smtClean="0"/>
              <a:t>05/10/26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59FDF3-42B5-4A41-B75E-186C389084C2}" type="slidenum">
              <a:rPr lang="en-IN" smtClean="0"/>
              <a:t>‹#›</a:t>
            </a:fld>
            <a:endParaRPr lang="en-IN"/>
          </a:p>
        </p:txBody>
      </p:sp>
    </p:spTree>
    <p:extLst>
      <p:ext uri="{BB962C8B-B14F-4D97-AF65-F5344CB8AC3E}">
        <p14:creationId xmlns:p14="http://schemas.microsoft.com/office/powerpoint/2010/main" val="1029858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Good morning, panel! Quick question before we start: have you ever tried to answer a simple question from a spreadsheet, and then realised the spreadsheet was built to answer a completely different one? That is basically our project. We are Team 1, and this is Object-Centric Event Log Mining for Academic Capstone Processes. The title is the same one we locked in Review 1. What changed is the evidence behind it, and we will be upfront about that as we go.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Quick honesty first. This slide is meant to show our guide's approval mail, and we do not have that screenshot in the file yet, so it is marked as a placeholder, in yellow, on purpose. We would rather show an empty box than a made-up one. The right side lists the six things the mail has to confirm, including the Turnitin numbers, which we will fill in from the real report. One thing we can already say truthfully: the project outcome is a journal paper, submitted to the Journal of Intelligent Information Systems and now under review.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Have you ever flattened a messy spreadsheet into one clean column and then wondered what just disappeared? That is our aim in one line. A capstone event is never about one thing. A single submission touches the project, the team, three students, the guide, a report version and, later, a score. Process mining normally forces one case identifier per event. So we asked: what is lost when we do that? We could not test it on the portal itself, because we do not have its logs. So the aim became two things: model the capstone lifecycle properly, and measure the loss on real public data, with code that anyone can re-run.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Here is the whole project in one breath. Process mining likes one case per event. Real workflows do not work like that. We built a pipeline around OCEL 2.0, which lets one event point at many objects, and we pointed it at seven real public logs: Gerrit code review, the Open University student data, Angular commits, the German Bundestag, Enron e-mails, Ethereum, and Age of Empires. Our honest finding is a little less dramatic than we expected. Flattening rarely duplicates events, except in fan-out logs. The bigger effect is narrowing, you only see a slice. And the model you mine from that slice still looks perfectly healthy. And one more thing worth saying out loud: none of these numbers come from synthetic data.</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Four papers here, and I will go quickly. First, van der Aalst named the problem: flatten, and events get copied or mis-ordered. Second, the OCEL 2.0 specification is the format we build on. Third, Waibel and colleagues showed that one-to-many links create fake edges, but on one company's data. And fourth, Adams and colleagues showed that keeping the object graph helps machine learning. Notice the pattern in the Cons column. Lots of theory, a few case studies, very little measurement across real logs. That is the hole we walk into on the next slide.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Second half. Kabierski and colleagues list what goes wrong in object-centric data, which is useful, but they classify problems, they do not count them. Miri and colleagues did object-centric mining in education, on Moodle, and that is the closest neighbour to us. So we are clear we are not the first to use OCEL in education. Premchaiswadi looked at an online peer-review system, and Hassani described how a department really runs more than two hundred and fifty capstones. Put together: capstone practice is well described, object-centric mining exists, but nobody has tied them to measured evidence on real logs.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So where is the gap? Number one: everyone agrees flattening is a problem, but we could not find a study that counts it across several real logs. Most of the evidence is simulated or one company's case. Number two: in education, object-centric work is about Moodle clicks. A capstone is different, it is a chain of submit, review, reject, resubmit, score. And number three, the awkward one: nobody publishes capstone portal logs. We searched. So we cannot prove anything about the portal itself. What we can do is measure the effect on real logs that look like it, and be upfront about that limit.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Five objectives, in the order we did them. One, model the capstone lifecycle. Two, build a pipeline you can re-run. Three, measure the distortion without us picking the rules, because rules we pick can flatter our own idea. Four, compare what an analyst would actually look at, rankings, edge counts, variants. Five, check everything twice. On the right: the goals this touches are Quality Education and Industry, Innovation and Infrastructure. We rate the technology at level four, validated in the lab, and we say level two to three for plugging it into the real portal. The outcome is a journal paper. We submitted it to the Journal of Intelligent Information Systems, a Springer journal indexed in Scopus, and it is under review. Under review is not accepted, and we are not going to pretend otherwise.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This is the model we designed from the portal's documentation, and I want to be careful with the wording: it is a design, not a result. A project is executed by a team of students and guided by a faculty member. A report has versions, a version can get a score, and the score is write-once. Every audited action in the portal, create, compile, submit, verify, accept, reject, becomes an event that can point at several of these objects at once. That is exactly the shape a single case id cannot hold, and it is why we chose OCEL 2.0.</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Read this left to right. Seven public logs come in. The first box downloads each file, checks the size and MD5 against the Zenodo record, writes down a SHA-256, and can resume if the network drops, which it did on us once. Then we extract safely, convert Gerrit and Open University data into OCEL, and load everything into the same tables. The orange boxes are the analysis: distortion metrics, the consequence analysis, and a small rule-based engine we keep as an appendix. The green box is the one we care about most: validation, three different ways of checking our own code. The dashed box on top is the future: an adapter from the portal's audit log, once we are allowed to see one.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Eight things the system has to do, and four rules it has to obey. The functional ones follow the pipeline: download and verify, extract safely, convert, load, measure, compare, validate, export. The rules at the bottom matter just as much. Same input must give the same bytes out, which we tested. Names and e-mail addresses are hashed, especially in the Enron data. It has to run on a normal laptop, ours has about eight and a half gigabytes of memory, which is why Ethereum is analysed as a window. And only openly licensed data goes in.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Seven modules, one per box in the architecture. M1 gets the data safely. M2 turns it into OCEL. M3 and M4 are the heart of the project: M3 asks how much a flat view distorts, and M4 asks what an analyst would actually see differently. M5 is the rule engine from our earlier idea. We kept it in the appendix because with real data only, eleven rules on two logs is simply too few to conclude anything. M6 is the checker that keeps us honest. And M7 produces the tables you see in the results.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This is the part where, if the laptop is kind to us, we run it live. Five commands, about a minute in total. First, the download manifest, which should say all eight sources are already present, so nothing is downloaded again. Second, the self-check, our own code against a slow, plain Python version of itself, it should say passed. Third and fourth, we run the distortion and consequence analysis on the Enron e-mails, because that log has a real many-to-many structure and a nice, visible result. Last, we open the summary table. If anything misbehaves, we have the saved outputs for every step, so the story does not depend on the Wi-Fi.</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Each dot is one real log. Left to right is how much flattening copies events, and up is how much of the process one case notion throws away. Look at the bottom left: CROP and OULAD sit at one-times, zero percent. Every event touches exactly one object of each type, so flattening is harmless there, at least for copying. Top left: the Bundestag, Age of Empires and Ethereum. Nothing is copied, but a single case notion drops seventy to ninety percent of the events. You see a slice, not the process. And bottom right: Angular, where one commit touches dozens of files, so an event gets copied eighty times. Three logs types, three different problems.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Same seven logs, but now we asked what an analyst would actually read off a chart. On the left: if we only count duplication, activity rankings barely move, the blue dots sit near one. But compare them with the whole process, the orange dots, and in the Bundestag the correlation falls to about 0.17. That gap is narrowing, not duplication. On the right, the scary one. If you rank entities from a flat export and just count rows, the worst case in Enron is 0.16 and in Age of Empires it is actually negative. An analyst who de-duplicates by event id would avoid it, so this is about careless counting, not an unavoidable loss. We are saying that plainly.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Discovery is what most people actually use process mining for, so we mined a model from every flat view. Look at the chart. Up is fitness, how well the model replays its own log. Right is how much of the real process the model even contains. Every single dot sits near the top, fitness 0.955 or better, including the ones on the far left that show a tiny slice of the process. So the standard quality check says everything is fine, exactly when the view is most partial. And where cases mix up events from different objects, the miner wraps them in loops, and precision drops to 0.04. A model like that will accept almost anything.</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We tested the project the way we would test someone else's. Downloads are checked against the published size and MD5 where the publisher gives one, and every file gets a SHA-256 on record. Re-running reproduces every result file byte for byte. Our fast code is compared with a slow, plain Python version, and that comparison now runs on all seven full logs, every object type, identical. Our rule code is checked against independent SQL, and the OULAD counts against a separate read of the raw files. And here is the part we are actually proud of: those checks found three real bugs of our own. Duplicate Gerrit comments, an abandon message we missed, and a tie-breaking problem in event order. We fixed all three and re-ran everything. What we have not done is get a second person to label the findings independently. That is on the limits list.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So, what do we conclude? That the pipeline works, that it is checked, and that on real data the story is narrowing more than duplication. And here's the part that surprised us most: the models you mine from those narrow views still look great on paper, so the usual check never raises a flag. One limit we repeat on purpose: the capstone model is a design. We could not test it on portal data. Next steps: get someone independent to label our findings, try prediction and other miners, and answer whatever the journal reviewers send back. Thank you. We are happy to take questions.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This slide is short because the honest answer is short. No patent and no conference paper. We did submit the journal paper, to the Journal of Intelligent Information Systems, and the submission acknowledgement is our proof. It is under review, not accepted, and we would rather say that clearly now than have it come up in Q and A. Alongside it, the whole code base is public and re-runs every number.</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References in IEEE style. Everything on this slide was checked against its publisher record or its arXiv entry before it went on the slide. The last line lists the datasets, all openly licensed. Thank you.</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42592BF-19BE-9BF0-E2FC-07A36D054E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383AB4F9-CBB3-B18D-E917-C3B06418676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F50F18A0-E201-1900-A139-E830DD3EA1D1}"/>
              </a:ext>
            </a:extLst>
          </p:cNvPr>
          <p:cNvSpPr>
            <a:spLocks noGrp="1"/>
          </p:cNvSpPr>
          <p:nvPr>
            <p:ph type="dt" sz="half" idx="10"/>
          </p:nvPr>
        </p:nvSpPr>
        <p:spPr/>
        <p:txBody>
          <a:bodyPr/>
          <a:lstStyle/>
          <a:p>
            <a:fld id="{8F3E78AE-7F97-4550-9DD8-BF69171FDC30}" type="datetime1">
              <a:rPr lang="en-IN" smtClean="0"/>
              <a:t>05/10/26</a:t>
            </a:fld>
            <a:endParaRPr lang="en-IN"/>
          </a:p>
        </p:txBody>
      </p:sp>
      <p:sp>
        <p:nvSpPr>
          <p:cNvPr id="5" name="Footer Placeholder 4">
            <a:extLst>
              <a:ext uri="{FF2B5EF4-FFF2-40B4-BE49-F238E27FC236}">
                <a16:creationId xmlns:a16="http://schemas.microsoft.com/office/drawing/2014/main" xmlns="" id="{ED0906B9-B1F6-B52E-2EE0-7595B1EBF0FF}"/>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7A13AE1-F96E-D540-8DE1-8D903DB30CE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765197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532F7EA-3EC9-99AF-13A9-22A3F8B2D21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FC71419B-73DB-15DA-D2EE-0FC01B435F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AB080259-8D20-E29B-4DC5-312C3DB01BB3}"/>
              </a:ext>
            </a:extLst>
          </p:cNvPr>
          <p:cNvSpPr>
            <a:spLocks noGrp="1"/>
          </p:cNvSpPr>
          <p:nvPr>
            <p:ph type="dt" sz="half" idx="10"/>
          </p:nvPr>
        </p:nvSpPr>
        <p:spPr/>
        <p:txBody>
          <a:bodyPr/>
          <a:lstStyle/>
          <a:p>
            <a:fld id="{FEA886FF-1BA7-4533-94E6-869CE1E2970B}" type="datetime1">
              <a:rPr lang="en-IN" smtClean="0"/>
              <a:t>05/10/26</a:t>
            </a:fld>
            <a:endParaRPr lang="en-IN"/>
          </a:p>
        </p:txBody>
      </p:sp>
      <p:sp>
        <p:nvSpPr>
          <p:cNvPr id="5" name="Footer Placeholder 4">
            <a:extLst>
              <a:ext uri="{FF2B5EF4-FFF2-40B4-BE49-F238E27FC236}">
                <a16:creationId xmlns:a16="http://schemas.microsoft.com/office/drawing/2014/main" xmlns="" id="{E101830E-3502-194A-88FA-DC3E0F1B309A}"/>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ECF6703C-229C-43C6-0484-38EC263AD4A9}"/>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6939907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0CE344-6494-09A6-A5E4-811EEE0CD2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xmlns="" id="{7351A0E2-2B9B-B96E-A3FD-0B26BDDBEB4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A767CE67-8E8A-4D0D-42DF-DDC842B1B17A}"/>
              </a:ext>
            </a:extLst>
          </p:cNvPr>
          <p:cNvSpPr>
            <a:spLocks noGrp="1"/>
          </p:cNvSpPr>
          <p:nvPr>
            <p:ph type="dt" sz="half" idx="10"/>
          </p:nvPr>
        </p:nvSpPr>
        <p:spPr/>
        <p:txBody>
          <a:bodyPr/>
          <a:lstStyle/>
          <a:p>
            <a:fld id="{93E22BD8-A2C4-424B-809A-C64DDCC305D9}" type="datetime1">
              <a:rPr lang="en-IN" smtClean="0"/>
              <a:t>05/10/26</a:t>
            </a:fld>
            <a:endParaRPr lang="en-IN"/>
          </a:p>
        </p:txBody>
      </p:sp>
      <p:sp>
        <p:nvSpPr>
          <p:cNvPr id="5" name="Footer Placeholder 4">
            <a:extLst>
              <a:ext uri="{FF2B5EF4-FFF2-40B4-BE49-F238E27FC236}">
                <a16:creationId xmlns:a16="http://schemas.microsoft.com/office/drawing/2014/main" xmlns="" id="{73A78C3E-C139-1FD1-979B-D71679959D2B}"/>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932F297-889B-B694-6DD5-92F8A6AAFF7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958143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792C89C-FEA2-11F6-7988-ADD14A7B22F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0E5DE7B-A406-1142-36EA-1C149874023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xmlns="" id="{D4355A2B-361E-86CB-ABBE-C510D2B221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xmlns="" id="{50DA5E84-A1E0-A1C4-F7E6-DA9E7B124C77}"/>
              </a:ext>
            </a:extLst>
          </p:cNvPr>
          <p:cNvSpPr>
            <a:spLocks noGrp="1"/>
          </p:cNvSpPr>
          <p:nvPr>
            <p:ph type="dt" sz="half" idx="10"/>
          </p:nvPr>
        </p:nvSpPr>
        <p:spPr/>
        <p:txBody>
          <a:bodyPr/>
          <a:lstStyle/>
          <a:p>
            <a:fld id="{B620F4BC-B3A4-46AF-9AEC-8478EF1369D5}" type="datetime1">
              <a:rPr lang="en-IN" smtClean="0"/>
              <a:t>05/10/26</a:t>
            </a:fld>
            <a:endParaRPr lang="en-IN"/>
          </a:p>
        </p:txBody>
      </p:sp>
      <p:sp>
        <p:nvSpPr>
          <p:cNvPr id="6" name="Footer Placeholder 5">
            <a:extLst>
              <a:ext uri="{FF2B5EF4-FFF2-40B4-BE49-F238E27FC236}">
                <a16:creationId xmlns:a16="http://schemas.microsoft.com/office/drawing/2014/main" xmlns="" id="{D5DDA460-54C8-F2AC-C053-53FF3FAFCCD5}"/>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EE6F132A-BD40-58D2-CEEC-A1BA2B9E2EF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438223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05823BE-2514-8722-ED45-41E13E46B674}"/>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64BFEE3B-6ABA-1D24-97FE-717EBBC999E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5C653C42-4C6D-988F-42A0-8639A508A6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xmlns="" id="{F2B662B4-F942-A78F-394F-74F6037179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5B445FBE-A81E-92E1-36E3-99D1586F831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xmlns="" id="{B6D20C02-77C2-CB2A-62F8-60B8C62629ED}"/>
              </a:ext>
            </a:extLst>
          </p:cNvPr>
          <p:cNvSpPr>
            <a:spLocks noGrp="1"/>
          </p:cNvSpPr>
          <p:nvPr>
            <p:ph type="dt" sz="half" idx="10"/>
          </p:nvPr>
        </p:nvSpPr>
        <p:spPr/>
        <p:txBody>
          <a:bodyPr/>
          <a:lstStyle/>
          <a:p>
            <a:fld id="{4C9A2993-B405-4F4D-B968-A01C27211659}" type="datetime1">
              <a:rPr lang="en-IN" smtClean="0"/>
              <a:t>05/10/26</a:t>
            </a:fld>
            <a:endParaRPr lang="en-IN"/>
          </a:p>
        </p:txBody>
      </p:sp>
      <p:sp>
        <p:nvSpPr>
          <p:cNvPr id="8" name="Footer Placeholder 7">
            <a:extLst>
              <a:ext uri="{FF2B5EF4-FFF2-40B4-BE49-F238E27FC236}">
                <a16:creationId xmlns:a16="http://schemas.microsoft.com/office/drawing/2014/main" xmlns="" id="{AD033241-EB08-777E-F678-5D641F6495A5}"/>
              </a:ext>
            </a:extLst>
          </p:cNvPr>
          <p:cNvSpPr>
            <a:spLocks noGrp="1"/>
          </p:cNvSpPr>
          <p:nvPr>
            <p:ph type="ftr" sz="quarter" idx="11"/>
          </p:nvPr>
        </p:nvSpPr>
        <p:spPr/>
        <p:txBody>
          <a:bodyPr/>
          <a:lstStyle/>
          <a:p>
            <a:r>
              <a:rPr lang="en-IN"/>
              <a:t>SCOPE</a:t>
            </a:r>
          </a:p>
        </p:txBody>
      </p:sp>
      <p:sp>
        <p:nvSpPr>
          <p:cNvPr id="9" name="Slide Number Placeholder 8">
            <a:extLst>
              <a:ext uri="{FF2B5EF4-FFF2-40B4-BE49-F238E27FC236}">
                <a16:creationId xmlns:a16="http://schemas.microsoft.com/office/drawing/2014/main" xmlns="" id="{40D711ED-181F-C690-A3B3-1D82670FC5D5}"/>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9272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77468B4-E355-69B3-7598-80ADF2F9CC1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xmlns="" id="{E2F1AB3B-AFC6-3627-62E6-22313061FA80}"/>
              </a:ext>
            </a:extLst>
          </p:cNvPr>
          <p:cNvSpPr>
            <a:spLocks noGrp="1"/>
          </p:cNvSpPr>
          <p:nvPr>
            <p:ph type="dt" sz="half" idx="10"/>
          </p:nvPr>
        </p:nvSpPr>
        <p:spPr/>
        <p:txBody>
          <a:bodyPr/>
          <a:lstStyle/>
          <a:p>
            <a:fld id="{79378C8C-5FBB-4DD7-A06D-BE263480794B}" type="datetime1">
              <a:rPr lang="en-IN" smtClean="0"/>
              <a:t>05/10/26</a:t>
            </a:fld>
            <a:endParaRPr lang="en-IN"/>
          </a:p>
        </p:txBody>
      </p:sp>
      <p:sp>
        <p:nvSpPr>
          <p:cNvPr id="4" name="Footer Placeholder 3">
            <a:extLst>
              <a:ext uri="{FF2B5EF4-FFF2-40B4-BE49-F238E27FC236}">
                <a16:creationId xmlns:a16="http://schemas.microsoft.com/office/drawing/2014/main" xmlns="" id="{2B2C6591-48E4-480E-7965-DE9F830154A3}"/>
              </a:ext>
            </a:extLst>
          </p:cNvPr>
          <p:cNvSpPr>
            <a:spLocks noGrp="1"/>
          </p:cNvSpPr>
          <p:nvPr>
            <p:ph type="ftr" sz="quarter" idx="11"/>
          </p:nvPr>
        </p:nvSpPr>
        <p:spPr/>
        <p:txBody>
          <a:bodyPr/>
          <a:lstStyle/>
          <a:p>
            <a:r>
              <a:rPr lang="en-IN"/>
              <a:t>SCOPE</a:t>
            </a:r>
          </a:p>
        </p:txBody>
      </p:sp>
      <p:sp>
        <p:nvSpPr>
          <p:cNvPr id="5" name="Slide Number Placeholder 4">
            <a:extLst>
              <a:ext uri="{FF2B5EF4-FFF2-40B4-BE49-F238E27FC236}">
                <a16:creationId xmlns:a16="http://schemas.microsoft.com/office/drawing/2014/main" xmlns="" id="{F10C9D68-A16A-B2D3-C8A6-B5221AF744BC}"/>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075061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A23F289A-3AD7-C11D-1594-90A35E592B5C}"/>
              </a:ext>
            </a:extLst>
          </p:cNvPr>
          <p:cNvSpPr>
            <a:spLocks noGrp="1"/>
          </p:cNvSpPr>
          <p:nvPr>
            <p:ph type="dt" sz="half" idx="10"/>
          </p:nvPr>
        </p:nvSpPr>
        <p:spPr/>
        <p:txBody>
          <a:bodyPr/>
          <a:lstStyle/>
          <a:p>
            <a:fld id="{31FD2985-06EC-459B-80C8-F6F4362A1C03}" type="datetime1">
              <a:rPr lang="en-IN" smtClean="0"/>
              <a:t>05/10/26</a:t>
            </a:fld>
            <a:endParaRPr lang="en-IN"/>
          </a:p>
        </p:txBody>
      </p:sp>
      <p:sp>
        <p:nvSpPr>
          <p:cNvPr id="3" name="Footer Placeholder 2">
            <a:extLst>
              <a:ext uri="{FF2B5EF4-FFF2-40B4-BE49-F238E27FC236}">
                <a16:creationId xmlns:a16="http://schemas.microsoft.com/office/drawing/2014/main" xmlns="" id="{8C252269-BBE3-199F-299B-38D4E9CC1899}"/>
              </a:ext>
            </a:extLst>
          </p:cNvPr>
          <p:cNvSpPr>
            <a:spLocks noGrp="1"/>
          </p:cNvSpPr>
          <p:nvPr>
            <p:ph type="ftr" sz="quarter" idx="11"/>
          </p:nvPr>
        </p:nvSpPr>
        <p:spPr/>
        <p:txBody>
          <a:bodyPr/>
          <a:lstStyle/>
          <a:p>
            <a:r>
              <a:rPr lang="en-IN"/>
              <a:t>SCOPE</a:t>
            </a:r>
          </a:p>
        </p:txBody>
      </p:sp>
      <p:sp>
        <p:nvSpPr>
          <p:cNvPr id="4" name="Slide Number Placeholder 3">
            <a:extLst>
              <a:ext uri="{FF2B5EF4-FFF2-40B4-BE49-F238E27FC236}">
                <a16:creationId xmlns:a16="http://schemas.microsoft.com/office/drawing/2014/main" xmlns="" id="{F7407FDC-B2A9-1304-047F-5808A0B6B22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0472659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25A4847-FC20-D9BF-0BDE-26EC7EF743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8D9C584-AC19-D7B4-9DFE-7C1BC2E1BC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xmlns="" id="{2F4A3262-CE8D-2419-DCCC-C536E9FDAC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294758D6-7AF2-29C5-E0EE-3B7BE155EC20}"/>
              </a:ext>
            </a:extLst>
          </p:cNvPr>
          <p:cNvSpPr>
            <a:spLocks noGrp="1"/>
          </p:cNvSpPr>
          <p:nvPr>
            <p:ph type="dt" sz="half" idx="10"/>
          </p:nvPr>
        </p:nvSpPr>
        <p:spPr/>
        <p:txBody>
          <a:bodyPr/>
          <a:lstStyle/>
          <a:p>
            <a:fld id="{71D7E9DA-13C6-48A4-9305-B592482DE8CE}" type="datetime1">
              <a:rPr lang="en-IN" smtClean="0"/>
              <a:t>05/10/26</a:t>
            </a:fld>
            <a:endParaRPr lang="en-IN"/>
          </a:p>
        </p:txBody>
      </p:sp>
      <p:sp>
        <p:nvSpPr>
          <p:cNvPr id="6" name="Footer Placeholder 5">
            <a:extLst>
              <a:ext uri="{FF2B5EF4-FFF2-40B4-BE49-F238E27FC236}">
                <a16:creationId xmlns:a16="http://schemas.microsoft.com/office/drawing/2014/main" xmlns="" id="{45AAC7E7-68C4-7616-2DE1-0333E2C446CC}"/>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5E9EF51B-1685-66FF-0783-23584C25175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7563877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939D0E-3A71-7252-C837-B8281F0DED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xmlns="" id="{AFE3D557-6893-299F-57A8-A7B173F101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xmlns="" id="{C4CC8BA2-BB08-F4E3-5660-C7370BA568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CE57E1CE-C7CA-966D-8661-1E99A7DA2174}"/>
              </a:ext>
            </a:extLst>
          </p:cNvPr>
          <p:cNvSpPr>
            <a:spLocks noGrp="1"/>
          </p:cNvSpPr>
          <p:nvPr>
            <p:ph type="dt" sz="half" idx="10"/>
          </p:nvPr>
        </p:nvSpPr>
        <p:spPr/>
        <p:txBody>
          <a:bodyPr/>
          <a:lstStyle/>
          <a:p>
            <a:fld id="{F45E7C4B-C575-4DCF-9B63-045662930500}" type="datetime1">
              <a:rPr lang="en-IN" smtClean="0"/>
              <a:t>05/10/26</a:t>
            </a:fld>
            <a:endParaRPr lang="en-IN"/>
          </a:p>
        </p:txBody>
      </p:sp>
      <p:sp>
        <p:nvSpPr>
          <p:cNvPr id="6" name="Footer Placeholder 5">
            <a:extLst>
              <a:ext uri="{FF2B5EF4-FFF2-40B4-BE49-F238E27FC236}">
                <a16:creationId xmlns:a16="http://schemas.microsoft.com/office/drawing/2014/main" xmlns="" id="{66055516-3E64-07E5-10C5-DE056657E44B}"/>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AFBA5AD5-9867-E76D-C035-2856CCFBC128}"/>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940017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71D7EC-16EA-5009-5D33-ABFC55F2813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EB09EC6D-8ED5-29E9-9444-CC2D6A1CB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3C1ADFC6-7CEA-ABEE-94C2-870B1E65737A}"/>
              </a:ext>
            </a:extLst>
          </p:cNvPr>
          <p:cNvSpPr>
            <a:spLocks noGrp="1"/>
          </p:cNvSpPr>
          <p:nvPr>
            <p:ph type="dt" sz="half" idx="10"/>
          </p:nvPr>
        </p:nvSpPr>
        <p:spPr/>
        <p:txBody>
          <a:bodyPr/>
          <a:lstStyle/>
          <a:p>
            <a:fld id="{5576931C-EA1A-43DD-B3B3-66F5BA587712}" type="datetime1">
              <a:rPr lang="en-IN" smtClean="0"/>
              <a:t>05/10/26</a:t>
            </a:fld>
            <a:endParaRPr lang="en-IN"/>
          </a:p>
        </p:txBody>
      </p:sp>
      <p:sp>
        <p:nvSpPr>
          <p:cNvPr id="5" name="Footer Placeholder 4">
            <a:extLst>
              <a:ext uri="{FF2B5EF4-FFF2-40B4-BE49-F238E27FC236}">
                <a16:creationId xmlns:a16="http://schemas.microsoft.com/office/drawing/2014/main" xmlns="" id="{7B1FA3A5-596E-6C2A-F853-30C5DC6FBF0D}"/>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12CE6B1-CE87-B68F-9494-FA6D109F389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659809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AF0FF105-FC99-2BCB-131F-2B902F8BAE2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50354FD6-064F-6E12-E8DE-81EC913CDB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EF1D2109-32D1-4A0F-F903-5142A204EF48}"/>
              </a:ext>
            </a:extLst>
          </p:cNvPr>
          <p:cNvSpPr>
            <a:spLocks noGrp="1"/>
          </p:cNvSpPr>
          <p:nvPr>
            <p:ph type="dt" sz="half" idx="10"/>
          </p:nvPr>
        </p:nvSpPr>
        <p:spPr/>
        <p:txBody>
          <a:bodyPr/>
          <a:lstStyle/>
          <a:p>
            <a:fld id="{82C9B0E1-7C95-4C20-B9C6-BA51F388E878}" type="datetime1">
              <a:rPr lang="en-IN" smtClean="0"/>
              <a:t>05/10/26</a:t>
            </a:fld>
            <a:endParaRPr lang="en-IN"/>
          </a:p>
        </p:txBody>
      </p:sp>
      <p:sp>
        <p:nvSpPr>
          <p:cNvPr id="5" name="Footer Placeholder 4">
            <a:extLst>
              <a:ext uri="{FF2B5EF4-FFF2-40B4-BE49-F238E27FC236}">
                <a16:creationId xmlns:a16="http://schemas.microsoft.com/office/drawing/2014/main" xmlns="" id="{73E5353D-EEF9-CF3C-A97F-F0F0EBFA7C59}"/>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DF2F1DC-3958-BCDE-9A16-88E928E7ED2D}"/>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3354089"/>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85454249-E28B-CF91-F4A6-9762E4F38B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21E3D641-7C66-CA7D-30A7-7F95AC27EF4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B5E1D408-B228-838E-3E43-4304680A53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827C3E-786B-4150-9177-1C28966A2ADC}" type="datetime1">
              <a:rPr lang="en-IN" smtClean="0"/>
              <a:t>05/10/26</a:t>
            </a:fld>
            <a:endParaRPr lang="en-IN"/>
          </a:p>
        </p:txBody>
      </p:sp>
      <p:sp>
        <p:nvSpPr>
          <p:cNvPr id="5" name="Footer Placeholder 4">
            <a:extLst>
              <a:ext uri="{FF2B5EF4-FFF2-40B4-BE49-F238E27FC236}">
                <a16:creationId xmlns:a16="http://schemas.microsoft.com/office/drawing/2014/main" xmlns="" id="{DCEC7A69-1922-F157-900C-FF95668316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SCOPE</a:t>
            </a:r>
          </a:p>
        </p:txBody>
      </p:sp>
      <p:sp>
        <p:nvSpPr>
          <p:cNvPr id="6" name="Slide Number Placeholder 5">
            <a:extLst>
              <a:ext uri="{FF2B5EF4-FFF2-40B4-BE49-F238E27FC236}">
                <a16:creationId xmlns:a16="http://schemas.microsoft.com/office/drawing/2014/main" xmlns="" id="{51B80E76-E345-1553-9664-0BCF569B55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5201FD4-9D8D-4491-815B-63C7BF4F0034}" type="slidenum">
              <a:rPr lang="en-IN" smtClean="0"/>
              <a:t>‹#›</a:t>
            </a:fld>
            <a:endParaRPr lang="en-IN"/>
          </a:p>
        </p:txBody>
      </p:sp>
    </p:spTree>
    <p:extLst>
      <p:ext uri="{BB962C8B-B14F-4D97-AF65-F5344CB8AC3E}">
        <p14:creationId xmlns:p14="http://schemas.microsoft.com/office/powerpoint/2010/main" val="13918410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9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capstone_schema.png"/><Relationship Id="rId9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architecture.png"/><Relationship Id="rId9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regimes.png"/><Relationship Id="rId9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rank_activity.png"/><Relationship Id="rId3" Type="http://schemas.openxmlformats.org/officeDocument/2006/relationships/image" Target="../media/fig_rank_entity.png"/><Relationship Id="rId9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discovery.png"/><Relationship Id="rId9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3E9E27CD-EF84-CB3A-3D07-A3152356892A}"/>
              </a:ext>
            </a:extLst>
          </p:cNvPr>
          <p:cNvPicPr>
            <a:picLocks noChangeAspect="1"/>
          </p:cNvPicPr>
          <p:nvPr/>
        </p:nvPicPr>
        <p:blipFill>
          <a:blip r:embed="rId2"/>
          <a:stretch>
            <a:fillRect/>
          </a:stretch>
        </p:blipFill>
        <p:spPr>
          <a:xfrm>
            <a:off x="3837236" y="-11493"/>
            <a:ext cx="4517528" cy="1871634"/>
          </a:xfrm>
          <a:prstGeom prst="rect">
            <a:avLst/>
          </a:prstGeom>
        </p:spPr>
      </p:pic>
      <p:sp>
        <p:nvSpPr>
          <p:cNvPr id="7" name="Title 6">
            <a:extLst>
              <a:ext uri="{FF2B5EF4-FFF2-40B4-BE49-F238E27FC236}">
                <a16:creationId xmlns:a16="http://schemas.microsoft.com/office/drawing/2014/main" xmlns="" id="{8BAD67C4-20B4-E1F6-A7E7-C8C33181D0C9}"/>
              </a:ext>
            </a:extLst>
          </p:cNvPr>
          <p:cNvSpPr txBox="1">
            <a:spLocks noGrp="1"/>
          </p:cNvSpPr>
          <p:nvPr>
            <p:ph type="ctrTitle"/>
          </p:nvPr>
        </p:nvSpPr>
        <p:spPr>
          <a:xfrm>
            <a:off x="822960" y="1783080"/>
            <a:ext cx="10543032" cy="1600200"/>
          </a:xfrm>
          <a:prstGeom prst="rect">
            <a:avLst/>
          </a:prstGeom>
          <a:noFill/>
        </p:spPr>
        <p:txBody>
          <a:bodyPr wrap="square" rtlCol="0" anchor="ctr">
            <a:noAutofit/>
          </a:bodyPr>
          <a:lstStyle/>
          <a:p>
            <a:pPr algn="ctr"/>
            <a:r>
              <a:rPr lang="en-IN" sz="2000" b="1" dirty="0">
                <a:latin typeface="Times New Roman" panose="02020603050405020304" pitchFamily="18" charset="0"/>
                <a:cs typeface="Times New Roman" panose="02020603050405020304" pitchFamily="18" charset="0"/>
              </a:rPr>
              <a:t>BCSE497J - Project I  |  B.Tech. Computer Science and Engineering</a:t>
            </a:r>
          </a:p>
          <a:p>
            <a:pPr algn="ctr">
              <a:spcBef>
                <a:spcPts val="800"/>
              </a:spcBef>
            </a:pPr>
            <a:r>
              <a:rPr lang="en-IN" sz="2800" b="1" dirty="0">
                <a:latin typeface="Times New Roman" panose="02020603050405020304" pitchFamily="18" charset="0"/>
                <a:cs typeface="Times New Roman" panose="02020603050405020304" pitchFamily="18" charset="0"/>
              </a:rPr>
              <a:t>Object-Centric Event Log Mining for Academic Capstone Processes: A Native OCEL 2.0 Approach</a:t>
            </a:r>
          </a:p>
        </p:txBody>
      </p:sp>
      <p:sp>
        <p:nvSpPr>
          <p:cNvPr id="9" name="object 3">
            <a:extLst>
              <a:ext uri="{FF2B5EF4-FFF2-40B4-BE49-F238E27FC236}">
                <a16:creationId xmlns:a16="http://schemas.microsoft.com/office/drawing/2014/main" xmlns="" id="{68BC382C-506F-4908-6AC3-C0AA73064F47}"/>
              </a:ext>
            </a:extLst>
          </p:cNvPr>
          <p:cNvSpPr txBox="1"/>
          <p:nvPr/>
        </p:nvSpPr>
        <p:spPr>
          <a:xfrm>
            <a:off x="2926080" y="3611880"/>
            <a:ext cx="6400800" cy="2468880"/>
          </a:xfrm>
          <a:prstGeom prst="rect">
            <a:avLst/>
          </a:prstGeom>
        </p:spPr>
        <p:txBody>
          <a:bodyPr vert="horz" wrap="square" lIns="0" tIns="12700" rIns="0" bIns="0" rtlCol="0">
            <a:noAutofit/>
          </a:bodyPr>
          <a:lstStyle/>
          <a:p>
            <a:pPr marL="12700">
              <a:lnSpc>
                <a:spcPct val="100000"/>
              </a:lnSpc>
              <a:spcBef>
                <a:spcPts val="0"/>
              </a:spcBef>
              <a:tabLst>
                <a:tab pos="3566160" algn="l"/>
              </a:tabLst>
            </a:pPr>
            <a:r>
              <a:rPr lang="en-IN" sz="2000" b="1" dirty="0">
                <a:latin typeface="Times New Roman" panose="02020603050405020304" pitchFamily="18" charset="0"/>
                <a:cs typeface="Times New Roman" panose="02020603050405020304" pitchFamily="18" charset="0"/>
              </a:rPr>
              <a:t>Team members:</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Mitisha Sharma	(23BCE0434)</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Tanmay Khambete	(23BCE0498)</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Aakaash Sathya Saravanan	(23BCE0500)</a:t>
            </a:r>
          </a:p>
          <a:p>
            <a:pPr marL="12700">
              <a:lnSpc>
                <a:spcPct val="100000"/>
              </a:lnSpc>
              <a:spcBef>
                <a:spcPts val="1400"/>
              </a:spcBef>
              <a:tabLst>
                <a:tab pos="3566160" algn="l"/>
              </a:tabLst>
            </a:pPr>
            <a:r>
              <a:rPr lang="en-IN" sz="2000" b="1" dirty="0">
                <a:latin typeface="Times New Roman" panose="02020603050405020304" pitchFamily="18" charset="0"/>
                <a:cs typeface="Times New Roman" panose="02020603050405020304" pitchFamily="18" charset="0"/>
              </a:rPr>
              <a:t>Faculty guide:</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Dr. Kalyanaraman P.</a:t>
            </a:r>
          </a:p>
        </p:txBody>
      </p:sp>
    </p:spTree>
    <p:extLst>
      <p:ext uri="{BB962C8B-B14F-4D97-AF65-F5344CB8AC3E}">
        <p14:creationId xmlns:p14="http://schemas.microsoft.com/office/powerpoint/2010/main" val="4243036810"/>
      </p:ext>
    </p:extLst>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Approval Mail From Guide</a:t>
            </a:r>
          </a:p>
        </p:txBody>
      </p:sp>
      <p:sp>
        <p:nvSpPr>
          <p:cNvPr id="3" name="Screenshot placeholder 3"/>
          <p:cNvSpPr txBox="1"/>
          <p:nvPr/>
        </p:nvSpPr>
        <p:spPr>
          <a:xfrm>
            <a:off x="457200" y="1417320"/>
            <a:ext cx="6583680" cy="4480560"/>
          </a:xfrm>
          <a:prstGeom prst="rect">
            <a:avLst/>
          </a:prstGeom>
          <a:solidFill>
            <a:srgbClr val="FFFFFF"/>
          </a:solidFill>
          <a:ln w="19050">
            <a:solidFill>
              <a:srgbClr val="5B616B"/>
            </a:solidFill>
            <a:prstDash val="dash"/>
          </a:ln>
        </p:spPr>
        <p:txBody>
          <a:bodyPr wrap="square" lIns="109728" tIns="76810" rIns="109728" bIns="76810" rtlCol="0" anchor="ctr">
            <a:noAutofit/>
          </a:bodyPr>
          <a:lstStyle/>
          <a:p>
            <a:pPr marL="0" indent="0" algn="ctr">
              <a:lnSpc>
                <a:spcPct val="100000"/>
              </a:lnSpc>
              <a:spcBef>
                <a:spcPts val="0"/>
              </a:spcBef>
              <a:spcAft>
                <a:spcPts val="0"/>
              </a:spcAft>
              <a:buNone/>
            </a:pPr>
            <a:r>
              <a:rPr lang="en-IN" sz="2800" b="1" dirty="0">
                <a:solidFill>
                  <a:srgbClr val="1F2328"/>
                </a:solidFill>
                <a:highlight>
                  <a:srgbClr val="FFFF00"/>
                </a:highlight>
                <a:latin typeface="Times New Roman" panose="02020603050405020304" pitchFamily="18" charset="0"/>
                <a:cs typeface="Times New Roman" panose="02020603050405020304" pitchFamily="18" charset="0"/>
              </a:rPr>
              <a:t>PLACEHOLDER</a:t>
            </a:r>
          </a:p>
          <a:p>
            <a:pPr marL="0" indent="0" algn="ctr">
              <a:lnSpc>
                <a:spcPct val="100000"/>
              </a:lnSpc>
              <a:spcBef>
                <a:spcPts val="1000"/>
              </a:spcBef>
              <a:spcAft>
                <a:spcPts val="0"/>
              </a:spcAft>
              <a:buNone/>
            </a:pPr>
            <a:r>
              <a:rPr lang="en-IN" sz="2000" dirty="0">
                <a:solidFill>
                  <a:srgbClr val="1F2328"/>
                </a:solidFill>
                <a:highlight>
                  <a:srgbClr val="FFFF00"/>
                </a:highlight>
                <a:latin typeface="Times New Roman" panose="02020603050405020304" pitchFamily="18" charset="0"/>
                <a:cs typeface="Times New Roman" panose="02020603050405020304" pitchFamily="18" charset="0"/>
              </a:rPr>
              <a:t>insert the guide's approval mail screenshot here</a:t>
            </a:r>
          </a:p>
          <a:p>
            <a:pPr marL="0" indent="0" algn="ctr">
              <a:lnSpc>
                <a:spcPct val="100000"/>
              </a:lnSpc>
              <a:spcBef>
                <a:spcPts val="1400"/>
              </a:spcBef>
              <a:spcAft>
                <a:spcPts val="0"/>
              </a:spcAft>
              <a:buNone/>
            </a:pPr>
            <a:r>
              <a:rPr lang="en-IN" sz="1400" i="1" dirty="0">
                <a:solidFill>
                  <a:srgbClr val="5B616B"/>
                </a:solidFill>
                <a:latin typeface="Times New Roman" panose="02020603050405020304" pitchFamily="18" charset="0"/>
                <a:cs typeface="Times New Roman" panose="02020603050405020304" pitchFamily="18" charset="0"/>
              </a:rPr>
              <a:t>(taken after the guide approves the points on the right)</a:t>
            </a:r>
          </a:p>
        </p:txBody>
      </p:sp>
      <p:sp>
        <p:nvSpPr>
          <p:cNvPr id="4" name="Checklist 4"/>
          <p:cNvSpPr txBox="1"/>
          <p:nvPr/>
        </p:nvSpPr>
        <p:spPr>
          <a:xfrm>
            <a:off x="7315200" y="1417320"/>
            <a:ext cx="4416552" cy="448056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The mail should confirm</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Meeting with guide: frequent</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PowerPoint presentation</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Project demonstration</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Final project report</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Project outcome: </a:t>
            </a:r>
            <a:r>
              <a:rPr lang="en-IN" sz="1600" b="1" dirty="0">
                <a:solidFill>
                  <a:srgbClr val="1F2328"/>
                </a:solidFill>
                <a:latin typeface="Times New Roman" panose="02020603050405020304" pitchFamily="18" charset="0"/>
                <a:cs typeface="Times New Roman" panose="02020603050405020304" pitchFamily="18" charset="0"/>
              </a:rPr>
              <a:t>Journal paper submitted</a:t>
            </a:r>
            <a:r>
              <a:rPr lang="en-IN" sz="1600" dirty="0">
                <a:solidFill>
                  <a:srgbClr val="1F2328"/>
                </a:solidFill>
                <a:latin typeface="Times New Roman" panose="02020603050405020304" pitchFamily="18" charset="0"/>
                <a:cs typeface="Times New Roman" panose="02020603050405020304" pitchFamily="18" charset="0"/>
              </a:rPr>
              <a:t> (JIIS, under review)</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Turnitin plagiarism: </a:t>
            </a:r>
            <a:r>
              <a:rPr lang="en-IN" sz="1600" dirty="0">
                <a:solidFill>
                  <a:srgbClr val="1F2328"/>
                </a:solidFill>
                <a:highlight>
                  <a:srgbClr val="FFFF00"/>
                </a:highlight>
                <a:latin typeface="Times New Roman" panose="02020603050405020304" pitchFamily="18" charset="0"/>
                <a:cs typeface="Times New Roman" panose="02020603050405020304" pitchFamily="18" charset="0"/>
              </a:rPr>
              <a:t>[fill in] %</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Turnitin AI score: </a:t>
            </a:r>
            <a:r>
              <a:rPr lang="en-IN" sz="1600" dirty="0">
                <a:solidFill>
                  <a:srgbClr val="1F2328"/>
                </a:solidFill>
                <a:highlight>
                  <a:srgbClr val="FFFF00"/>
                </a:highlight>
                <a:latin typeface="Times New Roman" panose="02020603050405020304" pitchFamily="18" charset="0"/>
                <a:cs typeface="Times New Roman" panose="02020603050405020304" pitchFamily="18" charset="0"/>
              </a:rPr>
              <a:t>[fill in]</a:t>
            </a:r>
            <a:r>
              <a:rPr lang="en-IN" sz="1600" dirty="0">
                <a:solidFill>
                  <a:srgbClr val="1F2328"/>
                </a:solidFill>
                <a:latin typeface="Times New Roman" panose="02020603050405020304" pitchFamily="18" charset="0"/>
                <a:cs typeface="Times New Roman" panose="02020603050405020304" pitchFamily="18" charset="0"/>
              </a:rPr>
              <a:t> (limit 25%)</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Project ID: </a:t>
            </a:r>
            <a:r>
              <a:rPr lang="en-IN" sz="1600" dirty="0">
                <a:solidFill>
                  <a:srgbClr val="1F2328"/>
                </a:solidFill>
                <a:highlight>
                  <a:srgbClr val="FFFF00"/>
                </a:highlight>
                <a:latin typeface="Times New Roman" panose="02020603050405020304" pitchFamily="18" charset="0"/>
                <a:cs typeface="Times New Roman" panose="02020603050405020304" pitchFamily="18" charset="0"/>
              </a:rPr>
              <a:t>[fill in]</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2</a:t>
            </a:fld>
            <a:endParaRPr lang="en-I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Aim</a:t>
            </a:r>
          </a:p>
        </p:txBody>
      </p:sp>
      <p:sp>
        <p:nvSpPr>
          <p:cNvPr id="3" name="Aim text 3"/>
          <p:cNvSpPr txBox="1"/>
          <p:nvPr/>
        </p:nvSpPr>
        <p:spPr>
          <a:xfrm>
            <a:off x="457200" y="1417320"/>
            <a:ext cx="6675120" cy="4572000"/>
          </a:xfrm>
          <a:prstGeom prst="rect">
            <a:avLst/>
          </a:prstGeom>
          <a:noFill/>
          <a:ln>
            <a:noFill/>
          </a:ln>
        </p:spPr>
        <p:txBody>
          <a:bodyPr wrap="square" lIns="109728" tIns="76810" rIns="109728" bIns="76810" rtlCol="0" anchor="t">
            <a:noAutofit/>
          </a:bodyPr>
          <a:lstStyle/>
          <a:p>
            <a:pPr marL="285750" indent="-285750" algn="l">
              <a:lnSpc>
                <a:spcPct val="100000"/>
              </a:lnSpc>
              <a:spcBef>
                <a:spcPts val="1400"/>
              </a:spcBef>
              <a:spcAft>
                <a:spcPts val="0"/>
              </a:spcAft>
              <a:buFont typeface="Arial" panose="020B0604020202020204" pitchFamily="34" charset="0"/>
              <a:buChar char="•"/>
            </a:pPr>
            <a:r>
              <a:rPr lang="en-IN" sz="2000" dirty="0">
                <a:solidFill>
                  <a:srgbClr val="1F2328"/>
                </a:solidFill>
                <a:latin typeface="Times New Roman" panose="02020603050405020304" pitchFamily="18" charset="0"/>
                <a:cs typeface="Times New Roman" panose="02020603050405020304" pitchFamily="18" charset="0"/>
              </a:rPr>
              <a:t>Model the capstone review lifecycle (project, team, student, guide, report version, score) as an OCEL 2.0 object-centric event log.</a:t>
            </a:r>
          </a:p>
          <a:p>
            <a:pPr marL="285750" indent="-285750" algn="l">
              <a:lnSpc>
                <a:spcPct val="100000"/>
              </a:lnSpc>
              <a:spcBef>
                <a:spcPts val="1400"/>
              </a:spcBef>
              <a:spcAft>
                <a:spcPts val="0"/>
              </a:spcAft>
              <a:buFont typeface="Arial" panose="020B0604020202020204" pitchFamily="34" charset="0"/>
              <a:buChar char="•"/>
            </a:pPr>
            <a:r>
              <a:rPr lang="en-IN" sz="2000" dirty="0">
                <a:solidFill>
                  <a:srgbClr val="1F2328"/>
                </a:solidFill>
                <a:latin typeface="Times New Roman" panose="02020603050405020304" pitchFamily="18" charset="0"/>
                <a:cs typeface="Times New Roman" panose="02020603050405020304" pitchFamily="18" charset="0"/>
              </a:rPr>
              <a:t>Measure, on real public logs, what a flat single-case view hides or distorts, and what a flat export must carry to stay trustworthy.</a:t>
            </a:r>
          </a:p>
          <a:p>
            <a:pPr marL="285750" indent="-285750" algn="l">
              <a:lnSpc>
                <a:spcPct val="100000"/>
              </a:lnSpc>
              <a:spcBef>
                <a:spcPts val="1400"/>
              </a:spcBef>
              <a:spcAft>
                <a:spcPts val="0"/>
              </a:spcAft>
              <a:buFont typeface="Arial" panose="020B0604020202020204" pitchFamily="34" charset="0"/>
              <a:buChar char="•"/>
            </a:pPr>
            <a:r>
              <a:rPr lang="en-IN" sz="2000" dirty="0">
                <a:solidFill>
                  <a:srgbClr val="1F2328"/>
                </a:solidFill>
                <a:latin typeface="Times New Roman" panose="02020603050405020304" pitchFamily="18" charset="0"/>
                <a:cs typeface="Times New Roman" panose="02020603050405020304" pitchFamily="18" charset="0"/>
              </a:rPr>
              <a:t>Do it with reproducible, independently checked code, because production portal logs are not available to us.</a:t>
            </a:r>
          </a:p>
        </p:txBody>
      </p:sp>
      <p:sp>
        <p:nvSpPr>
          <p:cNvPr id="4" name="Question 4"/>
          <p:cNvSpPr txBox="1"/>
          <p:nvPr/>
        </p:nvSpPr>
        <p:spPr>
          <a:xfrm>
            <a:off x="7498080" y="1417320"/>
            <a:ext cx="4233672" cy="4572000"/>
          </a:xfrm>
          <a:prstGeom prst="roundRect">
            <a:avLst>
              <a:gd name="adj" fmla="val 6000"/>
            </a:avLst>
          </a:prstGeom>
          <a:solidFill>
            <a:srgbClr val="E6F0FC"/>
          </a:solidFill>
          <a:ln>
            <a:noFill/>
          </a:ln>
        </p:spPr>
        <p:txBody>
          <a:bodyPr wrap="square" lIns="274320" tIns="192024" rIns="274320" bIns="192024" rtlCol="0" anchor="ctr">
            <a:noAutofit/>
          </a:bodyPr>
          <a:lstStyle/>
          <a:p>
            <a:pPr marL="0" indent="0" algn="l">
              <a:lnSpc>
                <a:spcPct val="100000"/>
              </a:lnSpc>
              <a:spcBef>
                <a:spcPts val="0"/>
              </a:spcBef>
              <a:spcAft>
                <a:spcPts val="1000"/>
              </a:spcAft>
              <a:buNone/>
            </a:pPr>
            <a:r>
              <a:rPr lang="en-IN" sz="1600" b="1" dirty="0">
                <a:solidFill>
                  <a:srgbClr val="2A78D6"/>
                </a:solidFill>
                <a:latin typeface="Times New Roman" panose="02020603050405020304" pitchFamily="18" charset="0"/>
                <a:cs typeface="Times New Roman" panose="02020603050405020304" pitchFamily="18" charset="0"/>
              </a:rPr>
              <a:t>The question we asked</a:t>
            </a:r>
          </a:p>
          <a:p>
            <a:pPr marL="0" indent="0" algn="l">
              <a:lnSpc>
                <a:spcPct val="100000"/>
              </a:lnSpc>
              <a:spcBef>
                <a:spcPts val="0"/>
              </a:spcBef>
              <a:spcAft>
                <a:spcPts val="0"/>
              </a:spcAft>
              <a:buNone/>
            </a:pPr>
            <a:r>
              <a:rPr lang="en-IN" sz="2600" i="1" dirty="0">
                <a:solidFill>
                  <a:srgbClr val="1F2328"/>
                </a:solidFill>
                <a:latin typeface="Times New Roman" panose="02020603050405020304" pitchFamily="18" charset="0"/>
                <a:cs typeface="Times New Roman" panose="02020603050405020304" pitchFamily="18" charset="0"/>
              </a:rPr>
              <a:t>When a workflow with many entities is flattened to one case notion, what do we actually lose?</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3</a:t>
            </a:fld>
            <a:endParaRPr lang="en-I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Abstract</a:t>
            </a:r>
          </a:p>
        </p:txBody>
      </p:sp>
      <p:sp>
        <p:nvSpPr>
          <p:cNvPr id="3" name="Abstract text 3"/>
          <p:cNvSpPr txBox="1"/>
          <p:nvPr/>
        </p:nvSpPr>
        <p:spPr>
          <a:xfrm>
            <a:off x="457200" y="1417320"/>
            <a:ext cx="7315200" cy="4754880"/>
          </a:xfrm>
          <a:prstGeom prst="rect">
            <a:avLst/>
          </a:prstGeom>
          <a:noFill/>
          <a:ln>
            <a:noFill/>
          </a:ln>
        </p:spPr>
        <p:txBody>
          <a:bodyPr wrap="square" lIns="109728" tIns="76810" rIns="109728" bIns="76810" rtlCol="0" anchor="t">
            <a:noAutofit/>
          </a:bodyPr>
          <a:lstStyle/>
          <a:p>
            <a:pPr marL="0" indent="0" algn="l">
              <a:lnSpc>
                <a:spcPct val="100000"/>
              </a:lnSpc>
              <a:spcBef>
                <a:spcPts val="0"/>
              </a:spcBef>
              <a:spcAft>
                <a:spcPts val="800"/>
              </a:spcAft>
              <a:buNone/>
            </a:pPr>
            <a:r>
              <a:rPr lang="en-IN" sz="1700" dirty="0">
                <a:solidFill>
                  <a:srgbClr val="1F2328"/>
                </a:solidFill>
                <a:latin typeface="Times New Roman" panose="02020603050405020304" pitchFamily="18" charset="0"/>
                <a:cs typeface="Times New Roman" panose="02020603050405020304" pitchFamily="18" charset="0"/>
              </a:rPr>
              <a:t>Process mining normally assigns each event to one case. A capstone event, however, concerns a project, a team, a guide, a report version and a score at once. Flattening it to a single case notion can duplicate events, drop others, or hide how cases share people and resources.</a:t>
            </a:r>
          </a:p>
          <a:p>
            <a:pPr marL="0" indent="0" algn="l">
              <a:lnSpc>
                <a:spcPct val="100000"/>
              </a:lnSpc>
              <a:spcBef>
                <a:spcPts val="0"/>
              </a:spcBef>
              <a:spcAft>
                <a:spcPts val="800"/>
              </a:spcAft>
              <a:buNone/>
            </a:pPr>
            <a:r>
              <a:rPr lang="en-IN" sz="1700" dirty="0">
                <a:solidFill>
                  <a:srgbClr val="1F2328"/>
                </a:solidFill>
                <a:latin typeface="Times New Roman" panose="02020603050405020304" pitchFamily="18" charset="0"/>
                <a:cs typeface="Times New Roman" panose="02020603050405020304" pitchFamily="18" charset="0"/>
              </a:rPr>
              <a:t>Production portal logs were unavailable, so we built a reproducible OCEL 2.0 pipeline and measured flattening on seven real public logs: code review, education, legislation, e-mail, blockchain and gameplay.</a:t>
            </a:r>
          </a:p>
          <a:p>
            <a:pPr marL="0" indent="0" algn="l">
              <a:lnSpc>
                <a:spcPct val="100000"/>
              </a:lnSpc>
              <a:spcBef>
                <a:spcPts val="0"/>
              </a:spcBef>
              <a:spcAft>
                <a:spcPts val="0"/>
              </a:spcAft>
              <a:buNone/>
            </a:pPr>
            <a:r>
              <a:rPr lang="en-IN" sz="1700" dirty="0">
                <a:solidFill>
                  <a:srgbClr val="1F2328"/>
                </a:solidFill>
                <a:latin typeface="Times New Roman" panose="02020603050405020304" pitchFamily="18" charset="0"/>
                <a:cs typeface="Times New Roman" panose="02020603050405020304" pitchFamily="18" charset="0"/>
              </a:rPr>
              <a:t>Duplication from flattening turned out to be small except in fan-out logs. The larger effect is narrowing: one case notion shows only a slice of the process, and a model mined from that slice still scores a near-perfect fitness, so nothing warns the analyst. Every number is re-computed by open code, carries a bootstrap interval and is checked by independent implementations.</a:t>
            </a:r>
          </a:p>
        </p:txBody>
      </p:sp>
      <p:sp>
        <p:nvSpPr>
          <p:cNvPr id="4" name="Stat 4"/>
          <p:cNvSpPr txBox="1"/>
          <p:nvPr/>
        </p:nvSpPr>
        <p:spPr>
          <a:xfrm>
            <a:off x="8138160" y="1417320"/>
            <a:ext cx="3593592" cy="1143000"/>
          </a:xfrm>
          <a:prstGeom prst="roundRect">
            <a:avLst>
              <a:gd name="adj" fmla="val 6000"/>
            </a:avLst>
          </a:prstGeom>
          <a:solidFill>
            <a:srgbClr val="F3F6FA"/>
          </a:solidFill>
          <a:ln>
            <a:noFill/>
          </a:ln>
        </p:spPr>
        <p:txBody>
          <a:bodyPr wrap="square" lIns="164592" tIns="115214" rIns="164592" bIns="115214" rtlCol="0" anchor="ctr">
            <a:noAutofit/>
          </a:bodyPr>
          <a:lstStyle/>
          <a:p>
            <a:pPr marL="0" indent="0" algn="l">
              <a:lnSpc>
                <a:spcPct val="100000"/>
              </a:lnSpc>
              <a:spcBef>
                <a:spcPts val="0"/>
              </a:spcBef>
              <a:spcAft>
                <a:spcPts val="0"/>
              </a:spcAft>
              <a:buNone/>
            </a:pPr>
            <a:r>
              <a:rPr lang="en-IN" sz="4000" b="1" dirty="0">
                <a:solidFill>
                  <a:srgbClr val="2A78D6"/>
                </a:solidFill>
                <a:latin typeface="Times New Roman" panose="02020603050405020304" pitchFamily="18" charset="0"/>
                <a:cs typeface="Times New Roman" panose="02020603050405020304" pitchFamily="18" charset="0"/>
              </a:rPr>
              <a:t>7</a:t>
            </a:r>
          </a:p>
          <a:p>
            <a:pPr marL="0" indent="0" algn="l">
              <a:lnSpc>
                <a:spcPct val="100000"/>
              </a:lnSpc>
              <a:spcBef>
                <a:spcPts val="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real public logs, none synthetic</a:t>
            </a:r>
          </a:p>
        </p:txBody>
      </p:sp>
      <p:sp>
        <p:nvSpPr>
          <p:cNvPr id="5" name="Stat 5"/>
          <p:cNvSpPr txBox="1"/>
          <p:nvPr/>
        </p:nvSpPr>
        <p:spPr>
          <a:xfrm>
            <a:off x="8138160" y="2788920"/>
            <a:ext cx="3593592" cy="1143000"/>
          </a:xfrm>
          <a:prstGeom prst="roundRect">
            <a:avLst>
              <a:gd name="adj" fmla="val 6000"/>
            </a:avLst>
          </a:prstGeom>
          <a:solidFill>
            <a:srgbClr val="F3F6FA"/>
          </a:solidFill>
          <a:ln>
            <a:noFill/>
          </a:ln>
        </p:spPr>
        <p:txBody>
          <a:bodyPr wrap="square" lIns="164592" tIns="115214" rIns="164592" bIns="115214" rtlCol="0" anchor="ctr">
            <a:noAutofit/>
          </a:bodyPr>
          <a:lstStyle/>
          <a:p>
            <a:pPr marL="0" indent="0" algn="l">
              <a:lnSpc>
                <a:spcPct val="100000"/>
              </a:lnSpc>
              <a:spcBef>
                <a:spcPts val="0"/>
              </a:spcBef>
              <a:spcAft>
                <a:spcPts val="0"/>
              </a:spcAft>
              <a:buNone/>
            </a:pPr>
            <a:r>
              <a:rPr lang="en-IN" sz="4000" b="1" dirty="0">
                <a:solidFill>
                  <a:srgbClr val="EB6834"/>
                </a:solidFill>
                <a:latin typeface="Times New Roman" panose="02020603050405020304" pitchFamily="18" charset="0"/>
                <a:cs typeface="Times New Roman" panose="02020603050405020304" pitchFamily="18" charset="0"/>
              </a:rPr>
              <a:t>38</a:t>
            </a:r>
          </a:p>
          <a:p>
            <a:pPr marL="0" indent="0" algn="l">
              <a:lnSpc>
                <a:spcPct val="100000"/>
              </a:lnSpc>
              <a:spcBef>
                <a:spcPts val="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case notions compared against the object-centric reference</a:t>
            </a:r>
          </a:p>
        </p:txBody>
      </p:sp>
      <p:sp>
        <p:nvSpPr>
          <p:cNvPr id="6" name="Stat 6"/>
          <p:cNvSpPr txBox="1"/>
          <p:nvPr/>
        </p:nvSpPr>
        <p:spPr>
          <a:xfrm>
            <a:off x="8138160" y="4160520"/>
            <a:ext cx="3593592" cy="1143000"/>
          </a:xfrm>
          <a:prstGeom prst="roundRect">
            <a:avLst>
              <a:gd name="adj" fmla="val 6000"/>
            </a:avLst>
          </a:prstGeom>
          <a:solidFill>
            <a:srgbClr val="F3F6FA"/>
          </a:solidFill>
          <a:ln>
            <a:noFill/>
          </a:ln>
        </p:spPr>
        <p:txBody>
          <a:bodyPr wrap="square" lIns="164592" tIns="115214" rIns="164592" bIns="115214" rtlCol="0" anchor="ctr">
            <a:noAutofit/>
          </a:bodyPr>
          <a:lstStyle/>
          <a:p>
            <a:pPr marL="0" indent="0" algn="l">
              <a:lnSpc>
                <a:spcPct val="100000"/>
              </a:lnSpc>
              <a:spcBef>
                <a:spcPts val="0"/>
              </a:spcBef>
              <a:spcAft>
                <a:spcPts val="0"/>
              </a:spcAft>
              <a:buNone/>
            </a:pPr>
            <a:r>
              <a:rPr lang="en-IN" sz="4000" b="1" dirty="0">
                <a:solidFill>
                  <a:srgbClr val="1BAF7A"/>
                </a:solidFill>
                <a:latin typeface="Times New Roman" panose="02020603050405020304" pitchFamily="18" charset="0"/>
                <a:cs typeface="Times New Roman" panose="02020603050405020304" pitchFamily="18" charset="0"/>
              </a:rPr>
              <a:t>0</a:t>
            </a:r>
          </a:p>
          <a:p>
            <a:pPr marL="0" indent="0" algn="l">
              <a:lnSpc>
                <a:spcPct val="100000"/>
              </a:lnSpc>
              <a:spcBef>
                <a:spcPts val="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results from simulated or injected data</a:t>
            </a:r>
          </a:p>
        </p:txBody>
      </p:sp>
      <p:sp>
        <p:nvSpPr>
          <p:cNvPr id="7"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8" name="Footer Placeholder"/>
          <p:cNvSpPr>
            <a:spLocks noGrp="1"/>
          </p:cNvSpPr>
          <p:nvPr>
            <p:ph type="ftr" sz="quarter" idx="11"/>
          </p:nvPr>
        </p:nvSpPr>
        <p:spPr/>
        <p:txBody>
          <a:bodyPr/>
          <a:lstStyle/>
          <a:p>
            <a:r>
              <a:rPr lang="en-IN"/>
              <a:t>SCOPE</a:t>
            </a:r>
          </a:p>
        </p:txBody>
      </p:sp>
      <p:sp>
        <p:nvSpPr>
          <p:cNvPr id="9" name="Slide Number Placeholder"/>
          <p:cNvSpPr>
            <a:spLocks noGrp="1"/>
          </p:cNvSpPr>
          <p:nvPr>
            <p:ph type="sldNum" sz="quarter" idx="12"/>
          </p:nvPr>
        </p:nvSpPr>
        <p:spPr/>
        <p:txBody>
          <a:bodyPr/>
          <a:lstStyle/>
          <a:p>
            <a:fld id="{65201FD4-9D8D-4491-815B-63C7BF4F0034}" type="slidenum">
              <a:rPr lang="en-IN" smtClean="0"/>
              <a:t>4</a:t>
            </a:fld>
            <a:endParaRPr lang="en-I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Literature Review (1/2)</a:t>
            </a:r>
          </a:p>
        </p:txBody>
      </p:sp>
      <p:graphicFrame>
        <p:nvGraphicFramePr>
          <p:cNvPr id="3" name="Table 3"/>
          <p:cNvGraphicFramePr>
            <a:graphicFrameLocks noGrp="1"/>
          </p:cNvGraphicFramePr>
          <p:nvPr/>
        </p:nvGraphicFramePr>
        <p:xfrm>
          <a:off x="457200" y="1371600"/>
          <a:ext cx="11274552" cy="4873752"/>
        </p:xfrm>
        <a:graphic>
          <a:graphicData uri="http://schemas.openxmlformats.org/drawingml/2006/table">
            <a:tbl>
              <a:tblPr firstRow="1" bandRow="1"/>
              <a:tblGrid>
                <a:gridCol w="1965960"/>
                <a:gridCol w="2286000"/>
                <a:gridCol w="2377440"/>
                <a:gridCol w="2377440"/>
                <a:gridCol w="226771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Paper</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Objective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Methodology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Pros / Cons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Findings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van der Aalst (2019) [1]</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Name the problems of one-case-per-event logs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Conceptual analysis with worked examples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defines convergence, divergence. Con: no measurement on real logs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Flattening copies events across cases or mis-orders them</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Berti et al. (2024) [2]</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 standard exchange format for object-centric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OCEL 2.0 specification: JSON, XML, SQLite, qualifiers, o2o links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expressive, tool support. Con: extraction needs domain decisions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One event can relate to many typed objects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Waibel et al. (2022) [5]</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Causal structure from relational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Causal event graph, one food-company case study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avoids false edges. Con: single case study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1:N and N:M links give spurious directly-follows relations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Adams, Park, van der Aalst (2023) [3]</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Keep object-centric graph structure for ML tasks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Compare graph encodings with flattened features on predictive tasks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shows value of structure. Con: prediction focus, not analysis outputs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Structure-preserving encodings are favoured over flattening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bl>
          </a:graphicData>
        </a:graphic>
      </p:graphicFrame>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5</a:t>
            </a:fld>
            <a:endParaRPr lang="en-I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Literature Review (2/2)</a:t>
            </a:r>
          </a:p>
        </p:txBody>
      </p:sp>
      <p:graphicFrame>
        <p:nvGraphicFramePr>
          <p:cNvPr id="3" name="Table 3"/>
          <p:cNvGraphicFramePr>
            <a:graphicFrameLocks noGrp="1"/>
          </p:cNvGraphicFramePr>
          <p:nvPr/>
        </p:nvGraphicFramePr>
        <p:xfrm>
          <a:off x="457200" y="1371600"/>
          <a:ext cx="11274552" cy="4873752"/>
        </p:xfrm>
        <a:graphic>
          <a:graphicData uri="http://schemas.openxmlformats.org/drawingml/2006/table">
            <a:tbl>
              <a:tblPr firstRow="1" bandRow="1"/>
              <a:tblGrid>
                <a:gridCol w="1965960"/>
                <a:gridCol w="2286000"/>
                <a:gridCol w="2377440"/>
                <a:gridCol w="2377440"/>
                <a:gridCol w="226771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Paper</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Objective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Methodology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Pros / Cons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Findings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Kabierski et al. (2026) [6]</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Classify quality issues in object-centric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Classification checked on real logs and practitioner interviews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practitioner-validated. Con: classifies issues, gives no distortion rates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Object-centric data has its own quality problems, e.g. wrong object relations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Miri et al. (2026) [7]</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Object-centric educational process mining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Moodle to OCEL conversion (PM4Moodle), real course case study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first educational use. Con: one LMS course, not a transactional lifecycle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Group and resource links are invisible in student-centric logs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Premchaiswadi, Porouhan (2015) [11]</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Mine an online peer-review process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Event log from review handling, discovery and conformance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review workflow on real data. Con: single case notion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Bottlenecks and rule violations found in reviewer handling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Hassani et al. (2018) [10]</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Manage more than 250 computing final-year projects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Case study of supervision, panels, rubrics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real capstone practice. Con: no event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Capstones need coordinated supervision, submission and assessment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bl>
          </a:graphicData>
        </a:graphic>
      </p:graphicFrame>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6</a:t>
            </a:fld>
            <a:endParaRPr lang="en-I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Research Gap</a:t>
            </a:r>
          </a:p>
        </p:txBody>
      </p:sp>
      <p:sp>
        <p:nvSpPr>
          <p:cNvPr id="3" name="Shape 3"/>
          <p:cNvSpPr/>
          <p:nvPr/>
        </p:nvSpPr>
        <p:spPr>
          <a:xfrm>
            <a:off x="457200" y="1463040"/>
            <a:ext cx="685800" cy="685800"/>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400" b="1" dirty="0">
                <a:solidFill>
                  <a:srgbClr val="FFFFFF"/>
                </a:solidFill>
                <a:latin typeface="Times New Roman" panose="02020603050405020304" pitchFamily="18" charset="0"/>
                <a:cs typeface="Times New Roman" panose="02020603050405020304" pitchFamily="18" charset="0"/>
              </a:rPr>
              <a:t>1</a:t>
            </a:r>
          </a:p>
        </p:txBody>
      </p:sp>
      <p:sp>
        <p:nvSpPr>
          <p:cNvPr id="4" name="Gap 4"/>
          <p:cNvSpPr txBox="1"/>
          <p:nvPr/>
        </p:nvSpPr>
        <p:spPr>
          <a:xfrm>
            <a:off x="1371600" y="1371600"/>
            <a:ext cx="10332720" cy="1188720"/>
          </a:xfrm>
          <a:prstGeom prst="roundRect">
            <a:avLst>
              <a:gd name="adj" fmla="val 6000"/>
            </a:avLst>
          </a:prstGeom>
          <a:solidFill>
            <a:srgbClr val="F3F6FA"/>
          </a:solidFill>
          <a:ln>
            <a:noFill/>
          </a:ln>
        </p:spPr>
        <p:txBody>
          <a:bodyPr wrap="square" lIns="182880" tIns="128016" rIns="182880" bIns="128016" rtlCol="0" anchor="ctr">
            <a:noAutofit/>
          </a:bodyPr>
          <a:lstStyle/>
          <a:p>
            <a:pPr marL="0" indent="0" algn="l">
              <a:lnSpc>
                <a:spcPct val="100000"/>
              </a:lnSpc>
              <a:spcBef>
                <a:spcPts val="0"/>
              </a:spcBef>
              <a:spcAft>
                <a:spcPts val="300"/>
              </a:spcAft>
              <a:buNone/>
            </a:pPr>
            <a:r>
              <a:rPr lang="en-IN" sz="1900" b="1" dirty="0">
                <a:solidFill>
                  <a:srgbClr val="1F2328"/>
                </a:solidFill>
                <a:latin typeface="Times New Roman" panose="02020603050405020304" pitchFamily="18" charset="0"/>
                <a:cs typeface="Times New Roman" panose="02020603050405020304" pitchFamily="18" charset="0"/>
              </a:rPr>
              <a:t>Flattening problems are named, but not measured</a:t>
            </a:r>
          </a:p>
          <a:p>
            <a:pPr marL="0" indent="0" algn="l">
              <a:lnSpc>
                <a:spcPct val="100000"/>
              </a:lnSpc>
              <a:spcBef>
                <a:spcPts val="0"/>
              </a:spcBef>
              <a:spcAft>
                <a:spcPts val="0"/>
              </a:spcAft>
              <a:buNone/>
            </a:pPr>
            <a:r>
              <a:rPr lang="en-IN" sz="1500" dirty="0">
                <a:solidFill>
                  <a:srgbClr val="5B616B"/>
                </a:solidFill>
                <a:latin typeface="Times New Roman" panose="02020603050405020304" pitchFamily="18" charset="0"/>
                <a:cs typeface="Times New Roman" panose="02020603050405020304" pitchFamily="18" charset="0"/>
              </a:rPr>
              <a:t>Convergence and divergence appear as toy or single-case examples. We found no study that reports how often or how badly they occur across several real logs. Most object-centric evidence uses simulated logs.</a:t>
            </a:r>
          </a:p>
        </p:txBody>
      </p:sp>
      <p:sp>
        <p:nvSpPr>
          <p:cNvPr id="5" name="Shape 5"/>
          <p:cNvSpPr/>
          <p:nvPr/>
        </p:nvSpPr>
        <p:spPr>
          <a:xfrm>
            <a:off x="457200" y="2788920"/>
            <a:ext cx="685800" cy="685800"/>
          </a:xfrm>
          <a:prstGeom prst="ellipse">
            <a:avLst/>
          </a:prstGeom>
          <a:solidFill>
            <a:srgbClr val="EB6834"/>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400" b="1" dirty="0">
                <a:solidFill>
                  <a:srgbClr val="FFFFFF"/>
                </a:solidFill>
                <a:latin typeface="Times New Roman" panose="02020603050405020304" pitchFamily="18" charset="0"/>
                <a:cs typeface="Times New Roman" panose="02020603050405020304" pitchFamily="18" charset="0"/>
              </a:rPr>
              <a:t>2</a:t>
            </a:r>
          </a:p>
        </p:txBody>
      </p:sp>
      <p:sp>
        <p:nvSpPr>
          <p:cNvPr id="6" name="Gap 6"/>
          <p:cNvSpPr txBox="1"/>
          <p:nvPr/>
        </p:nvSpPr>
        <p:spPr>
          <a:xfrm>
            <a:off x="1371600" y="2697480"/>
            <a:ext cx="10332720" cy="1188720"/>
          </a:xfrm>
          <a:prstGeom prst="roundRect">
            <a:avLst>
              <a:gd name="adj" fmla="val 6000"/>
            </a:avLst>
          </a:prstGeom>
          <a:solidFill>
            <a:srgbClr val="F3F6FA"/>
          </a:solidFill>
          <a:ln>
            <a:noFill/>
          </a:ln>
        </p:spPr>
        <p:txBody>
          <a:bodyPr wrap="square" lIns="182880" tIns="128016" rIns="182880" bIns="128016" rtlCol="0" anchor="ctr">
            <a:noAutofit/>
          </a:bodyPr>
          <a:lstStyle/>
          <a:p>
            <a:pPr marL="0" indent="0" algn="l">
              <a:lnSpc>
                <a:spcPct val="100000"/>
              </a:lnSpc>
              <a:spcBef>
                <a:spcPts val="0"/>
              </a:spcBef>
              <a:spcAft>
                <a:spcPts val="300"/>
              </a:spcAft>
              <a:buNone/>
            </a:pPr>
            <a:r>
              <a:rPr lang="en-IN" sz="1900" b="1" dirty="0">
                <a:solidFill>
                  <a:srgbClr val="1F2328"/>
                </a:solidFill>
                <a:latin typeface="Times New Roman" panose="02020603050405020304" pitchFamily="18" charset="0"/>
                <a:cs typeface="Times New Roman" panose="02020603050405020304" pitchFamily="18" charset="0"/>
              </a:rPr>
              <a:t>Education and capstone work stays on LMS data</a:t>
            </a:r>
          </a:p>
          <a:p>
            <a:pPr marL="0" indent="0" algn="l">
              <a:lnSpc>
                <a:spcPct val="100000"/>
              </a:lnSpc>
              <a:spcBef>
                <a:spcPts val="0"/>
              </a:spcBef>
              <a:spcAft>
                <a:spcPts val="0"/>
              </a:spcAft>
              <a:buNone/>
            </a:pPr>
            <a:r>
              <a:rPr lang="en-IN" sz="1500" dirty="0">
                <a:solidFill>
                  <a:srgbClr val="5B616B"/>
                </a:solidFill>
                <a:latin typeface="Times New Roman" panose="02020603050405020304" pitchFamily="18" charset="0"/>
                <a:cs typeface="Times New Roman" panose="02020603050405020304" pitchFamily="18" charset="0"/>
              </a:rPr>
              <a:t>Object-centric educational mining uses Moodle activity. A transactional review lifecycle (submit, review, reject, resubmit, score) has no public object-centric dataset.</a:t>
            </a:r>
          </a:p>
        </p:txBody>
      </p:sp>
      <p:sp>
        <p:nvSpPr>
          <p:cNvPr id="7" name="Shape 7"/>
          <p:cNvSpPr/>
          <p:nvPr/>
        </p:nvSpPr>
        <p:spPr>
          <a:xfrm>
            <a:off x="457200" y="4114800"/>
            <a:ext cx="685800" cy="685800"/>
          </a:xfrm>
          <a:prstGeom prst="ellipse">
            <a:avLst/>
          </a:prstGeom>
          <a:solidFill>
            <a:srgbClr val="1BAF7A"/>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400" b="1" dirty="0">
                <a:solidFill>
                  <a:srgbClr val="FFFFFF"/>
                </a:solidFill>
                <a:latin typeface="Times New Roman" panose="02020603050405020304" pitchFamily="18" charset="0"/>
                <a:cs typeface="Times New Roman" panose="02020603050405020304" pitchFamily="18" charset="0"/>
              </a:rPr>
              <a:t>3</a:t>
            </a:r>
          </a:p>
        </p:txBody>
      </p:sp>
      <p:sp>
        <p:nvSpPr>
          <p:cNvPr id="8" name="Gap 8"/>
          <p:cNvSpPr txBox="1"/>
          <p:nvPr/>
        </p:nvSpPr>
        <p:spPr>
          <a:xfrm>
            <a:off x="1371600" y="4023360"/>
            <a:ext cx="10332720" cy="1188720"/>
          </a:xfrm>
          <a:prstGeom prst="roundRect">
            <a:avLst>
              <a:gd name="adj" fmla="val 6000"/>
            </a:avLst>
          </a:prstGeom>
          <a:solidFill>
            <a:srgbClr val="F3F6FA"/>
          </a:solidFill>
          <a:ln>
            <a:noFill/>
          </a:ln>
        </p:spPr>
        <p:txBody>
          <a:bodyPr wrap="square" lIns="182880" tIns="128016" rIns="182880" bIns="128016" rtlCol="0" anchor="ctr">
            <a:noAutofit/>
          </a:bodyPr>
          <a:lstStyle/>
          <a:p>
            <a:pPr marL="0" indent="0" algn="l">
              <a:lnSpc>
                <a:spcPct val="100000"/>
              </a:lnSpc>
              <a:spcBef>
                <a:spcPts val="0"/>
              </a:spcBef>
              <a:spcAft>
                <a:spcPts val="300"/>
              </a:spcAft>
              <a:buNone/>
            </a:pPr>
            <a:r>
              <a:rPr lang="en-IN" sz="1900" b="1" dirty="0">
                <a:solidFill>
                  <a:srgbClr val="1F2328"/>
                </a:solidFill>
                <a:latin typeface="Times New Roman" panose="02020603050405020304" pitchFamily="18" charset="0"/>
                <a:cs typeface="Times New Roman" panose="02020603050405020304" pitchFamily="18" charset="0"/>
              </a:rPr>
              <a:t>Capstone portal logs cannot be had</a:t>
            </a:r>
          </a:p>
          <a:p>
            <a:pPr marL="0" indent="0" algn="l">
              <a:lnSpc>
                <a:spcPct val="100000"/>
              </a:lnSpc>
              <a:spcBef>
                <a:spcPts val="0"/>
              </a:spcBef>
              <a:spcAft>
                <a:spcPts val="0"/>
              </a:spcAft>
              <a:buNone/>
            </a:pPr>
            <a:r>
              <a:rPr lang="en-IN" sz="1500" dirty="0">
                <a:solidFill>
                  <a:srgbClr val="5B616B"/>
                </a:solidFill>
                <a:latin typeface="Times New Roman" panose="02020603050405020304" pitchFamily="18" charset="0"/>
                <a:cs typeface="Times New Roman" panose="02020603050405020304" pitchFamily="18" charset="0"/>
              </a:rPr>
              <a:t>Searches of Zenodo, 4TU and the web found no public capstone or thesis-management event log, so the capstone claim cannot be tested directly.</a:t>
            </a:r>
          </a:p>
        </p:txBody>
      </p:sp>
      <p:sp>
        <p:nvSpPr>
          <p:cNvPr id="9" name="Angle 9"/>
          <p:cNvSpPr txBox="1"/>
          <p:nvPr/>
        </p:nvSpPr>
        <p:spPr>
          <a:xfrm>
            <a:off x="457200" y="5440680"/>
            <a:ext cx="11274552" cy="640080"/>
          </a:xfrm>
          <a:prstGeom prst="rect">
            <a:avLst/>
          </a:prstGeom>
          <a:no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700" b="1" dirty="0">
                <a:solidFill>
                  <a:srgbClr val="2A78D6"/>
                </a:solidFill>
                <a:latin typeface="Times New Roman" panose="02020603050405020304" pitchFamily="18" charset="0"/>
                <a:cs typeface="Times New Roman" panose="02020603050405020304" pitchFamily="18" charset="0"/>
              </a:rPr>
              <a:t>Our angle: </a:t>
            </a:r>
            <a:r>
              <a:rPr lang="en-IN" sz="1700" dirty="0">
                <a:solidFill>
                  <a:srgbClr val="1F2328"/>
                </a:solidFill>
                <a:latin typeface="Times New Roman" panose="02020603050405020304" pitchFamily="18" charset="0"/>
                <a:cs typeface="Times New Roman" panose="02020603050405020304" pitchFamily="18" charset="0"/>
              </a:rPr>
              <a:t>measure on real review-like and multi-entity logs, give the capstone an OCEL 2.0 model, and state the limits plainly.</a:t>
            </a:r>
          </a:p>
        </p:txBody>
      </p:sp>
      <p:sp>
        <p:nvSpPr>
          <p:cNvPr id="10"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11" name="Footer Placeholder"/>
          <p:cNvSpPr>
            <a:spLocks noGrp="1"/>
          </p:cNvSpPr>
          <p:nvPr>
            <p:ph type="ftr" sz="quarter" idx="11"/>
          </p:nvPr>
        </p:nvSpPr>
        <p:spPr/>
        <p:txBody>
          <a:bodyPr/>
          <a:lstStyle/>
          <a:p>
            <a:r>
              <a:rPr lang="en-IN"/>
              <a:t>SCOPE</a:t>
            </a:r>
          </a:p>
        </p:txBody>
      </p:sp>
      <p:sp>
        <p:nvSpPr>
          <p:cNvPr id="12" name="Slide Number Placeholder"/>
          <p:cNvSpPr>
            <a:spLocks noGrp="1"/>
          </p:cNvSpPr>
          <p:nvPr>
            <p:ph type="sldNum" sz="quarter" idx="12"/>
          </p:nvPr>
        </p:nvSpPr>
        <p:spPr/>
        <p:txBody>
          <a:bodyPr/>
          <a:lstStyle/>
          <a:p>
            <a:fld id="{65201FD4-9D8D-4491-815B-63C7BF4F0034}" type="slidenum">
              <a:rPr lang="en-IN" smtClean="0"/>
              <a:t>7</a:t>
            </a:fld>
            <a:endParaRPr lang="en-I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Objectives</a:t>
            </a:r>
          </a:p>
        </p:txBody>
      </p:sp>
      <p:sp>
        <p:nvSpPr>
          <p:cNvPr id="3" name="Objectives 3"/>
          <p:cNvSpPr txBox="1"/>
          <p:nvPr/>
        </p:nvSpPr>
        <p:spPr>
          <a:xfrm>
            <a:off x="457200" y="1371600"/>
            <a:ext cx="6766560" cy="4846320"/>
          </a:xfrm>
          <a:prstGeom prst="rect">
            <a:avLst/>
          </a:prstGeom>
          <a:noFill/>
          <a:ln>
            <a:noFill/>
          </a:ln>
        </p:spPr>
        <p:txBody>
          <a:bodyPr wrap="square" lIns="109728" tIns="76810" rIns="109728" bIns="76810" rtlCol="0" anchor="t">
            <a:noAutofit/>
          </a:bodyPr>
          <a:lstStyle/>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Model the capstone lifecycle as OCEL 2.0 from the documented portal behaviour.</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Build a reproducible pipeline: download, verify, convert, load, analyse.</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Measure flattening distortion on seven real logs without hand-picked rules.</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Compare standard outputs (rankings, directly-follows, variants, entity counts, discovered models) between flat and object-centric views.</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Verify every result with independent checks and release the code.</a:t>
            </a:r>
          </a:p>
        </p:txBody>
      </p:sp>
      <p:sp>
        <p:nvSpPr>
          <p:cNvPr id="4" name="Identified 4"/>
          <p:cNvSpPr txBox="1"/>
          <p:nvPr/>
        </p:nvSpPr>
        <p:spPr>
          <a:xfrm>
            <a:off x="7498080" y="1371600"/>
            <a:ext cx="4233672" cy="365760"/>
          </a:xfrm>
          <a:prstGeom prst="rect">
            <a:avLst/>
          </a:prstGeom>
          <a:no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700" b="1" dirty="0">
                <a:solidFill>
                  <a:srgbClr val="2A78D6"/>
                </a:solidFill>
                <a:latin typeface="Times New Roman" panose="02020603050405020304" pitchFamily="18" charset="0"/>
                <a:cs typeface="Times New Roman" panose="02020603050405020304" pitchFamily="18" charset="0"/>
              </a:rPr>
              <a:t>Identified</a:t>
            </a:r>
          </a:p>
        </p:txBody>
      </p:sp>
      <p:sp>
        <p:nvSpPr>
          <p:cNvPr id="5" name="SDG label 5"/>
          <p:cNvSpPr txBox="1"/>
          <p:nvPr/>
        </p:nvSpPr>
        <p:spPr>
          <a:xfrm>
            <a:off x="7498080" y="1783080"/>
            <a:ext cx="4233672" cy="566928"/>
          </a:xfrm>
          <a:prstGeom prst="rect">
            <a:avLst/>
          </a:prstGeom>
          <a:no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Sustainable Development Goals</a:t>
            </a:r>
          </a:p>
        </p:txBody>
      </p:sp>
      <p:sp>
        <p:nvSpPr>
          <p:cNvPr id="6" name="Shape 6"/>
          <p:cNvSpPr/>
          <p:nvPr/>
        </p:nvSpPr>
        <p:spPr>
          <a:xfrm>
            <a:off x="7498080" y="2057400"/>
            <a:ext cx="566928" cy="566928"/>
          </a:xfrm>
          <a:prstGeom prst="rect">
            <a:avLst/>
          </a:prstGeom>
          <a:solidFill>
            <a:srgbClr val="C5192D"/>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200" b="1" dirty="0">
                <a:solidFill>
                  <a:srgbClr val="FFFFFF"/>
                </a:solidFill>
                <a:latin typeface="Times New Roman" panose="02020603050405020304" pitchFamily="18" charset="0"/>
                <a:cs typeface="Times New Roman" panose="02020603050405020304" pitchFamily="18" charset="0"/>
              </a:rPr>
              <a:t>4</a:t>
            </a:r>
          </a:p>
        </p:txBody>
      </p:sp>
      <p:sp>
        <p:nvSpPr>
          <p:cNvPr id="7" name="SDG4 7"/>
          <p:cNvSpPr txBox="1"/>
          <p:nvPr/>
        </p:nvSpPr>
        <p:spPr>
          <a:xfrm>
            <a:off x="8138160" y="2057400"/>
            <a:ext cx="3593592" cy="566928"/>
          </a:xfrm>
          <a:prstGeom prst="rect">
            <a:avLst/>
          </a:prstGeom>
          <a:noFill/>
          <a:ln>
            <a:noFill/>
          </a:ln>
        </p:spPr>
        <p:txBody>
          <a:bodyPr wrap="square" lIns="36576" tIns="25603" rIns="36576" bIns="25603" rtlCol="0" anchor="ctr">
            <a:noAutofit/>
          </a:bodyPr>
          <a:lstStyle/>
          <a:p>
            <a:pPr marL="0" indent="0" algn="l">
              <a:lnSpc>
                <a:spcPct val="100000"/>
              </a:lnSpc>
              <a:spcBef>
                <a:spcPts val="0"/>
              </a:spcBef>
              <a:spcAft>
                <a:spcPts val="0"/>
              </a:spcAft>
              <a:buNone/>
            </a:pPr>
            <a:r>
              <a:rPr lang="en-IN" sz="1500" b="1" dirty="0">
                <a:solidFill>
                  <a:srgbClr val="1F2328"/>
                </a:solidFill>
                <a:latin typeface="Times New Roman" panose="02020603050405020304" pitchFamily="18" charset="0"/>
                <a:cs typeface="Times New Roman" panose="02020603050405020304" pitchFamily="18" charset="0"/>
              </a:rPr>
              <a:t>Quality Education</a:t>
            </a:r>
          </a:p>
        </p:txBody>
      </p:sp>
      <p:sp>
        <p:nvSpPr>
          <p:cNvPr id="8" name="Shape 8"/>
          <p:cNvSpPr/>
          <p:nvPr/>
        </p:nvSpPr>
        <p:spPr>
          <a:xfrm>
            <a:off x="7498080" y="2743200"/>
            <a:ext cx="566928" cy="566928"/>
          </a:xfrm>
          <a:prstGeom prst="rect">
            <a:avLst/>
          </a:prstGeom>
          <a:solidFill>
            <a:srgbClr val="F36E24"/>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200" b="1" dirty="0">
                <a:solidFill>
                  <a:srgbClr val="FFFFFF"/>
                </a:solidFill>
                <a:latin typeface="Times New Roman" panose="02020603050405020304" pitchFamily="18" charset="0"/>
                <a:cs typeface="Times New Roman" panose="02020603050405020304" pitchFamily="18" charset="0"/>
              </a:rPr>
              <a:t>9</a:t>
            </a:r>
          </a:p>
        </p:txBody>
      </p:sp>
      <p:sp>
        <p:nvSpPr>
          <p:cNvPr id="9" name="SDG9 9"/>
          <p:cNvSpPr txBox="1"/>
          <p:nvPr/>
        </p:nvSpPr>
        <p:spPr>
          <a:xfrm>
            <a:off x="8138160" y="2743200"/>
            <a:ext cx="3593592" cy="566928"/>
          </a:xfrm>
          <a:prstGeom prst="rect">
            <a:avLst/>
          </a:prstGeom>
          <a:noFill/>
          <a:ln>
            <a:noFill/>
          </a:ln>
        </p:spPr>
        <p:txBody>
          <a:bodyPr wrap="square" lIns="36576" tIns="25603" rIns="36576" bIns="25603" rtlCol="0" anchor="ctr">
            <a:noAutofit/>
          </a:bodyPr>
          <a:lstStyle/>
          <a:p>
            <a:pPr marL="0" indent="0" algn="l">
              <a:lnSpc>
                <a:spcPct val="100000"/>
              </a:lnSpc>
              <a:spcBef>
                <a:spcPts val="0"/>
              </a:spcBef>
              <a:spcAft>
                <a:spcPts val="0"/>
              </a:spcAft>
              <a:buNone/>
            </a:pPr>
            <a:r>
              <a:rPr lang="en-IN" sz="1500" b="1" dirty="0">
                <a:solidFill>
                  <a:srgbClr val="1F2328"/>
                </a:solidFill>
                <a:latin typeface="Times New Roman" panose="02020603050405020304" pitchFamily="18" charset="0"/>
                <a:cs typeface="Times New Roman" panose="02020603050405020304" pitchFamily="18" charset="0"/>
              </a:rPr>
              <a:t>Industry, Innovation and Infrastructure</a:t>
            </a:r>
          </a:p>
        </p:txBody>
      </p:sp>
      <p:sp>
        <p:nvSpPr>
          <p:cNvPr id="10" name="TRL 10"/>
          <p:cNvSpPr txBox="1"/>
          <p:nvPr/>
        </p:nvSpPr>
        <p:spPr>
          <a:xfrm>
            <a:off x="7498080" y="3520440"/>
            <a:ext cx="4233672" cy="12344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Technology Readiness Level</a:t>
            </a:r>
          </a:p>
          <a:p>
            <a:pPr marL="0" indent="0" algn="l">
              <a:lnSpc>
                <a:spcPct val="100000"/>
              </a:lnSpc>
              <a:spcBef>
                <a:spcPts val="200"/>
              </a:spcBef>
              <a:spcAft>
                <a:spcPts val="0"/>
              </a:spcAft>
              <a:buNone/>
            </a:pPr>
            <a:r>
              <a:rPr lang="en-IN" sz="1700" b="1" dirty="0">
                <a:solidFill>
                  <a:srgbClr val="1F2328"/>
                </a:solidFill>
                <a:latin typeface="Times New Roman" panose="02020603050405020304" pitchFamily="18" charset="0"/>
                <a:cs typeface="Times New Roman" panose="02020603050405020304" pitchFamily="18" charset="0"/>
              </a:rPr>
              <a:t>TRL 4: validated in the lab</a:t>
            </a:r>
          </a:p>
          <a:p>
            <a:pPr marL="0" indent="0" algn="l">
              <a:lnSpc>
                <a:spcPct val="100000"/>
              </a:lnSpc>
              <a:spcBef>
                <a:spcPts val="20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Pipeline reproduces on 7 public logs; portal integration is TRL 2-3</a:t>
            </a:r>
          </a:p>
        </p:txBody>
      </p:sp>
      <p:sp>
        <p:nvSpPr>
          <p:cNvPr id="11" name="Outcome 11"/>
          <p:cNvSpPr txBox="1"/>
          <p:nvPr/>
        </p:nvSpPr>
        <p:spPr>
          <a:xfrm>
            <a:off x="7498080" y="4846320"/>
            <a:ext cx="4233672" cy="132588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Outcome</a:t>
            </a:r>
          </a:p>
          <a:p>
            <a:pPr marL="0" indent="0" algn="l">
              <a:lnSpc>
                <a:spcPct val="100000"/>
              </a:lnSpc>
              <a:spcBef>
                <a:spcPts val="200"/>
              </a:spcBef>
              <a:spcAft>
                <a:spcPts val="0"/>
              </a:spcAft>
              <a:buNone/>
            </a:pPr>
            <a:r>
              <a:rPr lang="en-IN" sz="1600" b="1" dirty="0">
                <a:solidFill>
                  <a:srgbClr val="1F2328"/>
                </a:solidFill>
                <a:latin typeface="Times New Roman" panose="02020603050405020304" pitchFamily="18" charset="0"/>
                <a:cs typeface="Times New Roman" panose="02020603050405020304" pitchFamily="18" charset="0"/>
              </a:rPr>
              <a:t>Journal paper (Scopus, SCIE): submitted to JIIS, Springer; under review</a:t>
            </a:r>
          </a:p>
          <a:p>
            <a:pPr marL="0" indent="0" algn="l">
              <a:lnSpc>
                <a:spcPct val="100000"/>
              </a:lnSpc>
              <a:spcBef>
                <a:spcPts val="20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Open, re-runnable code in the project repository</a:t>
            </a:r>
          </a:p>
        </p:txBody>
      </p:sp>
      <p:sp>
        <p:nvSpPr>
          <p:cNvPr id="12"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13" name="Footer Placeholder"/>
          <p:cNvSpPr>
            <a:spLocks noGrp="1"/>
          </p:cNvSpPr>
          <p:nvPr>
            <p:ph type="ftr" sz="quarter" idx="11"/>
          </p:nvPr>
        </p:nvSpPr>
        <p:spPr/>
        <p:txBody>
          <a:bodyPr/>
          <a:lstStyle/>
          <a:p>
            <a:r>
              <a:rPr lang="en-IN"/>
              <a:t>SCOPE</a:t>
            </a:r>
          </a:p>
        </p:txBody>
      </p:sp>
      <p:sp>
        <p:nvSpPr>
          <p:cNvPr id="14" name="Slide Number Placeholder"/>
          <p:cNvSpPr>
            <a:spLocks noGrp="1"/>
          </p:cNvSpPr>
          <p:nvPr>
            <p:ph type="sldNum" sz="quarter" idx="12"/>
          </p:nvPr>
        </p:nvSpPr>
        <p:spPr/>
        <p:txBody>
          <a:bodyPr/>
          <a:lstStyle/>
          <a:p>
            <a:fld id="{65201FD4-9D8D-4491-815B-63C7BF4F0034}" type="slidenum">
              <a:rPr lang="en-IN" smtClean="0"/>
              <a:t>8</a:t>
            </a:fld>
            <a:endParaRPr lang="en-I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Framework: OCEL 2.0 Model of the Capstone Lifecycle</a:t>
            </a:r>
          </a:p>
        </p:txBody>
      </p:sp>
      <p:pic>
        <p:nvPicPr>
          <p:cNvPr id="3" name="Picture 3" descr="Object types and relations of the capstone lifecycle"/>
          <p:cNvPicPr>
            <a:picLocks noChangeAspect="1"/>
          </p:cNvPicPr>
          <p:nvPr/>
        </p:nvPicPr>
        <p:blipFill>
          <a:blip r:embed="rId2"/>
          <a:stretch>
            <a:fillRect/>
          </a:stretch>
        </p:blipFill>
        <p:spPr>
          <a:xfrm>
            <a:off x="457200" y="1371600"/>
            <a:ext cx="7406640" cy="4144191"/>
          </a:xfrm>
          <a:prstGeom prst="rect">
            <a:avLst/>
          </a:prstGeom>
        </p:spPr>
      </p:pic>
      <p:sp>
        <p:nvSpPr>
          <p:cNvPr id="4" name="Facts 4"/>
          <p:cNvSpPr txBox="1"/>
          <p:nvPr/>
        </p:nvSpPr>
        <p:spPr>
          <a:xfrm>
            <a:off x="8092440" y="1371600"/>
            <a:ext cx="3639312" cy="452628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Documented in the portal docs</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8 object types: student, team, project, guide, report, report version, review stage, score</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8 audited actions become event types</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Qualifiers name each role (member-of, guides, has-score)</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Scores are write-once; each rejection uses one of 3 attempts</a:t>
            </a:r>
          </a:p>
          <a:p>
            <a:pPr marL="0" indent="0" algn="l">
              <a:lnSpc>
                <a:spcPct val="100000"/>
              </a:lnSpc>
              <a:spcBef>
                <a:spcPts val="1200"/>
              </a:spcBef>
              <a:spcAft>
                <a:spcPts val="0"/>
              </a:spcAft>
              <a:buNone/>
            </a:pPr>
            <a:r>
              <a:rPr lang="en-IN" sz="1400" b="1" dirty="0">
                <a:solidFill>
                  <a:srgbClr val="EB6834"/>
                </a:solidFill>
                <a:latin typeface="Times New Roman" panose="02020603050405020304" pitchFamily="18" charset="0"/>
                <a:cs typeface="Times New Roman" panose="02020603050405020304" pitchFamily="18" charset="0"/>
              </a:rPr>
              <a:t>Design only: </a:t>
            </a:r>
            <a:r>
              <a:rPr lang="en-IN" sz="1400" dirty="0">
                <a:solidFill>
                  <a:srgbClr val="5B616B"/>
                </a:solidFill>
                <a:latin typeface="Times New Roman" panose="02020603050405020304" pitchFamily="18" charset="0"/>
                <a:cs typeface="Times New Roman" panose="02020603050405020304" pitchFamily="18" charset="0"/>
              </a:rPr>
              <a:t>no portal data exists in this study</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9</a:t>
            </a:fld>
            <a:endParaRPr lang="en-I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Architecture / Block Diagram</a:t>
            </a:r>
          </a:p>
        </p:txBody>
      </p:sp>
      <p:pic>
        <p:nvPicPr>
          <p:cNvPr id="3" name="Picture 3" descr="Pipeline from public sources to analysis engines and validation"/>
          <p:cNvPicPr>
            <a:picLocks noChangeAspect="1"/>
          </p:cNvPicPr>
          <p:nvPr/>
        </p:nvPicPr>
        <p:blipFill>
          <a:blip r:embed="rId2"/>
          <a:stretch>
            <a:fillRect/>
          </a:stretch>
        </p:blipFill>
        <p:spPr>
          <a:xfrm>
            <a:off x="1737360" y="1234440"/>
            <a:ext cx="8516876" cy="4937760"/>
          </a:xfrm>
          <a:prstGeom prst="rect">
            <a:avLst/>
          </a:prstGeom>
        </p:spPr>
      </p:pic>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10</a:t>
            </a:fld>
            <a:endParaRPr lang="en-IN"/>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Functional Requirements</a:t>
            </a:r>
          </a:p>
        </p:txBody>
      </p:sp>
      <p:sp>
        <p:nvSpPr>
          <p:cNvPr id="3" name="Shape 3"/>
          <p:cNvSpPr/>
          <p:nvPr/>
        </p:nvSpPr>
        <p:spPr>
          <a:xfrm>
            <a:off x="457200" y="156362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1</a:t>
            </a:r>
          </a:p>
        </p:txBody>
      </p:sp>
      <p:sp>
        <p:nvSpPr>
          <p:cNvPr id="4" name="FR 4"/>
          <p:cNvSpPr txBox="1"/>
          <p:nvPr/>
        </p:nvSpPr>
        <p:spPr>
          <a:xfrm>
            <a:off x="1143000" y="141732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Download datasets from a manifest; check size and MD5 (Zenodo) and record SHA-256</a:t>
            </a:r>
          </a:p>
        </p:txBody>
      </p:sp>
      <p:sp>
        <p:nvSpPr>
          <p:cNvPr id="5" name="Shape 5"/>
          <p:cNvSpPr/>
          <p:nvPr/>
        </p:nvSpPr>
        <p:spPr>
          <a:xfrm>
            <a:off x="457200" y="256946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2</a:t>
            </a:r>
          </a:p>
        </p:txBody>
      </p:sp>
      <p:sp>
        <p:nvSpPr>
          <p:cNvPr id="6" name="FR 6"/>
          <p:cNvSpPr txBox="1"/>
          <p:nvPr/>
        </p:nvSpPr>
        <p:spPr>
          <a:xfrm>
            <a:off x="1143000" y="242316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Extract archives without trusting member paths</a:t>
            </a:r>
          </a:p>
        </p:txBody>
      </p:sp>
      <p:sp>
        <p:nvSpPr>
          <p:cNvPr id="7" name="Shape 7"/>
          <p:cNvSpPr/>
          <p:nvPr/>
        </p:nvSpPr>
        <p:spPr>
          <a:xfrm>
            <a:off x="457200" y="357530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3</a:t>
            </a:r>
          </a:p>
        </p:txBody>
      </p:sp>
      <p:sp>
        <p:nvSpPr>
          <p:cNvPr id="8" name="FR 8"/>
          <p:cNvSpPr txBox="1"/>
          <p:nvPr/>
        </p:nvSpPr>
        <p:spPr>
          <a:xfrm>
            <a:off x="1143000" y="342900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Convert Gerrit (CROP) and OULAD into OCEL 2.0 SQLite</a:t>
            </a:r>
          </a:p>
        </p:txBody>
      </p:sp>
      <p:sp>
        <p:nvSpPr>
          <p:cNvPr id="9" name="Shape 9"/>
          <p:cNvSpPr/>
          <p:nvPr/>
        </p:nvSpPr>
        <p:spPr>
          <a:xfrm>
            <a:off x="457200" y="458114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4</a:t>
            </a:r>
          </a:p>
        </p:txBody>
      </p:sp>
      <p:sp>
        <p:nvSpPr>
          <p:cNvPr id="10" name="FR 10"/>
          <p:cNvSpPr txBox="1"/>
          <p:nvPr/>
        </p:nvSpPr>
        <p:spPr>
          <a:xfrm>
            <a:off x="1143000" y="443484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Load OCEL from SQLite, JSON, XML and parquet bundles, with hashed identifiers</a:t>
            </a:r>
          </a:p>
        </p:txBody>
      </p:sp>
      <p:sp>
        <p:nvSpPr>
          <p:cNvPr id="11" name="Shape 11"/>
          <p:cNvSpPr/>
          <p:nvPr/>
        </p:nvSpPr>
        <p:spPr>
          <a:xfrm>
            <a:off x="6172200" y="156362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5</a:t>
            </a:r>
          </a:p>
        </p:txBody>
      </p:sp>
      <p:sp>
        <p:nvSpPr>
          <p:cNvPr id="12" name="FR 12"/>
          <p:cNvSpPr txBox="1"/>
          <p:nvPr/>
        </p:nvSpPr>
        <p:spPr>
          <a:xfrm>
            <a:off x="6858000" y="141732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Compute flattening distortion for every object type</a:t>
            </a:r>
          </a:p>
        </p:txBody>
      </p:sp>
      <p:sp>
        <p:nvSpPr>
          <p:cNvPr id="13" name="Shape 13"/>
          <p:cNvSpPr/>
          <p:nvPr/>
        </p:nvSpPr>
        <p:spPr>
          <a:xfrm>
            <a:off x="6172200" y="256946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6</a:t>
            </a:r>
          </a:p>
        </p:txBody>
      </p:sp>
      <p:sp>
        <p:nvSpPr>
          <p:cNvPr id="14" name="FR 14"/>
          <p:cNvSpPr txBox="1"/>
          <p:nvPr/>
        </p:nvSpPr>
        <p:spPr>
          <a:xfrm>
            <a:off x="6858000" y="242316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Compare flat and object-centric outputs: rankings, edges, variants, entities</a:t>
            </a:r>
          </a:p>
        </p:txBody>
      </p:sp>
      <p:sp>
        <p:nvSpPr>
          <p:cNvPr id="15" name="Shape 15"/>
          <p:cNvSpPr/>
          <p:nvPr/>
        </p:nvSpPr>
        <p:spPr>
          <a:xfrm>
            <a:off x="6172200" y="357530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7</a:t>
            </a:r>
          </a:p>
        </p:txBody>
      </p:sp>
      <p:sp>
        <p:nvSpPr>
          <p:cNvPr id="16" name="FR 16"/>
          <p:cNvSpPr txBox="1"/>
          <p:nvPr/>
        </p:nvSpPr>
        <p:spPr>
          <a:xfrm>
            <a:off x="6858000" y="342900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Validate with independent implementations</a:t>
            </a:r>
          </a:p>
        </p:txBody>
      </p:sp>
      <p:sp>
        <p:nvSpPr>
          <p:cNvPr id="17" name="Shape 17"/>
          <p:cNvSpPr/>
          <p:nvPr/>
        </p:nvSpPr>
        <p:spPr>
          <a:xfrm>
            <a:off x="6172200" y="458114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8</a:t>
            </a:r>
          </a:p>
        </p:txBody>
      </p:sp>
      <p:sp>
        <p:nvSpPr>
          <p:cNvPr id="18" name="FR 18"/>
          <p:cNvSpPr txBox="1"/>
          <p:nvPr/>
        </p:nvSpPr>
        <p:spPr>
          <a:xfrm>
            <a:off x="6858000" y="443484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Export CSV, JSON and Markdown tables; re-run end to end with one command</a:t>
            </a:r>
          </a:p>
        </p:txBody>
      </p:sp>
      <p:sp>
        <p:nvSpPr>
          <p:cNvPr id="19" name="NFR 19"/>
          <p:cNvSpPr txBox="1"/>
          <p:nvPr/>
        </p:nvSpPr>
        <p:spPr>
          <a:xfrm>
            <a:off x="457200" y="5532120"/>
            <a:ext cx="11274552" cy="685800"/>
          </a:xfrm>
          <a:prstGeom prst="roundRect">
            <a:avLst>
              <a:gd name="adj" fmla="val 6000"/>
            </a:avLst>
          </a:prstGeom>
          <a:solidFill>
            <a:srgbClr val="F3F6FA"/>
          </a:solid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500" b="1" dirty="0">
                <a:solidFill>
                  <a:srgbClr val="2A78D6"/>
                </a:solidFill>
                <a:latin typeface="Times New Roman" panose="02020603050405020304" pitchFamily="18" charset="0"/>
                <a:cs typeface="Times New Roman" panose="02020603050405020304" pitchFamily="18" charset="0"/>
              </a:rPr>
              <a:t>Non-functional: </a:t>
            </a:r>
            <a:r>
              <a:rPr lang="en-IN" sz="1500" dirty="0">
                <a:solidFill>
                  <a:srgbClr val="1F2328"/>
                </a:solidFill>
                <a:latin typeface="Times New Roman" panose="02020603050405020304" pitchFamily="18" charset="0"/>
                <a:cs typeface="Times New Roman" panose="02020603050405020304" pitchFamily="18" charset="0"/>
              </a:rPr>
              <a:t>results are byte-for-byte reproducible; personal identifiers are hashed; runs on an 8.6 GB laptop; only openly licensed (CC BY 4.0) data.</a:t>
            </a:r>
          </a:p>
        </p:txBody>
      </p:sp>
      <p:sp>
        <p:nvSpPr>
          <p:cNvPr id="20"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21" name="Footer Placeholder"/>
          <p:cNvSpPr>
            <a:spLocks noGrp="1"/>
          </p:cNvSpPr>
          <p:nvPr>
            <p:ph type="ftr" sz="quarter" idx="11"/>
          </p:nvPr>
        </p:nvSpPr>
        <p:spPr/>
        <p:txBody>
          <a:bodyPr/>
          <a:lstStyle/>
          <a:p>
            <a:r>
              <a:rPr lang="en-IN"/>
              <a:t>SCOPE</a:t>
            </a:r>
          </a:p>
        </p:txBody>
      </p:sp>
      <p:sp>
        <p:nvSpPr>
          <p:cNvPr id="22" name="Slide Number Placeholder"/>
          <p:cNvSpPr>
            <a:spLocks noGrp="1"/>
          </p:cNvSpPr>
          <p:nvPr>
            <p:ph type="sldNum" sz="quarter" idx="12"/>
          </p:nvPr>
        </p:nvSpPr>
        <p:spPr/>
        <p:txBody>
          <a:bodyPr/>
          <a:lstStyle/>
          <a:p>
            <a:fld id="{65201FD4-9D8D-4491-815B-63C7BF4F0034}" type="slidenum">
              <a:rPr lang="en-IN" smtClean="0"/>
              <a:t>11</a:t>
            </a:fld>
            <a:endParaRPr lang="en-IN"/>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Modules</a:t>
            </a:r>
          </a:p>
        </p:txBody>
      </p:sp>
      <p:graphicFrame>
        <p:nvGraphicFramePr>
          <p:cNvPr id="3" name="Table 3"/>
          <p:cNvGraphicFramePr>
            <a:graphicFrameLocks noGrp="1"/>
          </p:cNvGraphicFramePr>
          <p:nvPr/>
        </p:nvGraphicFramePr>
        <p:xfrm>
          <a:off x="457200" y="1371600"/>
          <a:ext cx="11274552" cy="4379976"/>
        </p:xfrm>
        <a:graphic>
          <a:graphicData uri="http://schemas.openxmlformats.org/drawingml/2006/table">
            <a:tbl>
              <a:tblPr firstRow="1" bandRow="1"/>
              <a:tblGrid>
                <a:gridCol w="640080"/>
                <a:gridCol w="2926080"/>
                <a:gridCol w="3931920"/>
                <a:gridCol w="377647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Module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Files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What it does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M1</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Acquire and verify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fetch_sources.py, extract_archives.py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Resumable download, size + MD5 check (Zenodo), SHA-256 record, safe extraction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M2</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Convert and load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convert_crop.py, convert_oulad.py, ocel_io.py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Gerrit and OULAD to OCEL; load OCEL 2.x; hash identifiers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M3</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Distortion metrics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distortion.py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Deficiency, convergence, divergence, coupling per object type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M4</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Consequence analysis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consequence.py, discovery.py, bootstrap.py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Flat vs object-centric rankings, edges, variants, entities, mined models; bootstrap intervals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M5</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Predicate engine (appendix)</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cooc.py, registry.py, run_cooc.py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11 natural rules on CROP and OULAD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M6</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Validation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sql_crosscheck.py, check_consequence.py, check_distortion.py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Independent SQL, brute-force and full-log plain-Python re-implementations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M7</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Summaries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summarize_*.py (distortion, log level, consequence, discovery)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Tables for the report and the paper</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bl>
          </a:graphicData>
        </a:graphic>
      </p:graphicFrame>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12</a:t>
            </a:fld>
            <a:endParaRPr lang="en-I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Live Demonstration</a:t>
            </a:r>
          </a:p>
        </p:txBody>
      </p:sp>
      <p:sp>
        <p:nvSpPr>
          <p:cNvPr id="3" name="Terminal 3"/>
          <p:cNvSpPr txBox="1"/>
          <p:nvPr/>
        </p:nvSpPr>
        <p:spPr>
          <a:xfrm>
            <a:off x="457200" y="1371600"/>
            <a:ext cx="7223760" cy="4663440"/>
          </a:xfrm>
          <a:prstGeom prst="roundRect">
            <a:avLst>
              <a:gd name="adj" fmla="val 6000"/>
            </a:avLst>
          </a:prstGeom>
          <a:solidFill>
            <a:srgbClr val="1F2328"/>
          </a:solidFill>
          <a:ln>
            <a:noFill/>
          </a:ln>
        </p:spPr>
        <p:txBody>
          <a:bodyPr wrap="square" lIns="228600" tIns="160020" rIns="228600" bIns="160020" rtlCol="0" anchor="ctr">
            <a:noAutofit/>
          </a:bodyPr>
          <a:lstStyle/>
          <a:p>
            <a:pPr marL="0" indent="0" algn="l">
              <a:lnSpc>
                <a:spcPct val="100000"/>
              </a:lnSpc>
              <a:spcBef>
                <a:spcPts val="0"/>
              </a:spcBef>
              <a:spcAft>
                <a:spcPts val="600"/>
              </a:spcAft>
              <a:buNone/>
            </a:pPr>
            <a:r>
              <a:rPr lang="en-IN" sz="1700" dirty="0">
                <a:solidFill>
                  <a:srgbClr val="9AD0FF"/>
                </a:solidFill>
                <a:latin typeface="Courier New"/>
                <a:cs typeface="Courier New"/>
              </a:rPr>
              <a:t>cd realdata</a:t>
            </a:r>
          </a:p>
          <a:p>
            <a:pPr marL="0" indent="0" algn="l">
              <a:lnSpc>
                <a:spcPct val="100000"/>
              </a:lnSpc>
              <a:spcBef>
                <a:spcPts val="1400"/>
              </a:spcBef>
              <a:spcAft>
                <a:spcPts val="0"/>
              </a:spcAft>
              <a:buNone/>
            </a:pPr>
            <a:r>
              <a:rPr lang="en-IN" sz="1700" b="1" dirty="0">
                <a:solidFill>
                  <a:srgbClr val="FFB86B"/>
                </a:solidFill>
                <a:latin typeface="Courier New"/>
                <a:cs typeface="Courier New"/>
              </a:rPr>
              <a:t>1  </a:t>
            </a:r>
            <a:r>
              <a:rPr lang="en-IN" sz="1700" dirty="0">
                <a:solidFill>
                  <a:srgbClr val="F5F5F5"/>
                </a:solidFill>
                <a:latin typeface="Courier New"/>
                <a:cs typeface="Courier New"/>
              </a:rPr>
              <a:t>python3 -I src/fetch_sources.py</a:t>
            </a:r>
          </a:p>
          <a:p>
            <a:pPr marL="0" indent="0" algn="l">
              <a:lnSpc>
                <a:spcPct val="100000"/>
              </a:lnSpc>
              <a:spcBef>
                <a:spcPts val="1400"/>
              </a:spcBef>
              <a:spcAft>
                <a:spcPts val="0"/>
              </a:spcAft>
              <a:buNone/>
            </a:pPr>
            <a:r>
              <a:rPr lang="en-IN" sz="1700" b="1" dirty="0">
                <a:solidFill>
                  <a:srgbClr val="FFB86B"/>
                </a:solidFill>
                <a:latin typeface="Courier New"/>
                <a:cs typeface="Courier New"/>
              </a:rPr>
              <a:t>2  </a:t>
            </a:r>
            <a:r>
              <a:rPr lang="en-IN" sz="1700" dirty="0">
                <a:solidFill>
                  <a:srgbClr val="F5F5F5"/>
                </a:solidFill>
                <a:latin typeface="Courier New"/>
                <a:cs typeface="Courier New"/>
              </a:rPr>
              <a:t>.venv/bin/python -I src/check_consequence.py</a:t>
            </a:r>
          </a:p>
          <a:p>
            <a:pPr marL="0" indent="0" algn="l">
              <a:lnSpc>
                <a:spcPct val="100000"/>
              </a:lnSpc>
              <a:spcBef>
                <a:spcPts val="1400"/>
              </a:spcBef>
              <a:spcAft>
                <a:spcPts val="0"/>
              </a:spcAft>
              <a:buNone/>
            </a:pPr>
            <a:r>
              <a:rPr lang="en-IN" sz="1700" b="1" dirty="0">
                <a:solidFill>
                  <a:srgbClr val="FFB86B"/>
                </a:solidFill>
                <a:latin typeface="Courier New"/>
                <a:cs typeface="Courier New"/>
              </a:rPr>
              <a:t>3  </a:t>
            </a:r>
            <a:r>
              <a:rPr lang="en-IN" sz="1700" dirty="0">
                <a:solidFill>
                  <a:srgbClr val="F5F5F5"/>
                </a:solidFill>
                <a:latin typeface="Courier New"/>
                <a:cs typeface="Courier New"/>
              </a:rPr>
              <a:t>.venv/bin/python -I src/distortion.py enron</a:t>
            </a:r>
          </a:p>
          <a:p>
            <a:pPr marL="0" indent="0" algn="l">
              <a:lnSpc>
                <a:spcPct val="100000"/>
              </a:lnSpc>
              <a:spcBef>
                <a:spcPts val="1400"/>
              </a:spcBef>
              <a:spcAft>
                <a:spcPts val="0"/>
              </a:spcAft>
              <a:buNone/>
            </a:pPr>
            <a:r>
              <a:rPr lang="en-IN" sz="1700" b="1" dirty="0">
                <a:solidFill>
                  <a:srgbClr val="FFB86B"/>
                </a:solidFill>
                <a:latin typeface="Courier New"/>
                <a:cs typeface="Courier New"/>
              </a:rPr>
              <a:t>4  </a:t>
            </a:r>
            <a:r>
              <a:rPr lang="en-IN" sz="1700" dirty="0">
                <a:solidFill>
                  <a:srgbClr val="F5F5F5"/>
                </a:solidFill>
                <a:latin typeface="Courier New"/>
                <a:cs typeface="Courier New"/>
              </a:rPr>
              <a:t>.venv/bin/python -I src/consequence.py enron</a:t>
            </a:r>
          </a:p>
          <a:p>
            <a:pPr marL="0" indent="0" algn="l">
              <a:lnSpc>
                <a:spcPct val="100000"/>
              </a:lnSpc>
              <a:spcBef>
                <a:spcPts val="1400"/>
              </a:spcBef>
              <a:spcAft>
                <a:spcPts val="0"/>
              </a:spcAft>
              <a:buNone/>
            </a:pPr>
            <a:r>
              <a:rPr lang="en-IN" sz="1700" b="1" dirty="0">
                <a:solidFill>
                  <a:srgbClr val="FFB86B"/>
                </a:solidFill>
                <a:latin typeface="Courier New"/>
                <a:cs typeface="Courier New"/>
              </a:rPr>
              <a:t>5  </a:t>
            </a:r>
            <a:r>
              <a:rPr lang="en-IN" sz="1700" dirty="0">
                <a:solidFill>
                  <a:srgbClr val="F5F5F5"/>
                </a:solidFill>
                <a:latin typeface="Courier New"/>
                <a:cs typeface="Courier New"/>
              </a:rPr>
              <a:t>open results/consequence_by_log.md</a:t>
            </a:r>
          </a:p>
        </p:txBody>
      </p:sp>
      <p:sp>
        <p:nvSpPr>
          <p:cNvPr id="4" name="Explain 4"/>
          <p:cNvSpPr txBox="1"/>
          <p:nvPr/>
        </p:nvSpPr>
        <p:spPr>
          <a:xfrm>
            <a:off x="7909560" y="1371600"/>
            <a:ext cx="3822192" cy="46634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What the panel will see</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all 8 sources already present</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self-check against a plain-Python version</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flat[...] table for Enron (about 10 s)</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rankings, edges, variants (about 4 s)</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the cross-log summary table</a:t>
            </a:r>
          </a:p>
          <a:p>
            <a:pPr marL="0" indent="0" algn="l">
              <a:lnSpc>
                <a:spcPct val="100000"/>
              </a:lnSpc>
              <a:spcBef>
                <a:spcPts val="1400"/>
              </a:spcBef>
              <a:spcAft>
                <a:spcPts val="0"/>
              </a:spcAft>
              <a:buNone/>
            </a:pPr>
            <a:r>
              <a:rPr lang="en-IN" sz="1300" i="1" dirty="0">
                <a:solidFill>
                  <a:srgbClr val="5B616B"/>
                </a:solidFill>
                <a:latin typeface="Times New Roman" panose="02020603050405020304" pitchFamily="18" charset="0"/>
                <a:cs typeface="Times New Roman" panose="02020603050405020304" pitchFamily="18" charset="0"/>
              </a:rPr>
              <a:t>Full run: make study (6 min 6 s on our laptop)</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13</a:t>
            </a:fld>
            <a:endParaRPr lang="en-IN"/>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Experiments and Results: Distortion</a:t>
            </a:r>
          </a:p>
        </p:txBody>
      </p:sp>
      <p:pic>
        <p:nvPicPr>
          <p:cNvPr id="3" name="Picture 3" descr="Event duplication versus events dropped for seven real logs"/>
          <p:cNvPicPr>
            <a:picLocks noChangeAspect="1"/>
          </p:cNvPicPr>
          <p:nvPr/>
        </p:nvPicPr>
        <p:blipFill>
          <a:blip r:embed="rId2"/>
          <a:stretch>
            <a:fillRect/>
          </a:stretch>
        </p:blipFill>
        <p:spPr>
          <a:xfrm>
            <a:off x="365760" y="1325880"/>
            <a:ext cx="7223760" cy="4352778"/>
          </a:xfrm>
          <a:prstGeom prst="rect">
            <a:avLst/>
          </a:prstGeom>
        </p:spPr>
      </p:pic>
      <p:sp>
        <p:nvSpPr>
          <p:cNvPr id="4" name="Takeaways 4"/>
          <p:cNvSpPr txBox="1"/>
          <p:nvPr/>
        </p:nvSpPr>
        <p:spPr>
          <a:xfrm>
            <a:off x="7772400" y="1371600"/>
            <a:ext cx="3959352" cy="42062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Three kinds of log</a:t>
            </a:r>
          </a:p>
          <a:p>
            <a:pPr marL="285750" indent="-285750" algn="l">
              <a:lnSpc>
                <a:spcPct val="100000"/>
              </a:lnSpc>
              <a:spcBef>
                <a:spcPts val="800"/>
              </a:spcBef>
              <a:spcAft>
                <a:spcPts val="0"/>
              </a:spcAft>
              <a:buFont typeface="Arial" panose="020B0604020202020204" pitchFamily="34" charset="0"/>
              <a:buChar char="•"/>
            </a:pPr>
            <a:r>
              <a:rPr lang="en-IN" sz="1500" b="1" dirty="0">
                <a:solidFill>
                  <a:srgbClr val="2A78D6"/>
                </a:solidFill>
                <a:latin typeface="Times New Roman" panose="02020603050405020304" pitchFamily="18" charset="0"/>
                <a:cs typeface="Times New Roman" panose="02020603050405020304" pitchFamily="18" charset="0"/>
              </a:rPr>
              <a:t>Star </a:t>
            </a:r>
            <a:r>
              <a:rPr lang="en-IN" sz="1500" dirty="0">
                <a:solidFill>
                  <a:srgbClr val="1F2328"/>
                </a:solidFill>
                <a:latin typeface="Times New Roman" panose="02020603050405020304" pitchFamily="18" charset="0"/>
                <a:cs typeface="Times New Roman" panose="02020603050405020304" pitchFamily="18" charset="0"/>
              </a:rPr>
              <a:t>(CROP, OULAD): one object per type per event, no duplication</a:t>
            </a:r>
          </a:p>
          <a:p>
            <a:pPr marL="285750" indent="-285750" algn="l">
              <a:lnSpc>
                <a:spcPct val="100000"/>
              </a:lnSpc>
              <a:spcBef>
                <a:spcPts val="800"/>
              </a:spcBef>
              <a:spcAft>
                <a:spcPts val="0"/>
              </a:spcAft>
              <a:buFont typeface="Arial" panose="020B0604020202020204" pitchFamily="34" charset="0"/>
              <a:buChar char="•"/>
            </a:pPr>
            <a:r>
              <a:rPr lang="en-IN" sz="1500" b="1" dirty="0">
                <a:solidFill>
                  <a:srgbClr val="EB6834"/>
                </a:solidFill>
                <a:latin typeface="Times New Roman" panose="02020603050405020304" pitchFamily="18" charset="0"/>
                <a:cs typeface="Times New Roman" panose="02020603050405020304" pitchFamily="18" charset="0"/>
              </a:rPr>
              <a:t>Partitioned </a:t>
            </a:r>
            <a:r>
              <a:rPr lang="en-IN" sz="1500" dirty="0">
                <a:solidFill>
                  <a:srgbClr val="1F2328"/>
                </a:solidFill>
                <a:latin typeface="Times New Roman" panose="02020603050405020304" pitchFamily="18" charset="0"/>
                <a:cs typeface="Times New Roman" panose="02020603050405020304" pitchFamily="18" charset="0"/>
              </a:rPr>
              <a:t>(Bundestag, Age of Empires, Ethereum): one case notion drops 69-91% of events</a:t>
            </a:r>
          </a:p>
          <a:p>
            <a:pPr marL="285750" indent="-285750" algn="l">
              <a:lnSpc>
                <a:spcPct val="100000"/>
              </a:lnSpc>
              <a:spcBef>
                <a:spcPts val="800"/>
              </a:spcBef>
              <a:spcAft>
                <a:spcPts val="0"/>
              </a:spcAft>
              <a:buFont typeface="Arial" panose="020B0604020202020204" pitchFamily="34" charset="0"/>
              <a:buChar char="•"/>
            </a:pPr>
            <a:r>
              <a:rPr lang="en-IN" sz="1500" b="1" dirty="0">
                <a:solidFill>
                  <a:srgbClr val="1BAF7A"/>
                </a:solidFill>
                <a:latin typeface="Times New Roman" panose="02020603050405020304" pitchFamily="18" charset="0"/>
                <a:cs typeface="Times New Roman" panose="02020603050405020304" pitchFamily="18" charset="0"/>
              </a:rPr>
              <a:t>Fan-out </a:t>
            </a:r>
            <a:r>
              <a:rPr lang="en-IN" sz="1500" dirty="0">
                <a:solidFill>
                  <a:srgbClr val="1F2328"/>
                </a:solidFill>
                <a:latin typeface="Times New Roman" panose="02020603050405020304" pitchFamily="18" charset="0"/>
                <a:cs typeface="Times New Roman" panose="02020603050405020304" pitchFamily="18" charset="0"/>
              </a:rPr>
              <a:t>(Angular, Enron): real duplication, up to 81.7 copies of an event</a:t>
            </a:r>
          </a:p>
          <a:p>
            <a:pPr marL="0" indent="0" algn="l">
              <a:lnSpc>
                <a:spcPct val="100000"/>
              </a:lnSpc>
              <a:spcBef>
                <a:spcPts val="120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Across all logs, most object types share more than half their objects between cases.</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14</a:t>
            </a:fld>
            <a:endParaRPr lang="en-IN"/>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Experiments and Results: Consequences</a:t>
            </a:r>
          </a:p>
        </p:txBody>
      </p:sp>
      <p:pic>
        <p:nvPicPr>
          <p:cNvPr id="3" name="Picture 3" descr="Activity ranking agreement per log"/>
          <p:cNvPicPr>
            <a:picLocks noChangeAspect="1"/>
          </p:cNvPicPr>
          <p:nvPr/>
        </p:nvPicPr>
        <p:blipFill>
          <a:blip r:embed="rId2"/>
          <a:stretch>
            <a:fillRect/>
          </a:stretch>
        </p:blipFill>
        <p:spPr>
          <a:xfrm>
            <a:off x="365760" y="1234440"/>
            <a:ext cx="5669280" cy="3543300"/>
          </a:xfrm>
          <a:prstGeom prst="rect">
            <a:avLst/>
          </a:prstGeom>
        </p:spPr>
      </p:pic>
      <p:pic>
        <p:nvPicPr>
          <p:cNvPr id="4" name="Picture 4" descr="Entity ranking agreement per log"/>
          <p:cNvPicPr>
            <a:picLocks noChangeAspect="1"/>
          </p:cNvPicPr>
          <p:nvPr/>
        </p:nvPicPr>
        <p:blipFill>
          <a:blip r:embed="rId3"/>
          <a:stretch>
            <a:fillRect/>
          </a:stretch>
        </p:blipFill>
        <p:spPr>
          <a:xfrm>
            <a:off x="6172200" y="1234440"/>
            <a:ext cx="5669280" cy="3543300"/>
          </a:xfrm>
          <a:prstGeom prst="rect">
            <a:avLst/>
          </a:prstGeom>
        </p:spPr>
      </p:pic>
      <p:sp>
        <p:nvSpPr>
          <p:cNvPr id="5" name="Findings 5"/>
          <p:cNvSpPr txBox="1"/>
          <p:nvPr/>
        </p:nvSpPr>
        <p:spPr>
          <a:xfrm>
            <a:off x="457200" y="4846320"/>
            <a:ext cx="11274552" cy="1417320"/>
          </a:xfrm>
          <a:prstGeom prst="rect">
            <a:avLst/>
          </a:prstGeom>
          <a:noFill/>
          <a:ln>
            <a:noFill/>
          </a:ln>
        </p:spPr>
        <p:txBody>
          <a:bodyPr wrap="square" lIns="109728" tIns="76810" rIns="109728" bIns="76810" rtlCol="0" anchor="t">
            <a:noAutofit/>
          </a:bodyPr>
          <a:lstStyle/>
          <a:p>
            <a:pPr marL="285750" indent="-285750" algn="l">
              <a:lnSpc>
                <a:spcPct val="100000"/>
              </a:lnSpc>
              <a:spcBef>
                <a:spcPts val="400"/>
              </a:spcBef>
              <a:spcAft>
                <a:spcPts val="0"/>
              </a:spcAft>
              <a:buFont typeface="Arial" panose="020B0604020202020204" pitchFamily="34" charset="0"/>
              <a:buChar char="•"/>
            </a:pPr>
            <a:r>
              <a:rPr lang="en-IN" sz="1400" b="1" dirty="0">
                <a:solidFill>
                  <a:srgbClr val="1F2328"/>
                </a:solidFill>
                <a:latin typeface="Times New Roman" panose="02020603050405020304" pitchFamily="18" charset="0"/>
                <a:cs typeface="Times New Roman" panose="02020603050405020304" pitchFamily="18" charset="0"/>
              </a:rPr>
              <a:t>Duplication alone barely reorders activity rankings: </a:t>
            </a:r>
            <a:r>
              <a:rPr lang="en-IN" sz="1400" dirty="0">
                <a:solidFill>
                  <a:srgbClr val="1F2328"/>
                </a:solidFill>
                <a:latin typeface="Times New Roman" panose="02020603050405020304" pitchFamily="18" charset="0"/>
                <a:cs typeface="Times New Roman" panose="02020603050405020304" pitchFamily="18" charset="0"/>
              </a:rPr>
              <a:t>only 2 of 38 case notions fall below rank correlation 0.95.</a:t>
            </a:r>
          </a:p>
          <a:p>
            <a:pPr marL="285750" indent="-285750" algn="l">
              <a:lnSpc>
                <a:spcPct val="100000"/>
              </a:lnSpc>
              <a:spcBef>
                <a:spcPts val="400"/>
              </a:spcBef>
              <a:spcAft>
                <a:spcPts val="0"/>
              </a:spcAft>
              <a:buFont typeface="Arial" panose="020B0604020202020204" pitchFamily="34" charset="0"/>
              <a:buChar char="•"/>
            </a:pPr>
            <a:r>
              <a:rPr lang="en-IN" sz="1400" b="1" dirty="0">
                <a:solidFill>
                  <a:srgbClr val="1F2328"/>
                </a:solidFill>
                <a:latin typeface="Times New Roman" panose="02020603050405020304" pitchFamily="18" charset="0"/>
                <a:cs typeface="Times New Roman" panose="02020603050405020304" pitchFamily="18" charset="0"/>
              </a:rPr>
              <a:t>Narrowing is the real effect: </a:t>
            </a:r>
            <a:r>
              <a:rPr lang="en-IN" sz="1400" dirty="0">
                <a:solidFill>
                  <a:srgbClr val="1F2328"/>
                </a:solidFill>
                <a:latin typeface="Times New Roman" panose="02020603050405020304" pitchFamily="18" charset="0"/>
                <a:cs typeface="Times New Roman" panose="02020603050405020304" pitchFamily="18" charset="0"/>
              </a:rPr>
              <a:t>in 20 of 38 case notions the flat log shows fewer than half of the process's activities.</a:t>
            </a:r>
          </a:p>
          <a:p>
            <a:pPr marL="285750" indent="-285750" algn="l">
              <a:lnSpc>
                <a:spcPct val="100000"/>
              </a:lnSpc>
              <a:spcBef>
                <a:spcPts val="400"/>
              </a:spcBef>
              <a:spcAft>
                <a:spcPts val="0"/>
              </a:spcAft>
              <a:buFont typeface="Arial" panose="020B0604020202020204" pitchFamily="34" charset="0"/>
              <a:buChar char="•"/>
            </a:pPr>
            <a:r>
              <a:rPr lang="en-IN" sz="1400" b="1" dirty="0">
                <a:solidFill>
                  <a:srgbClr val="1F2328"/>
                </a:solidFill>
                <a:latin typeface="Times New Roman" panose="02020603050405020304" pitchFamily="18" charset="0"/>
                <a:cs typeface="Times New Roman" panose="02020603050405020304" pitchFamily="18" charset="0"/>
              </a:rPr>
              <a:t>Careless counting is risky: </a:t>
            </a:r>
            <a:r>
              <a:rPr lang="en-IN" sz="1400" dirty="0">
                <a:solidFill>
                  <a:srgbClr val="1F2328"/>
                </a:solidFill>
                <a:latin typeface="Times New Roman" panose="02020603050405020304" pitchFamily="18" charset="0"/>
                <a:cs typeface="Times New Roman" panose="02020603050405020304" pitchFamily="18" charset="0"/>
              </a:rPr>
              <a:t>entity rankings from a denormalised export reach correlation 0.16 (Enron), -0.01 (Ethereum) and -0.41 (Age of Empires) in the worst case.</a:t>
            </a:r>
          </a:p>
        </p:txBody>
      </p:sp>
      <p:sp>
        <p:nvSpPr>
          <p:cNvPr id="6"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7" name="Footer Placeholder"/>
          <p:cNvSpPr>
            <a:spLocks noGrp="1"/>
          </p:cNvSpPr>
          <p:nvPr>
            <p:ph type="ftr" sz="quarter" idx="11"/>
          </p:nvPr>
        </p:nvSpPr>
        <p:spPr/>
        <p:txBody>
          <a:bodyPr/>
          <a:lstStyle/>
          <a:p>
            <a:r>
              <a:rPr lang="en-IN"/>
              <a:t>SCOPE</a:t>
            </a:r>
          </a:p>
        </p:txBody>
      </p:sp>
      <p:sp>
        <p:nvSpPr>
          <p:cNvPr id="8" name="Slide Number Placeholder"/>
          <p:cNvSpPr>
            <a:spLocks noGrp="1"/>
          </p:cNvSpPr>
          <p:nvPr>
            <p:ph type="sldNum" sz="quarter" idx="12"/>
          </p:nvPr>
        </p:nvSpPr>
        <p:spPr/>
        <p:txBody>
          <a:bodyPr/>
          <a:lstStyle/>
          <a:p>
            <a:fld id="{65201FD4-9D8D-4491-815B-63C7BF4F0034}" type="slidenum">
              <a:rPr lang="en-IN" smtClean="0"/>
              <a:t>15</a:t>
            </a:fld>
            <a:endParaRPr lang="en-IN"/>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Experiments and Results: Process Discovery</a:t>
            </a:r>
          </a:p>
        </p:txBody>
      </p:sp>
      <p:pic>
        <p:nvPicPr>
          <p:cNvPr id="3" name="Picture 3" descr="Replay fitness against the share of activities in the discovered model"/>
          <p:cNvPicPr>
            <a:picLocks noChangeAspect="1"/>
          </p:cNvPicPr>
          <p:nvPr/>
        </p:nvPicPr>
        <p:blipFill>
          <a:blip r:embed="rId2"/>
          <a:stretch>
            <a:fillRect/>
          </a:stretch>
        </p:blipFill>
        <p:spPr>
          <a:xfrm>
            <a:off x="365760" y="1280160"/>
            <a:ext cx="7223760" cy="4260166"/>
          </a:xfrm>
          <a:prstGeom prst="rect">
            <a:avLst/>
          </a:prstGeom>
        </p:spPr>
      </p:pic>
      <p:sp>
        <p:nvSpPr>
          <p:cNvPr id="4" name="Takeaways 4"/>
          <p:cNvSpPr txBox="1"/>
          <p:nvPr/>
        </p:nvSpPr>
        <p:spPr>
          <a:xfrm>
            <a:off x="7772400" y="1371600"/>
            <a:ext cx="3959352" cy="475488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What a miner gives you</a:t>
            </a:r>
          </a:p>
          <a:p>
            <a:pPr marL="285750" indent="-285750" algn="l">
              <a:lnSpc>
                <a:spcPct val="100000"/>
              </a:lnSpc>
              <a:spcBef>
                <a:spcPts val="900"/>
              </a:spcBef>
              <a:spcAft>
                <a:spcPts val="0"/>
              </a:spcAft>
              <a:buFont typeface="Arial" panose="020B0604020202020204" pitchFamily="34" charset="0"/>
              <a:buChar char="•"/>
            </a:pPr>
            <a:r>
              <a:rPr lang="en-IN" sz="1500" b="1" dirty="0">
                <a:solidFill>
                  <a:srgbClr val="1F2328"/>
                </a:solidFill>
                <a:latin typeface="Times New Roman" panose="02020603050405020304" pitchFamily="18" charset="0"/>
                <a:cs typeface="Times New Roman" panose="02020603050405020304" pitchFamily="18" charset="0"/>
              </a:rPr>
              <a:t>37 of 38 </a:t>
            </a:r>
            <a:r>
              <a:rPr lang="en-IN" sz="1500" dirty="0">
                <a:solidFill>
                  <a:srgbClr val="1F2328"/>
                </a:solidFill>
                <a:latin typeface="Times New Roman" panose="02020603050405020304" pitchFamily="18" charset="0"/>
                <a:cs typeface="Times New Roman" panose="02020603050405020304" pitchFamily="18" charset="0"/>
              </a:rPr>
              <a:t>case notions mined (Inductive Miner)</a:t>
            </a:r>
          </a:p>
          <a:p>
            <a:pPr marL="285750" indent="-285750" algn="l">
              <a:lnSpc>
                <a:spcPct val="100000"/>
              </a:lnSpc>
              <a:spcBef>
                <a:spcPts val="900"/>
              </a:spcBef>
              <a:spcAft>
                <a:spcPts val="0"/>
              </a:spcAft>
              <a:buFont typeface="Arial" panose="020B0604020202020204" pitchFamily="34" charset="0"/>
              <a:buChar char="•"/>
            </a:pPr>
            <a:r>
              <a:rPr lang="en-IN" sz="1500" b="1" dirty="0">
                <a:solidFill>
                  <a:srgbClr val="1F2328"/>
                </a:solidFill>
                <a:latin typeface="Times New Roman" panose="02020603050405020304" pitchFamily="18" charset="0"/>
                <a:cs typeface="Times New Roman" panose="02020603050405020304" pitchFamily="18" charset="0"/>
              </a:rPr>
              <a:t>Fitness 0.955 to 1.000 </a:t>
            </a:r>
            <a:r>
              <a:rPr lang="en-IN" sz="1500" dirty="0">
                <a:solidFill>
                  <a:srgbClr val="1F2328"/>
                </a:solidFill>
                <a:latin typeface="Times New Roman" panose="02020603050405020304" pitchFamily="18" charset="0"/>
                <a:cs typeface="Times New Roman" panose="02020603050405020304" pitchFamily="18" charset="0"/>
              </a:rPr>
              <a:t>for every model, yet 20 show under half the activities</a:t>
            </a:r>
          </a:p>
          <a:p>
            <a:pPr marL="285750" indent="-285750" algn="l">
              <a:lnSpc>
                <a:spcPct val="100000"/>
              </a:lnSpc>
              <a:spcBef>
                <a:spcPts val="900"/>
              </a:spcBef>
              <a:spcAft>
                <a:spcPts val="0"/>
              </a:spcAft>
              <a:buFont typeface="Arial" panose="020B0604020202020204" pitchFamily="34" charset="0"/>
              <a:buChar char="•"/>
            </a:pPr>
            <a:r>
              <a:rPr lang="en-IN" sz="1500" b="1" dirty="0">
                <a:solidFill>
                  <a:srgbClr val="1F2328"/>
                </a:solidFill>
                <a:latin typeface="Times New Roman" panose="02020603050405020304" pitchFamily="18" charset="0"/>
                <a:cs typeface="Times New Roman" panose="02020603050405020304" pitchFamily="18" charset="0"/>
              </a:rPr>
              <a:t>Divergence becomes loops: </a:t>
            </a:r>
            <a:r>
              <a:rPr lang="en-IN" sz="1500" dirty="0">
                <a:solidFill>
                  <a:srgbClr val="1F2328"/>
                </a:solidFill>
                <a:latin typeface="Times New Roman" panose="02020603050405020304" pitchFamily="18" charset="0"/>
                <a:cs typeface="Times New Roman" panose="02020603050405020304" pitchFamily="18" charset="0"/>
              </a:rPr>
              <a:t>loop share rises with divergence (rho 0.69)</a:t>
            </a:r>
          </a:p>
          <a:p>
            <a:pPr marL="285750" indent="-285750" algn="l">
              <a:lnSpc>
                <a:spcPct val="100000"/>
              </a:lnSpc>
              <a:spcBef>
                <a:spcPts val="900"/>
              </a:spcBef>
              <a:spcAft>
                <a:spcPts val="0"/>
              </a:spcAft>
              <a:buFont typeface="Arial" panose="020B0604020202020204" pitchFamily="34" charset="0"/>
              <a:buChar char="•"/>
            </a:pPr>
            <a:r>
              <a:rPr lang="en-IN" sz="1500" b="1" dirty="0">
                <a:solidFill>
                  <a:srgbClr val="1F2328"/>
                </a:solidFill>
                <a:latin typeface="Times New Roman" panose="02020603050405020304" pitchFamily="18" charset="0"/>
                <a:cs typeface="Times New Roman" panose="02020603050405020304" pitchFamily="18" charset="0"/>
              </a:rPr>
              <a:t>Precision as low as 0.04 </a:t>
            </a:r>
            <a:r>
              <a:rPr lang="en-IN" sz="1500" dirty="0">
                <a:solidFill>
                  <a:srgbClr val="1F2328"/>
                </a:solidFill>
                <a:latin typeface="Times New Roman" panose="02020603050405020304" pitchFamily="18" charset="0"/>
                <a:cs typeface="Times New Roman" panose="02020603050405020304" pitchFamily="18" charset="0"/>
              </a:rPr>
              <a:t>in models that loop over almost everything</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16</a:t>
            </a:fld>
            <a:endParaRPr lang="en-IN"/>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Testing and Validation</a:t>
            </a:r>
          </a:p>
        </p:txBody>
      </p:sp>
      <p:graphicFrame>
        <p:nvGraphicFramePr>
          <p:cNvPr id="3" name="Table 3"/>
          <p:cNvGraphicFramePr>
            <a:graphicFrameLocks noGrp="1"/>
          </p:cNvGraphicFramePr>
          <p:nvPr/>
        </p:nvGraphicFramePr>
        <p:xfrm>
          <a:off x="457200" y="1371600"/>
          <a:ext cx="11274552" cy="3822192"/>
        </p:xfrm>
        <a:graphic>
          <a:graphicData uri="http://schemas.openxmlformats.org/drawingml/2006/table">
            <a:tbl>
              <a:tblPr firstRow="1" bandRow="1"/>
              <a:tblGrid>
                <a:gridCol w="3108960"/>
                <a:gridCol w="5120640"/>
                <a:gridCol w="3044952"/>
              </a:tblGrid>
              <a:tr h="384048">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What it proves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Result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Download integrity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Zenodo files match the published size and MD5</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Zenodo: size + MD5 checked; every file: SHA-256 recorded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Reproducibility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Re-running gives the same outputs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All tracked results byte-identical</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SQL cross-check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Predicate code matches independent SQL</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4 of 4 CROP rules exact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Brute-force self-check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Fast code equals plain Python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Event pairs identical on 4 case notions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Distortion self-check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Pandas metrics equal a plain-Python version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Identical on all 7 full logs: 87 notions, 294 type pairs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Bootstrap reproduction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Resampling code matches the analysis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38 of 38 case notions exact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Independent recomputation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OULAD counts match raw CSVs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15,348 / 415 / 29 exact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Bugs our own checks found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Verification is not a formality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3 fixed: duplicate events, missed abandon form, tie-breaking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bl>
          </a:graphicData>
        </a:graphic>
      </p:graphicFrame>
      <p:sp>
        <p:nvSpPr>
          <p:cNvPr id="4" name="Limits 4"/>
          <p:cNvSpPr txBox="1"/>
          <p:nvPr/>
        </p:nvSpPr>
        <p:spPr>
          <a:xfrm>
            <a:off x="457200" y="5715000"/>
            <a:ext cx="11274552" cy="640080"/>
          </a:xfrm>
          <a:prstGeom prst="roundRect">
            <a:avLst>
              <a:gd name="adj" fmla="val 6000"/>
            </a:avLst>
          </a:prstGeom>
          <a:solidFill>
            <a:srgbClr val="F3F6FA"/>
          </a:solid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500" b="1" dirty="0">
                <a:solidFill>
                  <a:srgbClr val="EB6834"/>
                </a:solidFill>
                <a:latin typeface="Times New Roman" panose="02020603050405020304" pitchFamily="18" charset="0"/>
                <a:cs typeface="Times New Roman" panose="02020603050405020304" pitchFamily="18" charset="0"/>
              </a:rPr>
              <a:t>What we did not do: </a:t>
            </a:r>
            <a:r>
              <a:rPr lang="en-IN" sz="1500" dirty="0">
                <a:solidFill>
                  <a:srgbClr val="1F2328"/>
                </a:solidFill>
                <a:latin typeface="Times New Roman" panose="02020603050405020304" pitchFamily="18" charset="0"/>
                <a:cs typeface="Times New Roman" panose="02020603050405020304" pitchFamily="18" charset="0"/>
              </a:rPr>
              <a:t>independent human labelling; the activity rankings are re-checked only by the bootstrap code; the converters are checked by us only.</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17</a:t>
            </a:fld>
            <a:endParaRPr lang="en-IN"/>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Conclusion and Future Work</a:t>
            </a:r>
          </a:p>
        </p:txBody>
      </p:sp>
      <p:sp>
        <p:nvSpPr>
          <p:cNvPr id="3" name="Conclusion 3"/>
          <p:cNvSpPr txBox="1"/>
          <p:nvPr/>
        </p:nvSpPr>
        <p:spPr>
          <a:xfrm>
            <a:off x="457200" y="1371600"/>
            <a:ext cx="5532120" cy="42062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2000" b="1" dirty="0">
                <a:solidFill>
                  <a:srgbClr val="2A78D6"/>
                </a:solidFill>
                <a:latin typeface="Times New Roman" panose="02020603050405020304" pitchFamily="18" charset="0"/>
                <a:cs typeface="Times New Roman" panose="02020603050405020304" pitchFamily="18" charset="0"/>
              </a:rPr>
              <a:t>Conclusion</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We built a reproducible, checked OCEL 2.0 pipeline on 7 real public logs.</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Flattening duplicates events only in fan-out logs; the common effect is narrowing.</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Mined models look healthy (fitness 0.955 or more) even when they show a sliver of the process.</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Naive entity counts from flat exports can mislead badly.</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The capstone model is a design; no portal data was available to test it.</a:t>
            </a:r>
          </a:p>
        </p:txBody>
      </p:sp>
      <p:sp>
        <p:nvSpPr>
          <p:cNvPr id="4" name="Future 4"/>
          <p:cNvSpPr txBox="1"/>
          <p:nvPr/>
        </p:nvSpPr>
        <p:spPr>
          <a:xfrm>
            <a:off x="6199632" y="1371600"/>
            <a:ext cx="5532120" cy="42062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2000" b="1" dirty="0">
                <a:solidFill>
                  <a:srgbClr val="EB6834"/>
                </a:solidFill>
                <a:latin typeface="Times New Roman" panose="02020603050405020304" pitchFamily="18" charset="0"/>
                <a:cs typeface="Times New Roman" panose="02020603050405020304" pitchFamily="18" charset="0"/>
              </a:rPr>
              <a:t>Future work</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Independent two-rater labelling of the real-data findings.</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Predictive-monitoring comparisons, and the discovery comparison with other miners.</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Answer the JIIS reviewers and revise the paper.</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18</a:t>
            </a:fld>
            <a:endParaRPr lang="en-IN"/>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Outcome Achieved</a:t>
            </a:r>
          </a:p>
        </p:txBody>
      </p:sp>
      <p:graphicFrame>
        <p:nvGraphicFramePr>
          <p:cNvPr id="3" name="Table 3"/>
          <p:cNvGraphicFramePr>
            <a:graphicFrameLocks noGrp="1"/>
          </p:cNvGraphicFramePr>
          <p:nvPr/>
        </p:nvGraphicFramePr>
        <p:xfrm>
          <a:off x="457200" y="1371600"/>
          <a:ext cx="11274552" cy="3429000"/>
        </p:xfrm>
        <a:graphic>
          <a:graphicData uri="http://schemas.openxmlformats.org/drawingml/2006/table">
            <a:tbl>
              <a:tblPr firstRow="1" bandRow="1"/>
              <a:tblGrid>
                <a:gridCol w="3840480"/>
                <a:gridCol w="7434072"/>
              </a:tblGrid>
              <a:tr h="457200">
                <a:tc>
                  <a:txBody>
                    <a:bodyPr/>
                    <a:lstStyle/>
                    <a:p>
                      <a:pPr marL="0" indent="0" algn="l">
                        <a:lnSpc>
                          <a:spcPct val="100000"/>
                        </a:lnSpc>
                        <a:spcBef>
                          <a:spcPts val="0"/>
                        </a:spcBef>
                        <a:spcAft>
                          <a:spcPts val="0"/>
                        </a:spcAft>
                        <a:buNone/>
                      </a:pPr>
                      <a:r>
                        <a:rPr lang="en-IN" sz="1500" b="1" dirty="0">
                          <a:solidFill>
                            <a:srgbClr val="FFFFFF"/>
                          </a:solidFill>
                          <a:latin typeface="Times New Roman" panose="02020603050405020304" pitchFamily="18" charset="0"/>
                          <a:cs typeface="Times New Roman" panose="02020603050405020304" pitchFamily="18" charset="0"/>
                        </a:rPr>
                        <a:t>Outcome type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500" b="1" dirty="0">
                          <a:solidFill>
                            <a:srgbClr val="FFFFFF"/>
                          </a:solidFill>
                          <a:latin typeface="Times New Roman" panose="02020603050405020304" pitchFamily="18" charset="0"/>
                          <a:cs typeface="Times New Roman" panose="02020603050405020304" pitchFamily="18" charset="0"/>
                        </a:rPr>
                        <a:t>Status today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Patent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None filed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International conference proceedings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None submitted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Journal publication (Scopus-indexed)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Submitted to the Journal of Intelligent Information Systems (Springer; Scopus, SCIE), 27 Oct 2026; under review</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Start-up</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None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Others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Open, re-runnable code and result tables in the project repository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bl>
          </a:graphicData>
        </a:graphic>
      </p:graphicFrame>
      <p:sp>
        <p:nvSpPr>
          <p:cNvPr id="4" name="Proof 4"/>
          <p:cNvSpPr txBox="1"/>
          <p:nvPr/>
        </p:nvSpPr>
        <p:spPr>
          <a:xfrm>
            <a:off x="457200" y="4937760"/>
            <a:ext cx="11274552" cy="1188720"/>
          </a:xfrm>
          <a:prstGeom prst="roundRect">
            <a:avLst>
              <a:gd name="adj" fmla="val 6000"/>
            </a:avLst>
          </a:prstGeom>
          <a:solidFill>
            <a:srgbClr val="F3F6FA"/>
          </a:solid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500" b="1" dirty="0">
                <a:solidFill>
                  <a:srgbClr val="2A78D6"/>
                </a:solidFill>
                <a:latin typeface="Times New Roman" panose="02020603050405020304" pitchFamily="18" charset="0"/>
                <a:cs typeface="Times New Roman" panose="02020603050405020304" pitchFamily="18" charset="0"/>
              </a:rPr>
              <a:t>Proof to upload: </a:t>
            </a:r>
            <a:r>
              <a:rPr lang="en-IN" sz="1500" dirty="0">
                <a:solidFill>
                  <a:srgbClr val="1F2328"/>
                </a:solidFill>
                <a:latin typeface="Times New Roman" panose="02020603050405020304" pitchFamily="18" charset="0"/>
                <a:cs typeface="Times New Roman" panose="02020603050405020304" pitchFamily="18" charset="0"/>
              </a:rPr>
              <a:t>the Springer submission acknowledgement e-mail, manuscript number </a:t>
            </a:r>
            <a:r>
              <a:rPr lang="en-IN" sz="1500" dirty="0">
                <a:solidFill>
                  <a:srgbClr val="1F2328"/>
                </a:solidFill>
                <a:highlight>
                  <a:srgbClr val="FFFF00"/>
                </a:highlight>
                <a:latin typeface="Times New Roman" panose="02020603050405020304" pitchFamily="18" charset="0"/>
                <a:cs typeface="Times New Roman" panose="02020603050405020304" pitchFamily="18" charset="0"/>
              </a:rPr>
              <a:t>[fill in]</a:t>
            </a:r>
            <a:r>
              <a:rPr lang="en-IN" sz="1500" dirty="0">
                <a:solidFill>
                  <a:srgbClr val="1F2328"/>
                </a:solidFill>
                <a:latin typeface="Times New Roman" panose="02020603050405020304" pitchFamily="18" charset="0"/>
                <a:cs typeface="Times New Roman" panose="02020603050405020304" pitchFamily="18" charset="0"/>
              </a:rPr>
              <a:t>. Acceptance is not yet decided.</a:t>
            </a:r>
          </a:p>
          <a:p>
            <a:pPr marL="0" indent="0" algn="l">
              <a:lnSpc>
                <a:spcPct val="100000"/>
              </a:lnSpc>
              <a:spcBef>
                <a:spcPts val="800"/>
              </a:spcBef>
              <a:spcAft>
                <a:spcPts val="0"/>
              </a:spcAft>
              <a:buNone/>
            </a:pPr>
            <a:r>
              <a:rPr lang="en-IN" sz="1400" b="1" dirty="0">
                <a:solidFill>
                  <a:srgbClr val="5B616B"/>
                </a:solidFill>
                <a:latin typeface="Times New Roman" panose="02020603050405020304" pitchFamily="18" charset="0"/>
                <a:cs typeface="Times New Roman" panose="02020603050405020304" pitchFamily="18" charset="0"/>
              </a:rPr>
              <a:t>Outcome form (Google form, due 27 Oct 2026): </a:t>
            </a:r>
            <a:r>
              <a:rPr lang="en-IN" sz="1400" dirty="0">
                <a:solidFill>
                  <a:srgbClr val="1F2328"/>
                </a:solidFill>
                <a:highlight>
                  <a:srgbClr val="FFFF00"/>
                </a:highlight>
                <a:latin typeface="Times New Roman" panose="02020603050405020304" pitchFamily="18" charset="0"/>
                <a:cs typeface="Times New Roman" panose="02020603050405020304" pitchFamily="18" charset="0"/>
              </a:rPr>
              <a:t>[confirm submitted]</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19</a:t>
            </a:fld>
            <a:endParaRPr lang="en-IN"/>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References</a:t>
            </a:r>
          </a:p>
        </p:txBody>
      </p:sp>
      <p:sp>
        <p:nvSpPr>
          <p:cNvPr id="3" name="Refs left 3"/>
          <p:cNvSpPr txBox="1"/>
          <p:nvPr/>
        </p:nvSpPr>
        <p:spPr>
          <a:xfrm>
            <a:off x="457200" y="1280160"/>
            <a:ext cx="5577840" cy="5029200"/>
          </a:xfrm>
          <a:prstGeom prst="rect">
            <a:avLst/>
          </a:prstGeom>
          <a:noFill/>
          <a:ln>
            <a:noFill/>
          </a:ln>
        </p:spPr>
        <p:txBody>
          <a:bodyPr wrap="square" lIns="109728" tIns="76810" rIns="109728" bIns="76810" rtlCol="0" anchor="t">
            <a:noAutofit/>
          </a:bodyPr>
          <a:lstStyle/>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 W. M. P. van der Aalst, "Object-centric process mining: Dealing with divergence and convergence in event data," in SEFM, LNCS, Springer, 2019, pp. 3-25.</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[2] A. Berti et al., "OCEL (Object-Centric Event Log) 2.0 specification," arXiv:2403.01975, 2024.</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[3] J. N. Adams, G. Park, and W. M. P. van der Aalst, "Preserving complex object-centric graph structures to improve machine learning tasks in process mining," Eng. Appl. Artif. Intell., vol. 125, p. 106764, 2023.</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[4] J. N. Adams and W. M. P. van der Aalst, "Addressing convergence, divergence, and deficiency issues," LNBIP, Springer, 2024.</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[5] P. Waibel, L. Pfahlsberger, K. Revoredo, and J. Mendling, "Causal process mining from relational databases with domain knowledge," arXiv:2202.08314, 2022.</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[6] M. Kabierski et al., "Data quality in object-centric event data: Issues classification and evaluation," Process Science, vol. 3, 2026.</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[7] N. Miri, S. Khayatbashi, J. Zdravkovic, and A. Jalali, "An object-centric approach to multi-entity educational process mining," Decis. Anal. J., vol. 19, p. 100724, 2026.</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[8] J. Kuzilek, M. Hlosta, and Z. Zdrahal, "Open University Learning Analytics dataset," Sci. Data, vol. 4, p. 170171, 2017.</a:t>
            </a:r>
          </a:p>
        </p:txBody>
      </p:sp>
      <p:sp>
        <p:nvSpPr>
          <p:cNvPr id="4" name="Refs right 4"/>
          <p:cNvSpPr txBox="1"/>
          <p:nvPr/>
        </p:nvSpPr>
        <p:spPr>
          <a:xfrm>
            <a:off x="6172200" y="1280160"/>
            <a:ext cx="5577840" cy="5029200"/>
          </a:xfrm>
          <a:prstGeom prst="rect">
            <a:avLst/>
          </a:prstGeom>
          <a:noFill/>
          <a:ln>
            <a:noFill/>
          </a:ln>
        </p:spPr>
        <p:txBody>
          <a:bodyPr wrap="square" lIns="109728" tIns="76810" rIns="109728" bIns="76810" rtlCol="0" anchor="t">
            <a:noAutofit/>
          </a:bodyPr>
          <a:lstStyle/>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[9] M. Paixao, J. Krinke, D. Han, and M. Harman, "CROP: Linking code reviews to source code changes," in Proc. MSR, 2018.</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[10] H. Hassani et al., "Supervision of undergraduate final year projects in computing: A case study," Educ. Sci., vol. 8, no. 4, p. 210, 2018.</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[11] W. Premchaiswadi and P. Porouhan, "Process modeling and bottleneck mining in online peer-review systems," SpringerPlus, vol. 4, p. 441, 2015.</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[12] S. J. J. Leemans, D. Fahland, and W. M. P. van der Aalst, "Discovering block-structured process models from event logs containing infrequent behaviour," in BPM Workshops, LNBIP 171, Springer, 2014, pp. 66-78.</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[13] A. Berti and W. M. P. van der Aalst, "Reviving token-based replay: Increasing speed while improving diagnostics," in ATAED, CEUR-WS 2371, 2019, pp. 87-103.</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[14] J. Munoz-Gama and J. Carmona, "A fresh look at precision in process conformance," in BPM, LNCS 6336, Springer, 2010, pp. 211-226.</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[15] A. Berti, S. van Zelst, and D. Schuster, "PM4Py: A process mining library for Python," Softw. Impacts, vol. 17, p. 100556, 2023.</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[16] Datasets (CC BY 4.0): Zenodo 16811928 (Bundestag), 21989732 (Enron), 21989580 (Ethereum), 13365584 (Age of Empires), 8430332 (Angular), 3599150 (CROP); UCI 10.24432/C5KK69 (OULAD).</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20</a:t>
            </a:fld>
            <a:endParaRPr lang="en-I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TotalTime>
  <Words>376</Words>
  <Application>Microsoft Macintosh PowerPoint</Application>
  <PresentationFormat>Custom</PresentationFormat>
  <Paragraphs>98</Paragraphs>
  <Slides>20</Slides>
  <Notes>20</Notes>
  <HiddenSlides>0</HiddenSlides>
  <MMClips>0</MMClips>
  <ScaleCrop>false</ScaleCrop>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&lt;&lt;Programme B.Tech/ M.Tech Course Code – Course Title&gt;&gt; &lt;&lt;Project Title&gt;&gt;</dc:title>
  <dc:creator>Parthasarathy G</dc:creator>
  <cp:lastModifiedBy>Prakash Mohan</cp:lastModifiedBy>
  <cp:revision>12</cp:revision>
  <dcterms:created xsi:type="dcterms:W3CDTF">2026-07-14T06:00:41Z</dcterms:created>
  <dcterms:modified xsi:type="dcterms:W3CDTF">2026-10-05T06:25:49Z</dcterms:modified>
</cp:coreProperties>
</file>