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69b23989d247ac" /><Relationship Type="http://schemas.openxmlformats.org/officeDocument/2006/relationships/extended-properties" Target="/docProps/app.xml" Id="R02a382f9a9b642ca" /><Relationship Type="http://schemas.openxmlformats.org/officeDocument/2006/relationships/officeDocument" Target="/ppt/presentation.xml" Id="Rf4e389faa2814d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b0f4078df54007"/>
  </p:sldMasterIdLst>
  <p:notesMasterIdLst>
    <p:notesMasterId xmlns:r="http://schemas.openxmlformats.org/officeDocument/2006/relationships" r:id="R8556c9ad68634e44"/>
  </p:notesMasterIdLst>
  <p:sldIdLst>
    <p:sldId xmlns:r="http://schemas.openxmlformats.org/officeDocument/2006/relationships" id="256" r:id="Rf2b3304819164307"/>
    <p:sldId xmlns:r="http://schemas.openxmlformats.org/officeDocument/2006/relationships" id="257" r:id="Re82e45ef2194495f"/>
    <p:sldId xmlns:r="http://schemas.openxmlformats.org/officeDocument/2006/relationships" id="258" r:id="R3443571c26494a5f"/>
    <p:sldId xmlns:r="http://schemas.openxmlformats.org/officeDocument/2006/relationships" id="259" r:id="R3a95a2fd91d5492f"/>
    <p:sldId xmlns:r="http://schemas.openxmlformats.org/officeDocument/2006/relationships" id="260" r:id="R5d429c997eef4dc3"/>
    <p:sldId xmlns:r="http://schemas.openxmlformats.org/officeDocument/2006/relationships" id="261" r:id="R919d7f9ebd674098"/>
    <p:sldId xmlns:r="http://schemas.openxmlformats.org/officeDocument/2006/relationships" id="262" r:id="Rafc382e3a6c44652"/>
    <p:sldId xmlns:r="http://schemas.openxmlformats.org/officeDocument/2006/relationships" id="263" r:id="R2a2ac118bb9344bb"/>
    <p:sldId xmlns:r="http://schemas.openxmlformats.org/officeDocument/2006/relationships" id="264" r:id="R18508dee5a184354"/>
    <p:sldId xmlns:r="http://schemas.openxmlformats.org/officeDocument/2006/relationships" id="265" r:id="R22182544d16d4dbb"/>
    <p:sldId xmlns:r="http://schemas.openxmlformats.org/officeDocument/2006/relationships" id="266" r:id="Ra54a1170b99948a4"/>
    <p:sldId xmlns:r="http://schemas.openxmlformats.org/officeDocument/2006/relationships" id="267" r:id="R5017322e4e3c4ec1"/>
    <p:sldId xmlns:r="http://schemas.openxmlformats.org/officeDocument/2006/relationships" id="268" r:id="R030a2668c1314a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ae3646455242c5" /><Relationship Type="http://schemas.openxmlformats.org/officeDocument/2006/relationships/slideMaster" Target="/ppt/slideMasters/slideMaster1.xml" Id="Rd6b0f4078df54007" /><Relationship Type="http://schemas.openxmlformats.org/officeDocument/2006/relationships/notesMaster" Target="/ppt/notesMasters/notesMaster1.xml" Id="R8556c9ad68634e44" /><Relationship Type="http://schemas.openxmlformats.org/officeDocument/2006/relationships/presProps" Target="/ppt/presProps.xml" Id="R64f3203cc61246e6" /><Relationship Type="http://schemas.openxmlformats.org/officeDocument/2006/relationships/viewProps" Target="/ppt/viewProps.xml" Id="R2901808ca69a4997" /><Relationship Type="http://schemas.openxmlformats.org/officeDocument/2006/relationships/tableStyles" Target="/ppt/tableStyles.xml" Id="Rcfca28d2c8624de2" /><Relationship Type="http://schemas.openxmlformats.org/officeDocument/2006/relationships/slide" Target="/ppt/slides/slide1.xml" Id="Rf2b3304819164307" /><Relationship Type="http://schemas.openxmlformats.org/officeDocument/2006/relationships/slide" Target="/ppt/slides/slide2.xml" Id="Re82e45ef2194495f" /><Relationship Type="http://schemas.openxmlformats.org/officeDocument/2006/relationships/slide" Target="/ppt/slides/slide3.xml" Id="R3443571c26494a5f" /><Relationship Type="http://schemas.openxmlformats.org/officeDocument/2006/relationships/slide" Target="/ppt/slides/slide4.xml" Id="R3a95a2fd91d5492f" /><Relationship Type="http://schemas.openxmlformats.org/officeDocument/2006/relationships/slide" Target="/ppt/slides/slide5.xml" Id="R5d429c997eef4dc3" /><Relationship Type="http://schemas.openxmlformats.org/officeDocument/2006/relationships/slide" Target="/ppt/slides/slide6.xml" Id="R919d7f9ebd674098" /><Relationship Type="http://schemas.openxmlformats.org/officeDocument/2006/relationships/slide" Target="/ppt/slides/slide7.xml" Id="Rafc382e3a6c44652" /><Relationship Type="http://schemas.openxmlformats.org/officeDocument/2006/relationships/slide" Target="/ppt/slides/slide8.xml" Id="R2a2ac118bb9344bb" /><Relationship Type="http://schemas.openxmlformats.org/officeDocument/2006/relationships/slide" Target="/ppt/slides/slide9.xml" Id="R18508dee5a184354" /><Relationship Type="http://schemas.openxmlformats.org/officeDocument/2006/relationships/slide" Target="/ppt/slides/slide10.xml" Id="R22182544d16d4dbb" /><Relationship Type="http://schemas.openxmlformats.org/officeDocument/2006/relationships/slide" Target="/ppt/slides/slide11.xml" Id="Ra54a1170b99948a4" /><Relationship Type="http://schemas.openxmlformats.org/officeDocument/2006/relationships/slide" Target="/ppt/slides/slide12.xml" Id="R5017322e4e3c4ec1" /><Relationship Type="http://schemas.openxmlformats.org/officeDocument/2006/relationships/slide" Target="/ppt/slides/slide13.xml" Id="R030a2668c1314a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08f2d5232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19f5827cec4821" /><Relationship Type="http://schemas.openxmlformats.org/officeDocument/2006/relationships/notesMaster" Target="/ppt/notesMasters/notesMaster1.xml" Id="R11341be15aaf4d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ffe84dfe2c4b58" /><Relationship Type="http://schemas.openxmlformats.org/officeDocument/2006/relationships/notesMaster" Target="/ppt/notesMasters/notesMaster1.xml" Id="R2790e10189ce4b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d707c701ad45ee" /><Relationship Type="http://schemas.openxmlformats.org/officeDocument/2006/relationships/notesMaster" Target="/ppt/notesMasters/notesMaster1.xml" Id="Rf2bab0ba22cf4e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236ec8af914fdb" /><Relationship Type="http://schemas.openxmlformats.org/officeDocument/2006/relationships/notesMaster" Target="/ppt/notesMasters/notesMaster1.xml" Id="R05eac4a65cff4c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6e2bdd0396495d" /><Relationship Type="http://schemas.openxmlformats.org/officeDocument/2006/relationships/notesMaster" Target="/ppt/notesMasters/notesMaster1.xml" Id="Rb6d6c256fc5949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733dbf4ea34eec" /><Relationship Type="http://schemas.openxmlformats.org/officeDocument/2006/relationships/notesMaster" Target="/ppt/notesMasters/notesMaster1.xml" Id="Rd7e49ea3dfb74a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7ce8c8f50f44da" /><Relationship Type="http://schemas.openxmlformats.org/officeDocument/2006/relationships/notesMaster" Target="/ppt/notesMasters/notesMaster1.xml" Id="R225bd13d640c46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a97f64f0f448da" /><Relationship Type="http://schemas.openxmlformats.org/officeDocument/2006/relationships/notesMaster" Target="/ppt/notesMasters/notesMaster1.xml" Id="R72d0d0243d7c4e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0c44a6fa77456a" /><Relationship Type="http://schemas.openxmlformats.org/officeDocument/2006/relationships/notesMaster" Target="/ppt/notesMasters/notesMaster1.xml" Id="R476d7e33aee04d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9db020a63046c0" /><Relationship Type="http://schemas.openxmlformats.org/officeDocument/2006/relationships/notesMaster" Target="/ppt/notesMasters/notesMaster1.xml" Id="R962ebb840d8243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82f50980d24769" /><Relationship Type="http://schemas.openxmlformats.org/officeDocument/2006/relationships/notesMaster" Target="/ppt/notesMasters/notesMaster1.xml" Id="R872e61c57fd841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e67c8e124042b5" /><Relationship Type="http://schemas.openxmlformats.org/officeDocument/2006/relationships/notesMaster" Target="/ppt/notesMasters/notesMaster1.xml" Id="R902ceb5302a947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6ae67abb674062" /><Relationship Type="http://schemas.openxmlformats.org/officeDocument/2006/relationships/notesMaster" Target="/ppt/notesMasters/notesMaster1.xml" Id="R438f3d6ba56245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Review_1_Team1_OCEL.pptx, slide 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Review 2 guidelines and provided PPT template. Real approval evidence not yet supplied.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Review_1_Team1_OCEL.pptx; Educational Capstone Portal audit-trail.md; domain-model.md.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Team1_Review2_Package/data and results; Educational Capstone Portal state-machines.md.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OCEL 2.0: https://www.ocel-standard.org/2.0/ocel20_specification.pdf</a:t>
            </a:r>
          </a:p>
          <a:p xmlns:a="http://schemas.openxmlformats.org/drawingml/2006/main">
            <a:r>
              <a:t>van der Aalst 2019: https://doi.org/10.1007/978-3-030-30446-1_1</a:t>
            </a:r>
          </a:p>
          <a:p xmlns:a="http://schemas.openxmlformats.org/drawingml/2006/main">
            <a:r>
              <a:t>Park et al. 2024: https://doi.org/10.1007/978-3-031-70418-5_11</a:t>
            </a:r>
          </a:p>
          <a:p xmlns:a="http://schemas.openxmlformats.org/drawingml/2006/main">
            <a:r>
              <a:t>Miri et al. 2026: https://doi.org/10.1016/j.dajour.2026.100724</a:t>
            </a:r>
          </a:p>
          <a:p xmlns:a="http://schemas.openxmlformats.org/drawingml/2006/main">
            <a:r>
              <a:t>Wei et al. 2025: https://doi.org/10.1016/j.datak.2025.102485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Miri et al. 2026: https://doi.org/10.1016/j.dajour.2026.100724</a:t>
            </a:r>
          </a:p>
          <a:p xmlns:a="http://schemas.openxmlformats.org/drawingml/2006/main">
            <a:r>
              <a:t>Wei et al. 2025: https://doi.org/10.1016/j.datak.2025.102485</a:t>
            </a:r>
          </a:p>
          <a:p xmlns:a="http://schemas.openxmlformats.org/drawingml/2006/main">
            <a:r>
              <a:t>Local: Educational Capstone Portal known-gaps.md; domain-model.md; state-machines.md.</a:t>
            </a:r>
          </a:p>
          <a:p xmlns:a="http://schemas.openxmlformats.org/drawingml/2006/main">
            <a:r>
              <a:t>Inference: targeted-search novelty boundary, not a universal first claim.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Review 1 objectives; generated prototype artifacts; TRL assessment is Team 1’s internal estimate and requires guide confirmation.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Educational Capstone Portal audit-trail.md, domain-model.md, state-machines.md, known-gaps.md; Team1_Review2_Package/src.</a:t>
            </a:r>
          </a:p>
          <a:p xmlns:a="http://schemas.openxmlformats.org/drawingml/2006/main">
            <a:r>
              <a:t>OCEL format: https://www.ocel-standard.org/specification/formats/sqlite/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Team1_Research_Execution_Prompt.txt; Educational Capstone Portal architecture documents.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Team1_Review2_Package/data/manifest.json; results/experiment_summary.json; src scripts.</a:t>
            </a:r>
          </a:p>
          <a:p xmlns:a="http://schemas.openxmlformats.org/drawingml/2006/main">
            <a:r>
              <a:t>Implementation percentage is module-count based, not effort-weighted.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results: Team1_Review2_Package/results/experiment_summary.json; seed 4971.</a:t>
            </a:r>
          </a:p>
          <a:p xmlns:a="http://schemas.openxmlformats.org/drawingml/2006/main">
            <a:r>
              <a:t>All percentages are generated feasibility results, not institutional operational measurements.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Team1_Review2_Package/results/experiment_summary.json and data/manifest.json.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https://www.ocel-standard.org/2.0/ocel20_specification.pdf</a:t>
            </a:r>
          </a:p>
          <a:p xmlns:a="http://schemas.openxmlformats.org/drawingml/2006/main">
            <a:r>
              <a:t>https://doi.org/10.1007/978-3-030-30446-1_1</a:t>
            </a:r>
          </a:p>
          <a:p xmlns:a="http://schemas.openxmlformats.org/drawingml/2006/main">
            <a:r>
              <a:t>https://doi.org/10.1007/978-3-031-70418-5_11</a:t>
            </a:r>
          </a:p>
          <a:p xmlns:a="http://schemas.openxmlformats.org/drawingml/2006/main">
            <a:r>
              <a:t>https://doi.org/10.1109/ICPM53251.2021.9576846</a:t>
            </a:r>
          </a:p>
          <a:p xmlns:a="http://schemas.openxmlformats.org/drawingml/2006/main">
            <a:r>
              <a:t>https://doi.org/10.1002/widm.1230</a:t>
            </a:r>
          </a:p>
          <a:p xmlns:a="http://schemas.openxmlformats.org/drawingml/2006/main">
            <a:r>
              <a:t>https://doi.org/10.1002/widm.70005</a:t>
            </a:r>
          </a:p>
          <a:p xmlns:a="http://schemas.openxmlformats.org/drawingml/2006/main">
            <a:r>
              <a:t>https://doi.org/10.1016/j.dajour.2026.100724</a:t>
            </a:r>
          </a:p>
          <a:p xmlns:a="http://schemas.openxmlformats.org/drawingml/2006/main">
            <a:r>
              <a:t>https://doi.org/10.1016/j.datak.2025.102485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997cf6fd84b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7f1d7bdb04d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d5c05d35840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c5ae48f8843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d04de838148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69184607c47c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7efcffd4e48f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f27e2fa824c5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cecea29af4d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b9de37f354be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3c05d97ee45a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3E78AE-7F97-4550-9DD8-BF69171FDC30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A886FF-1BA7-4533-94E6-869CE1E2970B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3E22BD8-A2C4-424B-809A-C64DDCC305D9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20F4BC-B3A4-46AF-9AEC-8478EF1369D5}" type="datetime1">
              <a:t>22-08-2026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9A2993-B405-4F4D-B968-A01C27211659}" type="datetime1">
              <a:t>22-08-2026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9378C8C-5FBB-4DD7-A06D-BE263480794B}" type="datetime1">
              <a:t>22-08-2026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1FD2985-06EC-459B-80C8-F6F4362A1C03}" type="datetime1">
              <a:t>22-08-2026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1D7E9DA-13C6-48A4-9305-B592482DE8CE}" type="datetime1">
              <a:t>22-08-2026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5E7C4B-C575-4DCF-9B63-045662930500}" type="datetime1">
              <a:t>22-08-2026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576931C-EA1A-43DD-B3B3-66F5BA587712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C9B0E1-7C95-4C20-B9C6-BA51F388E878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2081694dcd44b9" /><Relationship Type="http://schemas.openxmlformats.org/officeDocument/2006/relationships/slideLayout" Target="/ppt/slideLayouts/slideLayout1.xml" Id="R78d65f6949214f63" /><Relationship Type="http://schemas.openxmlformats.org/officeDocument/2006/relationships/slideLayout" Target="/ppt/slideLayouts/slideLayout2.xml" Id="Re5e5d84903ef4a4d" /><Relationship Type="http://schemas.openxmlformats.org/officeDocument/2006/relationships/slideLayout" Target="/ppt/slideLayouts/slideLayout3.xml" Id="Rb710727cc33a4ac3" /><Relationship Type="http://schemas.openxmlformats.org/officeDocument/2006/relationships/slideLayout" Target="/ppt/slideLayouts/slideLayout4.xml" Id="Rb12a11f316d64d8e" /><Relationship Type="http://schemas.openxmlformats.org/officeDocument/2006/relationships/slideLayout" Target="/ppt/slideLayouts/slideLayout5.xml" Id="R9e250a5b7cc64a48" /><Relationship Type="http://schemas.openxmlformats.org/officeDocument/2006/relationships/slideLayout" Target="/ppt/slideLayouts/slideLayout6.xml" Id="R7737c402e0294995" /><Relationship Type="http://schemas.openxmlformats.org/officeDocument/2006/relationships/slideLayout" Target="/ppt/slideLayouts/slideLayout7.xml" Id="R5326800f3d5b4c31" /><Relationship Type="http://schemas.openxmlformats.org/officeDocument/2006/relationships/slideLayout" Target="/ppt/slideLayouts/slideLayout8.xml" Id="R7f304f88ca3c4161" /><Relationship Type="http://schemas.openxmlformats.org/officeDocument/2006/relationships/slideLayout" Target="/ppt/slideLayouts/slideLayout9.xml" Id="R137f60506f074b60" /><Relationship Type="http://schemas.openxmlformats.org/officeDocument/2006/relationships/slideLayout" Target="/ppt/slideLayouts/slideLayout10.xml" Id="R0c9e323c52b5402e" /><Relationship Type="http://schemas.openxmlformats.org/officeDocument/2006/relationships/slideLayout" Target="/ppt/slideLayouts/slideLayout11.xml" Id="Rf3fe72863a204fb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3827C3E-786B-4150-9177-1C28966A2ADC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d65f6949214f63"/>
    <p:sldLayoutId xmlns:r="http://schemas.openxmlformats.org/officeDocument/2006/relationships" id="2147483650" r:id="Re5e5d84903ef4a4d"/>
    <p:sldLayoutId xmlns:r="http://schemas.openxmlformats.org/officeDocument/2006/relationships" id="2147483651" r:id="Rb710727cc33a4ac3"/>
    <p:sldLayoutId xmlns:r="http://schemas.openxmlformats.org/officeDocument/2006/relationships" id="2147483652" r:id="Rb12a11f316d64d8e"/>
    <p:sldLayoutId xmlns:r="http://schemas.openxmlformats.org/officeDocument/2006/relationships" id="2147483653" r:id="R9e250a5b7cc64a48"/>
    <p:sldLayoutId xmlns:r="http://schemas.openxmlformats.org/officeDocument/2006/relationships" id="2147483654" r:id="R7737c402e0294995"/>
    <p:sldLayoutId xmlns:r="http://schemas.openxmlformats.org/officeDocument/2006/relationships" id="2147483655" r:id="R5326800f3d5b4c31"/>
    <p:sldLayoutId xmlns:r="http://schemas.openxmlformats.org/officeDocument/2006/relationships" id="2147483656" r:id="R7f304f88ca3c4161"/>
    <p:sldLayoutId xmlns:r="http://schemas.openxmlformats.org/officeDocument/2006/relationships" id="2147483657" r:id="R137f60506f074b60"/>
    <p:sldLayoutId xmlns:r="http://schemas.openxmlformats.org/officeDocument/2006/relationships" id="2147483658" r:id="R0c9e323c52b5402e"/>
    <p:sldLayoutId xmlns:r="http://schemas.openxmlformats.org/officeDocument/2006/relationships" id="2147483659" r:id="Rf3fe72863a204fb9"/>
  </p:sldLayoutIdLst>
  <p:hf hd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2a2e24972474f" /><Relationship Type="http://schemas.openxmlformats.org/officeDocument/2006/relationships/image" Target="/ppt/media/image.png" Id="Re19ceda407a94ebd" /><Relationship Type="http://schemas.openxmlformats.org/officeDocument/2006/relationships/notesSlide" Target="/ppt/notesSlides/notesSlide1.xml" Id="Rb3abeb42767c4c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27ebbe24e240eb" /><Relationship Type="http://schemas.openxmlformats.org/officeDocument/2006/relationships/image" Target="/ppt/media/image2.png" Id="R3b8c57fc15b948a7" /><Relationship Type="http://schemas.openxmlformats.org/officeDocument/2006/relationships/notesSlide" Target="/ppt/notesSlides/notesSlide2.xml" Id="Rdbae39453b9a44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ecc7379c264f26" /><Relationship Type="http://schemas.openxmlformats.org/officeDocument/2006/relationships/notesSlide" Target="/ppt/notesSlides/notesSlide3.xml" Id="R3524610e5f6f47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188c80df094204" /><Relationship Type="http://schemas.openxmlformats.org/officeDocument/2006/relationships/notesSlide" Target="/ppt/notesSlides/notesSlide4.xml" Id="R78b27ea8660646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82d123e48d4b0d" /><Relationship Type="http://schemas.openxmlformats.org/officeDocument/2006/relationships/image" Target="/ppt/media/image3.png" Id="Rf4a68c768ae14f27" /><Relationship Type="http://schemas.openxmlformats.org/officeDocument/2006/relationships/image" Target="/ppt/media/image4.png" Id="Re95969e97aaa42dc" /><Relationship Type="http://schemas.openxmlformats.org/officeDocument/2006/relationships/image" Target="/ppt/media/image5.png" Id="R02a621395cff44fe" /><Relationship Type="http://schemas.openxmlformats.org/officeDocument/2006/relationships/notesSlide" Target="/ppt/notesSlides/notesSlide5.xml" Id="Rc5e32087fad74b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b3afdf37404c56" /><Relationship Type="http://schemas.openxmlformats.org/officeDocument/2006/relationships/notesSlide" Target="/ppt/notesSlides/notesSlide6.xml" Id="R595cf20c2ece46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1bd8d22711472f" /><Relationship Type="http://schemas.openxmlformats.org/officeDocument/2006/relationships/image" Target="/ppt/media/image.jpeg" Id="R21f7639b5f294b0f" /><Relationship Type="http://schemas.openxmlformats.org/officeDocument/2006/relationships/image" Target="/ppt/media/image2.jpeg" Id="R8d0e5285e95e45c8" /><Relationship Type="http://schemas.openxmlformats.org/officeDocument/2006/relationships/notesSlide" Target="/ppt/notesSlides/notesSlide7.xml" Id="R9b566b0b3c7744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f41ed5cff84842" /><Relationship Type="http://schemas.openxmlformats.org/officeDocument/2006/relationships/image" Target="/ppt/media/image3.png" Id="Rd7863f7e5e204746" /><Relationship Type="http://schemas.openxmlformats.org/officeDocument/2006/relationships/image" Target="/ppt/media/image4.png" Id="Rf1d2229ea160482c" /><Relationship Type="http://schemas.openxmlformats.org/officeDocument/2006/relationships/image" Target="/ppt/media/image6.png" Id="R0b57d66cd1c14cc0" /><Relationship Type="http://schemas.openxmlformats.org/officeDocument/2006/relationships/notesSlide" Target="/ppt/notesSlides/notesSlide8.xml" Id="R79c5609130d347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154eff76ed4992" /><Relationship Type="http://schemas.openxmlformats.org/officeDocument/2006/relationships/notesSlide" Target="/ppt/notesSlides/notesSlide9.xml" Id="R0be0a0feb5fb4b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42c45e0b284fa2" /><Relationship Type="http://schemas.openxmlformats.org/officeDocument/2006/relationships/notesSlide" Target="/ppt/notesSlides/notesSlide10.xml" Id="R87d7fe710c594b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0c5d66bdcf4f73" /><Relationship Type="http://schemas.openxmlformats.org/officeDocument/2006/relationships/image" Target="/ppt/media/image3.png" Id="R0d514bb9e3994421" /><Relationship Type="http://schemas.openxmlformats.org/officeDocument/2006/relationships/image" Target="/ppt/media/image4.png" Id="R07df1d82bde04d34" /><Relationship Type="http://schemas.openxmlformats.org/officeDocument/2006/relationships/image" Target="/ppt/media/image7.png" Id="R8ba5c48368d24e6b" /><Relationship Type="http://schemas.openxmlformats.org/officeDocument/2006/relationships/notesSlide" Target="/ppt/notesSlides/notesSlide11.xml" Id="R645c482ae77d40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788b01980947aa" /><Relationship Type="http://schemas.openxmlformats.org/officeDocument/2006/relationships/notesSlide" Target="/ppt/notesSlides/notesSlide12.xml" Id="R1a32490dc8d34b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4b1be97ba84d5c" /><Relationship Type="http://schemas.openxmlformats.org/officeDocument/2006/relationships/notesSlide" Target="/ppt/notesSlides/notesSlide13.xml" Id="Ra26d5584a8494d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ceda407a94e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7236" y="-11493"/>
            <a:ext cx="4517528" cy="1871634"/>
          </a:xfrm>
          <a:prstGeom xmlns:a="http://schemas.openxmlformats.org/drawingml/2006/main" prst="rect">
            <a:avLst/>
          </a:prstGeom>
        </p:spPr>
      </p:pic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907459" y="1934141"/>
            <a:ext cx="8924544" cy="10895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B.Tech. (CSE) | BCSE497J – Project-I</a:t>
            </a:r>
          </a:p>
          <a:p xmlns:a="http://schemas.openxmlformats.org/drawingml/2006/main">
            <a:pPr algn="ctr">
              <a:buNone/>
              <a:defRPr sz="2000" b="1"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Object-Centric Event Log Mining for Academic Capstone Processes:</a:t>
            </a:r>
          </a:p>
          <a:p xmlns:a="http://schemas.openxmlformats.org/drawingml/2006/main">
            <a:pPr algn="ctr">
              <a:buNone/>
              <a:defRPr sz="2000" b="1"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A Native OCEL 2.0 Approach</a:t>
            </a:r>
          </a:p>
        </p:txBody>
      </p:sp>
      <p:sp>
        <p:nvSpPr>
          <p:cNvPr id="9" name="object 3">
            <a:extLst xmlns:a="http://schemas.openxmlformats.org/drawingml/2006/main"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088" y="3208471"/>
            <a:ext cx="7071360" cy="24608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Team members:
Aakaash Sathya Saravanan  (23BCE0500)
Mitisha Sharma  (23BCE0434)
Tanmay Khambete  (23BCE0498)
Faculty guide:
Dr. Kalyanaraman P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800" b="1">
                <a:latin typeface="Times New Roman"/>
                <a:ea typeface="Times New Roman"/>
                <a:cs typeface="Times New Roman"/>
              </a:rPr>
              <a:t>Approval Mail From Guide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C65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9C65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PLACEHOLDER — insert the actual guide approval email screenshot before submission.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9C65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9C65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Approval should cover attendance, PPT, demonstration, initial draft report, and outcome report.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pic>
        <p:nvPicPr>
          <p:cNvPr id="1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c57fc15b948a7"/>
          <a:stretch xmlns:a="http://schemas.openxmlformats.org/drawingml/2006/main"/>
        </p:blipFill>
        <p:spPr>
          <a:xfrm xmlns:a="http://schemas.openxmlformats.org/drawingml/2006/main">
            <a:off x="4716505" y="2653482"/>
            <a:ext cx="3296214" cy="32962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Model the portal’s documented</a:t>
            </a:r>
            <a:r>
              <a: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capstone workflow as OCEL 2.0 while preserving events shared by Project, Team, Student, Faculty, ReportVersion and Score.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Measure information lost by single-case flattening, detect documented state-machine deviations, and test transparent offline interventions.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Validate the research pipeline on deterministic synthetic data now; replace assumptions with de-identified production logs after ethics approval.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9558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Aim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Capstone events cross multiple objects; forcing one case identifier duplicates events and hides supervision, version and scoring relationships.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 map the 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documented capstone lifecycle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to qualified E2O/O2O relations and export three seeded corpora: clean target, current R1-only baseline and gap-injected.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prototype validates relational OCEL 2.0 output, compares three flattened views, detects six documented risks, predicts next transitions and simulates two interventions.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 measurements are synthetic feasibility evidence—not 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observed institutional performance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or institutional impact.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9558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Abstract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f4a68c768ae14f27"/>
          <a:stretch xmlns:a="http://schemas.openxmlformats.org/drawingml/2006/main"/>
        </p:blipFill>
        <p:spPr>
          <a:xfrm xmlns:a="http://schemas.openxmlformats.org/drawingml/2006/main">
            <a:off x="4851886" y="1374470"/>
            <a:ext cx="2054530" cy="2054530"/>
          </a:xfrm>
          <a:prstGeom xmlns:a="http://schemas.openxmlformats.org/drawingml/2006/main" prst="rect">
            <a:avLst/>
          </a:prstGeom>
        </p:spPr>
      </p:pic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8056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Literature Review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969e97aaa42dc"/>
          <a:stretch xmlns:a="http://schemas.openxmlformats.org/drawingml/2006/main"/>
        </p:blipFill>
        <p:spPr>
          <a:xfrm xmlns:a="http://schemas.openxmlformats.org/drawingml/2006/main">
            <a:off x="2401803" y="4611603"/>
            <a:ext cx="487722" cy="487722"/>
          </a:xfrm>
          <a:prstGeom xmlns:a="http://schemas.openxmlformats.org/drawingml/2006/main" prst="rect">
            <a:avLst/>
          </a:prstGeom>
        </p:spPr>
      </p:pic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621395cff44fe"/>
          <a:stretch xmlns:a="http://schemas.openxmlformats.org/drawingml/2006/main"/>
        </p:blipFill>
        <p:spPr>
          <a:xfrm xmlns:a="http://schemas.openxmlformats.org/drawingml/2006/main">
            <a:off x="682625" y="1381125"/>
            <a:ext cx="1082675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97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2026 prior art now demonstrates OCEL 2.0 extraction from Moodle; the broad ‘first object-centric educational process mining’ claim is no longer valid.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capstone lifecycle is a different process class: versioned reports, formal verification states, immutable scores, attempt limits and guide capacity interact transactionally.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Existing studies do not directly evaluate this combination through a documentation-grounded normative–descriptive–adversarial benchmark and executable risk predicates.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Proposed contribution: traceable counterfactual generation plus study-specific Cross-Object Observability Coverage (COOC). COOC measures analysis readiness—not universal OCEL quality.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Research Gap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Export a validated relational OCEL 2.0 mapping for </a:t>
            </a: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portal’s multi-object lifecycle</a:t>
            </a: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Quantify relation loss under Project-, Student- and ReportVersion-centric flattening.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Detect six documented gaps and measure representation-level observability.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Evaluate a grouped next-transition baseline and offline attempt/capacity interventions.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Objectives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rPr>
                <a:latin typeface="Times New Roman"/>
                <a:ea typeface="Times New Roman"/>
                <a:cs typeface="Times New Roman"/>
              </a:rPr>
              <a:t>02-09-2026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latin typeface="Times New Roman"/>
                <a:ea typeface="Times New Roman"/>
                <a:cs typeface="Times New Roman"/>
              </a:rPr>
              <a:t>7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" y="4000500"/>
            <a:ext cx="1152344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SDGs: 4 — Quality Education; 9 — Industry, Innovation &amp; Infrastructure     |     Outcome: reusable product + journal/conference paper     |     Current prototype TRL: 4</a:t>
            </a:r>
          </a:p>
        </p:txBody>
      </p:sp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7639b5f294b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0701" y="4778273"/>
            <a:ext cx="1968651" cy="1578077"/>
          </a:xfrm>
          <a:prstGeom xmlns:a="http://schemas.openxmlformats.org/drawingml/2006/main" prst="rect">
            <a:avLst/>
          </a:prstGeom>
        </p:spPr>
      </p:pic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e5285e95e45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7545" y="4413148"/>
            <a:ext cx="2447027" cy="22326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d7863f7e5e204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647" y="1374470"/>
            <a:ext cx="10169009" cy="2054530"/>
          </a:xfrm>
          <a:prstGeom xmlns:a="http://schemas.openxmlformats.org/drawingml/2006/main" prst="rect">
            <a:avLst/>
          </a:prstGeom>
        </p:spPr>
      </p:pic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8056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Framework / Architecture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2229ea16048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858" y="4611603"/>
            <a:ext cx="4017612" cy="487722"/>
          </a:xfrm>
          <a:prstGeom xmlns:a="http://schemas.openxmlformats.org/drawingml/2006/main" prst="rect">
            <a:avLst/>
          </a:prstGeom>
        </p:spPr>
      </p:pic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7d66cd1c14cc0"/>
          <a:stretch xmlns:a="http://schemas.openxmlformats.org/drawingml/2006/main"/>
        </p:blipFill>
        <p:spPr>
          <a:xfrm xmlns:a="http://schemas.openxmlformats.org/drawingml/2006/main" flipH="0" flipV="0">
            <a:off x="682625" y="1381125"/>
            <a:ext cx="1082675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97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FR1 — Generate clean, R1-only and gap-injected project lifecycles from one recorded seed/configuration.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FR2 — Preserve qualified Event-to-Object and Object-to-Object relations with pseudonymous IDs.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FR3 — Export OCEL 2.0 relational SQLite plus human-auditable CSV evidence tables.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FR4 — Validate references, timestamps, required tables and reproducible file checksums.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FR5 — Compare single-case flattening and detect G5, G9, E5, E10, E12 and E15 conditions.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FR6 — Report grouped next-transition metrics and offline policy scenarios with synthetic labels.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Functional Requirements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rPr>
                <a:latin typeface="Times New Roman"/>
                <a:ea typeface="Times New Roman"/>
                <a:cs typeface="Times New Roman"/>
              </a:rPr>
              <a:t>02-09-2026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latin typeface="Times New Roman"/>
                <a:ea typeface="Times New Roman"/>
                <a:cs typeface="Times New Roman"/>
              </a:rPr>
              <a:t>9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Completed (8/12): schema map, seeded generator, CSV evidence export, OCEL SQLite export, integrity validator, flattening comparator, six gap detectors, Markov + offline simulation baseline.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Generated evidence: 120 projects/scenario; 2,083 events and 7,471 E2O links in the gap-injected corpus; zero dangling relations; monotonic project timestamps.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Remaining (4/12): real-log ingestion, PM4Py OC-DFG/conformance integration, object-aware predictor, empirical twin calibration.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Implementation readiness: 67% of the declared Review 2 module scope; production claims remain explicitly out of scope.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Modules and Review 2 Readiness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rPr>
                <a:latin typeface="Times New Roman"/>
                <a:ea typeface="Times New Roman"/>
                <a:cs typeface="Times New Roman"/>
              </a:rPr>
              <a:t>02-09-2026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latin typeface="Times New Roman"/>
                <a:ea typeface="Times New Roman"/>
                <a:cs typeface="Times New Roman"/>
              </a:rPr>
              <a:t>10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0d514bb9e3994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647" y="1374470"/>
            <a:ext cx="10169009" cy="2054530"/>
          </a:xfrm>
          <a:prstGeom xmlns:a="http://schemas.openxmlformats.org/drawingml/2006/main" prst="rect">
            <a:avLst/>
          </a:prstGeom>
        </p:spPr>
      </p:pic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8056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Experiments and Results — Synthetic Prototype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f1d82bde04d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858" y="4611603"/>
            <a:ext cx="4017612" cy="487722"/>
          </a:xfrm>
          <a:prstGeom xmlns:a="http://schemas.openxmlformats.org/drawingml/2006/main" prst="rect">
            <a:avLst/>
          </a:prstGeom>
        </p:spPr>
      </p:pic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5c48368d24e6b"/>
          <a:stretch xmlns:a="http://schemas.openxmlformats.org/drawingml/2006/main"/>
        </p:blipFill>
        <p:spPr>
          <a:xfrm xmlns:a="http://schemas.openxmlformats.org/drawingml/2006/main">
            <a:off x="682625" y="1381125"/>
            <a:ext cx="1082675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97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prototype demonstrates a reproducible 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portal-to-OCEL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2.0 path and preserves all generated event-object relations with no dangling references.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Under this synthetic design, flat views retain only 19.8–27.9% of E2O links and preserve evidence for 16.7–50.0% of preregistered cross-object risk predicates; OCEL preserves all six.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Rule detectors reach macro-F1 0.977 on injected documented gaps; a first-order Markov baseline reaches macro-F1 0.673 on project-grouped test traces.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Next: integrate PM4Py, ingest de-identified logs, recalibrate assumptions, and test whether the contribution generalizes beyond synthetic traces.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Conclusion and Outcome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rPr>
                <a:latin typeface="Times New Roman"/>
                <a:ea typeface="Times New Roman"/>
                <a:cs typeface="Times New Roman"/>
              </a:rPr>
              <a:t>02-09-2026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rPr>
                <a:latin typeface="Times New Roman"/>
                <a:ea typeface="Times New Roman"/>
                <a:cs typeface="Times New Roman"/>
              </a:rPr>
              <a:t>12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References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5592" y="1442399"/>
            <a:ext cx="10515600" cy="594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A. Berti et al., ‘OCEL (Object-Centric Event Log) 2.0 Specification,’ arXiv:2403.01975, 2024.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W. M. P. van der Aalst, ‘Object-Centric Process Mining,’ SEFM, LNCS 11724, pp. 3–25, 2019.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G. Park, J. N. Adams, and W. M. P. van der Aalst, ‘Conformance Checking and Performance Analysis Using OC-DFGs,’ BPM Forum, 2024.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G. Park and W. M. P. van der Aalst, ‘Realizing a Digital Twin of an Organization Using Action-Oriented Process Mining,’ ICPM, 2021.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[5] A. Bogarín, R. Cerezo, and C. Romero, ‘A Survey on Educational Process Mining,’ WIREs Data Min. Knowl. Discov., 2018.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[6] D. Calegari and A. Delgado, ‘A Systematic Review on Process Mining for Curricular Analysis,’ WIREs Data Min. Knowl. Discov., 2025.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[7] N. Miri et al., ‘An Object-Centric Approach to Multi-Entity Educational Process Mining,’ Decision Analytics Journal, vol. 19, 100724, 2026.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[8] J. Wei et al., ‘Dirigo: A Method to Extract Event Logs for Object-Centric Processes,’ Data &amp; Knowledge Engineering, vol. 160, 102485, 2025.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2026-09-08T03:58:54.1080000Z</dcterms:created>
  <dcterms:modified xsi:type="dcterms:W3CDTF">2026-09-08T03:58:54.1090000Z</dcterms:modified>
</coreProperties>
</file>