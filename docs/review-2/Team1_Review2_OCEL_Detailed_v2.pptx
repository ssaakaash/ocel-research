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9T05:17:19.1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245 396 24575,'87'26'0,"-37"-12"0,1 2 0,6 4 0,1 1 0,7-1 0,1 0 0,0-1 0,-2-2 0,-3-4 0,-1-2 0,-8-2 0,-3-2 0,40 2 0,-12-6 0,-13 0 0,-13-3 0,-14 0 0,-19 0 0,-18 0 0,-48 0 0,-17 1 0,6 1 0,-6 0 0,-2 2 0,-3-1 0,-10 2 0,-2-2 0,-2 1 0,0-2 0,7 0 0,3 0 0,8-2 0,4 0 0,-34 0 0,29 0 0,25 0 0,20 0 0,23 0 0,25-3 0,23-5 0,19-7 0,16-9 0,-36 10 0,0-2 0,4-2 0,0-1 0,3-1 0,-1 1 0,-4 0 0,-2 0 0,40-20 0,-11 7 0,-7 0 0,-4 1 0,-3 0 0,0-2 0,-3-1 0,-8 1 0,-10 7 0,-11 7 0,-16 8 0,-13 6 0,-22 3 0,-30 2 0,-30 2 0,21 2 0,-4 2 0,-8 3 0,-4 1 0,-8 4 0,-2 2 0,-4 2 0,-1 0 0,5 0 0,0 0 0,3-1 0,3-1 0,12-4 0,4-1 0,-36 5 0,34-7 0,34-6 0,34-1 0,48-6 0,3-1 0,8-2 0,24-1 0,6-1 0,-21 2 0,1 0 0,1-1 0,2 0 0,0-1 0,-1 0 0,-5 1 0,-2-1 0,-2 0 0,19-4 0,-5 0 0,-16 1 0,-5 0 0,16-5 0,-33 7 0,-22 6 0,-18 15 0,-20 23 0,-23 35 0,12-21 0,-1 2 0,-3 4 0,0 0 0,2-3 0,1-2 0,-17 25 0,20-28 0,16-29 0,52-95 0,3-7 0,-2 8 0,3-3 0,-8 21 0,-1 3 0,-3 6 0,-2 5 0,19-20 0,-19 31 0,-11 19 0,-5 26 0,2 34 0,9 36 0,-7-24 0,2 4 0,2 5 0,0 1 0,1-8 0,-1-2 0,16 34 0,-12-37 0,-8-28 0,-7-15 0,-3-13 0,3-22 0,4-29 0,2-24 0,3-11 0,-3 14 0,-2 26 0,-4 22 0,-1 17 0,7 17 0,16 32 0,21 35 0,-21-25 0,2 2 0,-1-1 0,-1-1 0,19 27 0,-19-29 0,-16-30 0,-8-40 0,-9-48 0,-5 17 0,-1-5 0,-1-8 0,-1 0 0,1 7 0,-1 4 0,-2-25 0,9 36 0,8 29 0,11 25 0,13 21 0,8 18 0,-1 2 0,-9-9 0,-12-18 0,-10-22 0,-5-39 0,-2 3 0,0-16 0,2 30 0,11 13 0,19 20 0,19 18 0,10 12 0,-2 2 0,-14-11 0,-19-17 0,-11-23 0,-10-38 0,-4-35 0,-1-18 0,0 8 0,2 31 0,9 32 0,17 37 0,17 33 0,11 19 0,-1 6 0,-11-15 0,-16-21 0,-12-9 0,-3-3 0,4 10 0,7 7 0,2 0 0,-1-4 0,-8-20 0,-2-41 0,-5-43 0,-6 18 0,0-4 0,-1-6 0,0 0 0,0 10 0,0 3 0,3-23 0,-1 33 0,1 23 0,6 12 0,13 28 0,14 31 0,7 23 0,0 10 0,-9-21 0,-13-23 0,-12-21 0,-10-28 0,-5-27 0,-3-22 0,0-7 0,2 13 0,2 22 0,6 25 0,10 23 0,9 20 0,7 7 0,-1-1 0,-8-12 0,-10-12 0,-6-7 0,-5-5 0,3-1 0,5 6 0,7 14 0,6 18 0,4 11 0,-1-1 0,-1-12 0,-5-16 0,-5-13 0,-3-10 0,-2-5 0,2-3 0,-1-2 0,1-2 0,-4-2 0,-1-3 0,-1-1 0,2-6 0,5-5 0,1-2 0,0 0 0,-3 6 0,-4 3 0,-3 1 0,-1 2 0,-1 0 0,0 0 0,0 1 0,0-3 0,0 1 0,0 0 0,0 2 0,0 0 0,-4 3 0,-17 13 0,-13 9 0,-18 15 0,-1 6 0,6-4 0,6-3 0,10-8 0,7-6 0,4-6 0,3-2 0,-2 0 0,3-1 0,0 1 0,0-2 0,3 0 0,-1 0 0,3-2 0,-2-1 0,0 0 0,-2 2 0,0 0 0,1 1 0,1-3 0,4 2 0,0-1 0,-2 2 0,-3 5 0,-4 4 0,-2 5 0,-2 2 0,3-2 0,3-2 0,5-2 0,2-4 0,3-1 0,5-3 0,25-3 0,-16-2 0,18-2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Local: Review_1_Team1_OCEL.pptx, slide 1.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Local: Review 2 guidelines and provided PPT template. Real approval evidence not yet supplied.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Local: Review_1_Team1_OCEL.pptx; Educational Capstone Portal audit-trail.md; domain-model.md.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Local: Team1_Review2_Package/data and results; Educational Capstone Portal state-machines.md.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OCEL 2.0: https://www.ocel-standard.org/2.0/ocel20_specification.pdf</a:t>
            </a:r>
          </a:p>
          <a:p>
            <a:r>
              <a:t>van der Aalst 2019: https://doi.org/10.1007/978-3-030-30446-1_1</a:t>
            </a:r>
          </a:p>
          <a:p>
            <a:r>
              <a:t>Park et al. 2024: https://doi.org/10.1007/978-3-031-70418-5_11</a:t>
            </a:r>
          </a:p>
          <a:p>
            <a:r>
              <a:t>Miri et al. 2026: https://doi.org/10.1016/j.dajour.2026.100724</a:t>
            </a:r>
          </a:p>
          <a:p>
            <a:r>
              <a:t>Wei et al. 2025: https://doi.org/10.1016/j.datak.2025.102485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Miri et al. 2026: https://doi.org/10.1016/j.dajour.2026.100724</a:t>
            </a:r>
          </a:p>
          <a:p>
            <a:r>
              <a:t>Wei et al. 2025: https://doi.org/10.1016/j.datak.2025.102485</a:t>
            </a:r>
          </a:p>
          <a:p>
            <a:r>
              <a:t>Local: Educational Capstone Portal known-gaps.md; domain-model.md; state-machines.md.</a:t>
            </a:r>
          </a:p>
          <a:p>
            <a:r>
              <a:t>Inference: targeted-search novelty boundary, not a universal first claim.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Local: Review 1 objectives; generated prototype artifacts; TRL assessment is Team 1’s internal estimate and requires guide confirmation.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Local code inspected: docs/educational-capstone-platform/; synthetic/src/team1_synthetic_ocel.py; synthetic/src/analyze_team1_synthetic.py; synthetic/data/; synthetic/results/; demo/app/page.tsx; scripts/check_package.py; .github/workflows/validate.yml.</a:t>
            </a:r>
          </a:p>
          <a:p>
            <a:r>
              <a:t>Architecture represents the implemented repository. The demo uses packaged synthetic values and makes no live Educational Capstone Portal request.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Local: Team1_Research_Execution_Prompt.txt; Educational Capstone Portal architecture documents.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Local methodology implementation: synthetic/src/team1_synthetic_ocel.py and synthetic/src/analyze_team1_synthetic.py.</a:t>
            </a:r>
          </a:p>
          <a:p>
            <a:r>
              <a:t>Configuration: seed 4971, 120 projects per scenario, three scenarios, project-grouped 70/15/15 Markov split, and 5,000 synthetic projects per intervention policy.</a:t>
            </a:r>
          </a:p>
          <a:p>
            <a:r>
              <a:t>All outcomes are synthetic prototype evidence, not observed institutional performance or causal effects.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Local synthetic results: Team1_Review2_Package/results/experiment_summary.json; seed 4971.</a:t>
            </a:r>
          </a:p>
          <a:p>
            <a:r>
              <a:t>All percentages are generated feasibility results, not institutional operational measurements.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Local: Team1_Review2_Package/results/experiment_summary.json and data/manifest.json.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https://www.ocel-standard.org/2.0/ocel20_specification.pdf</a:t>
            </a:r>
          </a:p>
          <a:p>
            <a:r>
              <a:t>https://doi.org/10.1007/978-3-030-30446-1_1</a:t>
            </a:r>
          </a:p>
          <a:p>
            <a:r>
              <a:t>https://doi.org/10.1007/978-3-031-70418-5_11</a:t>
            </a:r>
          </a:p>
          <a:p>
            <a:r>
              <a:t>https://doi.org/10.1109/ICPM53251.2021.9576846</a:t>
            </a:r>
          </a:p>
          <a:p>
            <a:r>
              <a:t>https://doi.org/10.1002/widm.1230</a:t>
            </a:r>
          </a:p>
          <a:p>
            <a:r>
              <a:t>https://doi.org/10.1002/widm.70005</a:t>
            </a:r>
          </a:p>
          <a:p>
            <a:r>
              <a:t>https://doi.org/10.1016/j.dajour.2026.100724</a:t>
            </a:r>
          </a:p>
          <a:p>
            <a:r>
              <a:t>https://doi.org/10.1016/j.datak.2025.102485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3E78AE-7F97-4550-9DD8-BF69171FDC30}" type="datetime1">
              <a:t>9/9/26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5201FD4-9D8D-4491-815B-63C7BF4F00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EA886FF-1BA7-4533-94E6-869CE1E2970B}" type="datetime1">
              <a:t>9/9/26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5201FD4-9D8D-4491-815B-63C7BF4F00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3E22BD8-A2C4-424B-809A-C64DDCC305D9}" type="datetime1">
              <a:t>9/9/26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5201FD4-9D8D-4491-815B-63C7BF4F00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620F4BC-B3A4-46AF-9AEC-8478EF1369D5}" type="datetime1">
              <a:t>9/9/26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5201FD4-9D8D-4491-815B-63C7BF4F00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C9A2993-B405-4F4D-B968-A01C27211659}" type="datetime1">
              <a:t>9/9/26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5201FD4-9D8D-4491-815B-63C7BF4F00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9378C8C-5FBB-4DD7-A06D-BE263480794B}" type="datetime1">
              <a:t>9/9/26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5201FD4-9D8D-4491-815B-63C7BF4F00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1FD2985-06EC-459B-80C8-F6F4362A1C03}" type="datetime1">
              <a:t>9/9/26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5201FD4-9D8D-4491-815B-63C7BF4F00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1D7E9DA-13C6-48A4-9305-B592482DE8CE}" type="datetime1">
              <a:t>9/9/26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5201FD4-9D8D-4491-815B-63C7BF4F00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45E7C4B-C575-4DCF-9B63-045662930500}" type="datetime1">
              <a:t>9/9/26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5201FD4-9D8D-4491-815B-63C7BF4F00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576931C-EA1A-43DD-B3B3-66F5BA587712}" type="datetime1">
              <a:t>9/9/26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5201FD4-9D8D-4491-815B-63C7BF4F00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2C9B0E1-7C95-4C20-B9C6-BA51F388E878}" type="datetime1">
              <a:t>9/9/26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5201FD4-9D8D-4491-815B-63C7BF4F00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t>9/9/26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2000" b="1"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highlight>
                  <a:srgbClr val="FFFF00"/>
                </a:highlight>
                <a:latin typeface="Times New Roman"/>
                <a:ea typeface="Times New Roman"/>
                <a:cs typeface="Times New Roman"/>
              </a:rPr>
              <a:t>B.Tech. (CSE) | BCSE497J – Project-I</a:t>
            </a:r>
          </a:p>
          <a:p>
            <a:pPr algn="ctr">
              <a:buNone/>
              <a:defRPr sz="2000" b="1"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highlight>
                  <a:srgbClr val="FFFF00"/>
                </a:highlight>
                <a:latin typeface="Times New Roman"/>
                <a:ea typeface="Times New Roman"/>
                <a:cs typeface="Times New Roman"/>
              </a:rPr>
              <a:t>Object-Centric Event Log Mining for Academic Capstone Processes:</a:t>
            </a:r>
          </a:p>
          <a:p>
            <a:pPr algn="ctr">
              <a:buNone/>
              <a:defRPr sz="2000" b="1"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highlight>
                  <a:srgbClr val="FFFF00"/>
                </a:highlight>
                <a:latin typeface="Times New Roman"/>
                <a:ea typeface="Times New Roman"/>
                <a:cs typeface="Times New Roman"/>
              </a:rPr>
              <a:t>A Native OCEL 2.0 Approach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>
            <a:spLocks noGrp="1"/>
          </p:cNvSpPr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anchor="ctr">
            <a:normAutofit/>
          </a:bodyPr>
          <a:lstStyle/>
          <a:p>
            <a:pPr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Team members:
Aakaash Sathya Saravanan  (23BCE0500)
Mitisha Sharma  (23BCE0434)
Tanmay Khambete  (23BCE0498)
Faculty guide:
Dr. Kalyanaraman P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>
                <a:latin typeface="Times New Roman"/>
                <a:ea typeface="Times New Roman"/>
                <a:cs typeface="Times New Roman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ctr">
              <a:buNone/>
              <a:defRPr sz="2250" b="1">
                <a:solidFill>
                  <a:srgbClr val="9C65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1">
                <a:solidFill>
                  <a:srgbClr val="9C65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</a:rPr>
              <a:t>PLACEHOLDER — insert the actual guide approval email screenshot before submission.</a:t>
            </a:r>
          </a:p>
          <a:p>
            <a:pPr algn="ctr">
              <a:buNone/>
              <a:defRPr sz="2250" b="1">
                <a:solidFill>
                  <a:srgbClr val="9C65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1">
                <a:solidFill>
                  <a:srgbClr val="9C65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</a:rPr>
              <a:t>Approval should cover attendance, PPT, demonstration, initial draft report, and outcome report.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505E44D-5487-78FD-38E7-A2F87BC64A37}" type="datetime1">
              <a:rPr lang="en-US"/>
              <a:t>9/9/26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598689-54C9-18A7-3A19-ED76AA08988F}" type="slidenum">
              <a:rPr/>
              <a:t>2</a:t>
            </a:fld>
            <a:endParaRPr/>
          </a:p>
        </p:txBody>
      </p:sp>
      <p:pic>
        <p:nvPicPr>
          <p:cNvPr id="13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505" y="2653482"/>
            <a:ext cx="3296214" cy="32962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D9680A-3352-6E68-161D-A4745FE169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16" y="1690688"/>
            <a:ext cx="11282768" cy="387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28" indent="-16">
              <a:lnSpc>
                <a:spcPct val="105000"/>
              </a:lnSpc>
              <a:spcAft>
                <a:spcPts val="7"/>
              </a:spcAft>
              <a:buNone/>
              <a:defRPr sz="19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Model the </a:t>
            </a:r>
            <a:r>
              <a:rPr lang="en-US" sz="20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educational </a:t>
            </a:r>
            <a:r>
              <a:rPr sz="20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portal’s documented workflow as OCEL 2.0 while preserving events shared by Project, Team, Student, Faculty, </a:t>
            </a:r>
            <a:r>
              <a:rPr sz="20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ReportVersion</a:t>
            </a:r>
            <a:r>
              <a:rPr sz="20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and Score.</a:t>
            </a:r>
          </a:p>
          <a:p>
            <a:pPr marL="28" indent="-16">
              <a:lnSpc>
                <a:spcPct val="105000"/>
              </a:lnSpc>
              <a:spcAft>
                <a:spcPts val="7"/>
              </a:spcAft>
              <a:buNone/>
              <a:defRPr sz="19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Measure</a:t>
            </a:r>
            <a:r>
              <a:rPr lang="en-US" sz="20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20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lang="en-US" sz="2000" dirty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marL="457212" indent="-457200">
              <a:lnSpc>
                <a:spcPct val="105000"/>
              </a:lnSpc>
              <a:spcAft>
                <a:spcPts val="7"/>
              </a:spcAft>
              <a:buFont typeface="+mj-lt"/>
              <a:buAutoNum type="arabicPeriod"/>
              <a:defRPr sz="19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information lost by single-case flattening, </a:t>
            </a:r>
            <a:endParaRPr lang="en-US" sz="2000" dirty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marL="457212" indent="-457200">
              <a:lnSpc>
                <a:spcPct val="105000"/>
              </a:lnSpc>
              <a:spcAft>
                <a:spcPts val="7"/>
              </a:spcAft>
              <a:buFont typeface="+mj-lt"/>
              <a:buAutoNum type="arabicPeriod"/>
              <a:defRPr sz="19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detect documented state-machine deviations</a:t>
            </a:r>
            <a:endParaRPr lang="en-US" sz="2000" dirty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marL="457212" indent="-457200">
              <a:lnSpc>
                <a:spcPct val="105000"/>
              </a:lnSpc>
              <a:spcAft>
                <a:spcPts val="7"/>
              </a:spcAft>
              <a:buFont typeface="+mj-lt"/>
              <a:buAutoNum type="arabicPeriod"/>
              <a:defRPr sz="19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test transparent offline interventions.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 spc="-25">
                <a:latin typeface="Times New Roman"/>
                <a:ea typeface="Times New Roman"/>
                <a:cs typeface="Times New Roman"/>
              </a:rPr>
              <a:t>Aim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505E44D-5487-78FD-38E7-A2F87BC64A37}" type="datetime1">
              <a:rPr lang="en-US"/>
              <a:t>9/9/26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2359C0-8A7A-196E-DD58-8E6569619F09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285762" indent="-285750">
              <a:lnSpc>
                <a:spcPct val="105000"/>
              </a:lnSpc>
              <a:spcAft>
                <a:spcPts val="7"/>
              </a:spcAft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Capstone events cross multiple objects; forcing one case identifier duplicates events and hides supervision, version and scoring relationships.</a:t>
            </a:r>
          </a:p>
          <a:p>
            <a:pPr marL="285762" indent="-285750">
              <a:lnSpc>
                <a:spcPct val="105000"/>
              </a:lnSpc>
              <a:spcAft>
                <a:spcPts val="7"/>
              </a:spcAft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We map the documented capstone lifecycle to qualified E2O/O2O relations and export three seeded corpora: clean target, current R1-only baseline and gap-injected.</a:t>
            </a:r>
          </a:p>
          <a:p>
            <a:pPr marL="285762" indent="-285750">
              <a:lnSpc>
                <a:spcPct val="105000"/>
              </a:lnSpc>
              <a:spcAft>
                <a:spcPts val="7"/>
              </a:spcAft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prototype validates relational OCEL 2.0 output, compares flattened views, detects documented risks, predicts next transitions </a:t>
            </a:r>
            <a:r>
              <a:rPr sz="24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20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simulates interventions.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 spc="-25">
                <a:latin typeface="Times New Roman"/>
                <a:ea typeface="Times New Roman"/>
                <a:cs typeface="Times New Roman"/>
              </a:rPr>
              <a:t>Abstract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505E44D-5487-78FD-38E7-A2F87BC64A37}" type="datetime1">
              <a:rPr lang="en-US"/>
              <a:t>9/9/26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D6AB9A-5F9E-5F59-51AB-3C8734130965}" type="slidenum">
              <a:r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/>
        </p:blipFill>
        <p:spPr>
          <a:xfrm>
            <a:off x="4851886" y="1374470"/>
            <a:ext cx="2054530" cy="205453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 spc="-25">
                <a:latin typeface="Times New Roman"/>
                <a:ea typeface="Times New Roman"/>
                <a:cs typeface="Times New Roman"/>
              </a:rPr>
              <a:t>Literature Review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6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01803" y="4611603"/>
            <a:ext cx="487722" cy="4877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505E44D-5487-78FD-38E7-A2F87BC64A37}" type="datetime1">
              <a:rPr lang="en-US"/>
              <a:t>9/9/26</a:t>
            </a:fld>
            <a:endParaRPr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E5B3003-2C54-13C6-9832-7637201064DE}" type="slidenum">
              <a:rPr/>
              <a:t>5</a:t>
            </a:fld>
            <a:endParaRPr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rcRect r="25355"/>
          <a:stretch>
            <a:fillRect/>
          </a:stretch>
        </p:blipFill>
        <p:spPr>
          <a:xfrm>
            <a:off x="2055226" y="1374470"/>
            <a:ext cx="8081547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285762" indent="-285750">
              <a:lnSpc>
                <a:spcPct val="105000"/>
              </a:lnSpc>
              <a:spcAft>
                <a:spcPts val="7"/>
              </a:spcAft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 capstone lifecycle is a different process class: versioned reports, formal verification states, immutable scores, attempt limits and guide capacity interact transactionally.</a:t>
            </a:r>
          </a:p>
          <a:p>
            <a:pPr marL="285762" indent="-285750">
              <a:lnSpc>
                <a:spcPct val="105000"/>
              </a:lnSpc>
              <a:spcAft>
                <a:spcPts val="7"/>
              </a:spcAft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Existing studies do not directly evaluate this combination through a documentation-grounded normative–descriptive–adversarial benchmark and executable risk predicates.</a:t>
            </a:r>
          </a:p>
          <a:p>
            <a:pPr marL="285762" indent="-285750">
              <a:lnSpc>
                <a:spcPct val="105000"/>
              </a:lnSpc>
              <a:spcAft>
                <a:spcPts val="7"/>
              </a:spcAft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Proposed contribution: traceable counterfactual generation plus study-specific Cross-Object Observability Coverage (COOC). COOC measures analysis </a:t>
            </a:r>
            <a:r>
              <a:rPr lang="en-US" sz="16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readiness</a:t>
            </a:r>
            <a:r>
              <a:rPr sz="16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>
                <a:latin typeface="Times New Roman"/>
                <a:ea typeface="Times New Roman"/>
                <a:cs typeface="Times New Roman"/>
              </a:rPr>
              <a:t>Research Gap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505E44D-5487-78FD-38E7-A2F87BC64A37}" type="datetime1">
              <a:rPr lang="en-US"/>
              <a:t>9/9/26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C630A04-5A25-9E0C-9436-126091DB86B3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342912" indent="-342900">
              <a:lnSpc>
                <a:spcPct val="105000"/>
              </a:lnSpc>
              <a:spcAft>
                <a:spcPts val="7"/>
              </a:spcAft>
              <a:buFont typeface="+mj-lt"/>
              <a:buAutoNum type="arabicPeriod"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Export a validated relational OCEL 2.0 mapping for the portal’s multi-object lifecycle.</a:t>
            </a:r>
          </a:p>
          <a:p>
            <a:pPr marL="342912" indent="-342900">
              <a:lnSpc>
                <a:spcPct val="105000"/>
              </a:lnSpc>
              <a:spcAft>
                <a:spcPts val="7"/>
              </a:spcAft>
              <a:buFont typeface="+mj-lt"/>
              <a:buAutoNum type="arabicPeriod"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Quantify relation loss under Project-, Student- and </a:t>
            </a:r>
            <a:r>
              <a:rPr sz="15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ReportVersion</a:t>
            </a:r>
            <a:r>
              <a:rPr sz="15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-centric flattening.</a:t>
            </a:r>
          </a:p>
          <a:p>
            <a:pPr marL="342912" indent="-342900">
              <a:lnSpc>
                <a:spcPct val="105000"/>
              </a:lnSpc>
              <a:spcAft>
                <a:spcPts val="7"/>
              </a:spcAft>
              <a:buFont typeface="+mj-lt"/>
              <a:buAutoNum type="arabicPeriod"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Detect documented gaps and measure representation-level observability.</a:t>
            </a:r>
          </a:p>
          <a:p>
            <a:pPr marL="342912" indent="-342900">
              <a:lnSpc>
                <a:spcPct val="105000"/>
              </a:lnSpc>
              <a:spcAft>
                <a:spcPts val="7"/>
              </a:spcAft>
              <a:buFont typeface="+mj-lt"/>
              <a:buAutoNum type="arabicPeriod"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Evaluate a grouped next-transition baseline and offline attempt/capacity interventions.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>
                <a:latin typeface="Times New Roman"/>
                <a:ea typeface="Times New Roman"/>
                <a:cs typeface="Times New Roman"/>
              </a:rPr>
              <a:t>Objectives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505E44D-5487-78FD-38E7-A2F87BC64A37}" type="datetime1">
              <a:rPr lang="en-US">
                <a:latin typeface="Times New Roman"/>
                <a:ea typeface="Times New Roman"/>
                <a:cs typeface="Times New Roman"/>
              </a:rPr>
              <a:t>9/9/26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D7D1C8-AE23-AA48-DF65-C742588DBE47}" type="slidenum">
              <a:rPr>
                <a:latin typeface="Times New Roman"/>
                <a:ea typeface="Times New Roman"/>
                <a:cs typeface="Times New Roman"/>
              </a:rPr>
              <a:t>7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>
            <a:spLocks noGrp="1"/>
          </p:cNvSpPr>
          <p:nvPr/>
        </p:nvSpPr>
        <p:spPr>
          <a:xfrm>
            <a:off x="460248" y="4000500"/>
            <a:ext cx="11523440" cy="55245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buNone/>
              <a:defRPr sz="1200" b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SDGs: 4 — Quality Education; 9 — Industry, Innovation &amp; Infrastructure     |     Outcome: reusable product + journal paper     |     Current prototype TRL: 4</a:t>
            </a:r>
          </a:p>
        </p:txBody>
      </p:sp>
      <p:pic>
        <p:nvPicPr>
          <p:cNvPr id="16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701" y="4778273"/>
            <a:ext cx="1968651" cy="1578077"/>
          </a:xfrm>
          <a:prstGeom prst="rect">
            <a:avLst/>
          </a:prstGeom>
        </p:spPr>
      </p:pic>
      <p:pic>
        <p:nvPicPr>
          <p:cNvPr id="17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545" y="4413148"/>
            <a:ext cx="2447027" cy="2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4647" y="1374470"/>
            <a:ext cx="10169009" cy="205453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681037"/>
            <a:ext cx="10515600" cy="605409"/>
          </a:xfrm>
          <a:prstGeom prst="rect">
            <a:avLst/>
          </a:prstGeom>
        </p:spPr>
        <p:txBody>
          <a:bodyPr vert="horz" wrap="square" lIns="0" tIns="113919" rIns="0" bIns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  <a:buNone/>
              <a:defRPr sz="32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 spc="-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Implemented Research Architecture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0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58" y="4611603"/>
            <a:ext cx="4017612" cy="4877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505E44D-5487-78FD-38E7-A2F87BC64A37}" type="datetime1">
              <a:rPr lang="en-US"/>
              <a:t>9/9/26</a:t>
            </a:fld>
            <a:endParaRPr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A58DA2A-B818-18A9-29C1-B697728D5BCE}" type="slidenum">
              <a:rPr/>
              <a:t>8</a:t>
            </a:fld>
            <a:endParaRPr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2625" y="1381125"/>
            <a:ext cx="10826750" cy="4429125"/>
          </a:xfrm>
          <a:prstGeom prst="rect">
            <a:avLst/>
          </a:prstGeom>
        </p:spPr>
      </p:pic>
      <p:sp>
        <p:nvSpPr>
          <p:cNvPr id="14" name="Updated content background">
            <a:extLst>
              <a:ext uri="{FF2B5EF4-FFF2-40B4-BE49-F238E27FC236}">
                <a16:creationId xmlns:a16="http://schemas.microsoft.com/office/drawing/2014/main" id="{AF391357-ED5A-40FB-BEF7-DBC52565247D}"/>
              </a:ext>
            </a:extLst>
          </p:cNvPr>
          <p:cNvSpPr>
            <a:spLocks noGrp="1"/>
          </p:cNvSpPr>
          <p:nvPr/>
        </p:nvSpPr>
        <p:spPr>
          <a:xfrm>
            <a:off x="457200" y="1314450"/>
            <a:ext cx="11277600" cy="49339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64CF85-A29B-4BA5-B7EC-5489E2137DC2}"/>
              </a:ext>
            </a:extLst>
          </p:cNvPr>
          <p:cNvSpPr>
            <a:spLocks noGrp="1"/>
          </p:cNvSpPr>
          <p:nvPr/>
        </p:nvSpPr>
        <p:spPr>
          <a:xfrm>
            <a:off x="571500" y="1381125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>
            <a:normAutofit/>
          </a:bodyPr>
          <a:lstStyle/>
          <a:p>
            <a:pPr>
              <a:defRPr sz="1275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defRPr>
            </a:pPr>
            <a:endParaRPr sz="1275" dirty="0">
              <a:solidFill>
                <a:srgbClr val="465B7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7D84CBD-6689-4E3F-A18A-D8357CBD078E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2857500" cy="1123950"/>
          </a:xfrm>
          <a:prstGeom prst="roundRect">
            <a:avLst>
              <a:gd name="adj" fmla="val 6780"/>
            </a:avLst>
          </a:prstGeom>
          <a:solidFill>
            <a:srgbClr val="EAF3FA"/>
          </a:solidFill>
          <a:ln w="13335">
            <a:solidFill>
              <a:srgbClr val="6D89A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Portal documentation model</a:t>
            </a:r>
          </a:p>
          <a:p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000" b="1">
                <a:solidFill>
                  <a:srgbClr val="275A80"/>
                </a:solidFill>
                <a:latin typeface="Times New Roman"/>
                <a:ea typeface="Times New Roman"/>
                <a:cs typeface="Times New Roman"/>
              </a:rPr>
              <a:t>docs/educational-capstone-platform/</a:t>
            </a:r>
          </a:p>
          <a:p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1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Lifecycle, domain objects, state machines and documented gaps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54BAFB8-C106-4FCF-B14A-C6F059F4AD47}"/>
              </a:ext>
            </a:extLst>
          </p:cNvPr>
          <p:cNvSpPr>
            <a:spLocks noGrp="1"/>
          </p:cNvSpPr>
          <p:nvPr/>
        </p:nvSpPr>
        <p:spPr>
          <a:xfrm>
            <a:off x="4667250" y="1809750"/>
            <a:ext cx="2857500" cy="1123950"/>
          </a:xfrm>
          <a:prstGeom prst="roundRect">
            <a:avLst>
              <a:gd name="adj" fmla="val 6780"/>
            </a:avLst>
          </a:prstGeom>
          <a:solidFill>
            <a:srgbClr val="E9F7F7"/>
          </a:solidFill>
          <a:ln w="13335">
            <a:solidFill>
              <a:srgbClr val="6D89A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Deterministic scenario generator</a:t>
            </a:r>
          </a:p>
          <a:p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000" b="1" dirty="0">
                <a:solidFill>
                  <a:srgbClr val="275A80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000" b="1" dirty="0" err="1">
                <a:solidFill>
                  <a:srgbClr val="275A80"/>
                </a:solidFill>
                <a:latin typeface="Times New Roman"/>
                <a:ea typeface="Times New Roman"/>
                <a:cs typeface="Times New Roman"/>
              </a:rPr>
              <a:t>src</a:t>
            </a:r>
            <a:r>
              <a:rPr sz="1000" b="1" dirty="0">
                <a:solidFill>
                  <a:srgbClr val="275A80"/>
                </a:solidFill>
                <a:latin typeface="Times New Roman"/>
                <a:ea typeface="Times New Roman"/>
                <a:cs typeface="Times New Roman"/>
              </a:rPr>
              <a:t>/team1_synthetic_ocel.py</a:t>
            </a:r>
          </a:p>
          <a:p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100" dirty="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Seed 4971; clean, R1-only and gap-injected lifecycles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EB399F3-98EE-4DCD-B16A-A635B6D57A50}"/>
              </a:ext>
            </a:extLst>
          </p:cNvPr>
          <p:cNvSpPr>
            <a:spLocks noGrp="1"/>
          </p:cNvSpPr>
          <p:nvPr/>
        </p:nvSpPr>
        <p:spPr>
          <a:xfrm>
            <a:off x="8763000" y="1809750"/>
            <a:ext cx="2857500" cy="1123950"/>
          </a:xfrm>
          <a:prstGeom prst="roundRect">
            <a:avLst>
              <a:gd name="adj" fmla="val 6780"/>
            </a:avLst>
          </a:prstGeom>
          <a:solidFill>
            <a:srgbClr val="EEF6E8"/>
          </a:solidFill>
          <a:ln w="13335">
            <a:solidFill>
              <a:srgbClr val="6D89A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Generated OCEL corpus</a:t>
            </a:r>
          </a:p>
          <a:p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000" b="1" dirty="0">
                <a:solidFill>
                  <a:srgbClr val="275A80"/>
                </a:solidFill>
                <a:latin typeface="Times New Roman"/>
                <a:ea typeface="Times New Roman"/>
                <a:cs typeface="Times New Roman"/>
              </a:rPr>
              <a:t>/data/&lt;scenario&gt;/</a:t>
            </a:r>
          </a:p>
          <a:p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100" dirty="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Objects, events, E2O/O2O, labels, SQLite and manifest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D928966-3C7F-471B-96E6-616EEB37B13E}"/>
              </a:ext>
            </a:extLst>
          </p:cNvPr>
          <p:cNvSpPr>
            <a:spLocks noGrp="1"/>
          </p:cNvSpPr>
          <p:nvPr/>
        </p:nvSpPr>
        <p:spPr>
          <a:xfrm>
            <a:off x="8763000" y="3667125"/>
            <a:ext cx="2857500" cy="1123950"/>
          </a:xfrm>
          <a:prstGeom prst="roundRect">
            <a:avLst>
              <a:gd name="adj" fmla="val 6780"/>
            </a:avLst>
          </a:prstGeom>
          <a:solidFill>
            <a:srgbClr val="FFF5D7"/>
          </a:solidFill>
          <a:ln w="13335">
            <a:solidFill>
              <a:srgbClr val="6D89A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Analysis engine</a:t>
            </a:r>
          </a:p>
          <a:p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000" b="1" dirty="0">
                <a:solidFill>
                  <a:srgbClr val="275A80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000" b="1" dirty="0" err="1">
                <a:solidFill>
                  <a:srgbClr val="275A80"/>
                </a:solidFill>
                <a:latin typeface="Times New Roman"/>
                <a:ea typeface="Times New Roman"/>
                <a:cs typeface="Times New Roman"/>
              </a:rPr>
              <a:t>src</a:t>
            </a:r>
            <a:r>
              <a:rPr sz="1000" b="1" dirty="0">
                <a:solidFill>
                  <a:srgbClr val="275A80"/>
                </a:solidFill>
                <a:latin typeface="Times New Roman"/>
                <a:ea typeface="Times New Roman"/>
                <a:cs typeface="Times New Roman"/>
              </a:rPr>
              <a:t>/analyze_team1_synthetic.py</a:t>
            </a:r>
          </a:p>
          <a:p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100" dirty="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Flattening, six rules, COOC, Markov baseline and policy simulation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4BF687C-6FAF-48B0-A0F3-58CAF1D3A4A2}"/>
              </a:ext>
            </a:extLst>
          </p:cNvPr>
          <p:cNvSpPr>
            <a:spLocks noGrp="1"/>
          </p:cNvSpPr>
          <p:nvPr/>
        </p:nvSpPr>
        <p:spPr>
          <a:xfrm>
            <a:off x="4667250" y="3667125"/>
            <a:ext cx="2857500" cy="1123950"/>
          </a:xfrm>
          <a:prstGeom prst="roundRect">
            <a:avLst>
              <a:gd name="adj" fmla="val 6780"/>
            </a:avLst>
          </a:prstGeom>
          <a:solidFill>
            <a:srgbClr val="FCEDE4"/>
          </a:solidFill>
          <a:ln w="13335">
            <a:solidFill>
              <a:srgbClr val="6D89A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Evidence outputs</a:t>
            </a:r>
          </a:p>
          <a:p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000" b="1" dirty="0">
                <a:solidFill>
                  <a:srgbClr val="275A80"/>
                </a:solidFill>
                <a:latin typeface="Times New Roman"/>
                <a:ea typeface="Times New Roman"/>
                <a:cs typeface="Times New Roman"/>
              </a:rPr>
              <a:t>/results/</a:t>
            </a:r>
          </a:p>
          <a:p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100" dirty="0" err="1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experiment_summary.json</a:t>
            </a:r>
            <a:r>
              <a:rPr sz="1100" dirty="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 plus six auditable CSV result files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C90187C-3789-46E2-BC9B-FDBB8522BD16}"/>
              </a:ext>
            </a:extLst>
          </p:cNvPr>
          <p:cNvSpPr>
            <a:spLocks noGrp="1"/>
          </p:cNvSpPr>
          <p:nvPr/>
        </p:nvSpPr>
        <p:spPr>
          <a:xfrm>
            <a:off x="571500" y="3667125"/>
            <a:ext cx="2857500" cy="1123950"/>
          </a:xfrm>
          <a:prstGeom prst="roundRect">
            <a:avLst>
              <a:gd name="adj" fmla="val 6780"/>
            </a:avLst>
          </a:prstGeom>
          <a:solidFill>
            <a:srgbClr val="F1EEFA"/>
          </a:solidFill>
          <a:ln w="13335">
            <a:solidFill>
              <a:srgbClr val="6D89A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Professor-facing demo</a:t>
            </a:r>
          </a:p>
          <a:p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000" b="1">
                <a:solidFill>
                  <a:srgbClr val="275A80"/>
                </a:solidFill>
                <a:latin typeface="Times New Roman"/>
                <a:ea typeface="Times New Roman"/>
                <a:cs typeface="Times New Roman"/>
              </a:rPr>
              <a:t>demo/app/page.tsx</a:t>
            </a:r>
          </a:p>
          <a:p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1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Packaged values, scenario controls and WebMCP actions; no portal request</a:t>
            </a:r>
          </a:p>
        </p:txBody>
      </p:sp>
      <p:cxnSp>
        <p:nvCxnSpPr>
          <p:cNvPr id="43" name="Straight Arrow Connector 42"/>
          <p:cNvCxnSpPr>
            <a:stCxn id="16" idx="3"/>
            <a:endCxn id="17" idx="1"/>
          </p:cNvCxnSpPr>
          <p:nvPr/>
        </p:nvCxnSpPr>
        <p:spPr>
          <a:xfrm>
            <a:off x="3429000" y="2371725"/>
            <a:ext cx="1238250" cy="0"/>
          </a:xfrm>
          <a:prstGeom prst="straightConnector1">
            <a:avLst/>
          </a:prstGeom>
          <a:ln w="23813">
            <a:solidFill>
              <a:srgbClr val="6B94B5"/>
            </a:solidFill>
            <a:prstDash val="solid"/>
            <a:tailEnd type="triangle" w="med" len="med"/>
          </a:ln>
        </p:spPr>
      </p:cxnSp>
      <p:cxnSp>
        <p:nvCxnSpPr>
          <p:cNvPr id="44" name="Straight Arrow Connector 43"/>
          <p:cNvCxnSpPr>
            <a:stCxn id="17" idx="3"/>
            <a:endCxn id="18" idx="1"/>
          </p:cNvCxnSpPr>
          <p:nvPr/>
        </p:nvCxnSpPr>
        <p:spPr>
          <a:xfrm>
            <a:off x="7524750" y="2371725"/>
            <a:ext cx="1238250" cy="0"/>
          </a:xfrm>
          <a:prstGeom prst="straightConnector1">
            <a:avLst/>
          </a:prstGeom>
          <a:ln w="23813">
            <a:solidFill>
              <a:srgbClr val="6B94B5"/>
            </a:solidFill>
            <a:prstDash val="solid"/>
            <a:tailEnd type="triangle" w="med" len="med"/>
          </a:ln>
        </p:spPr>
      </p:cxnSp>
      <p:cxnSp>
        <p:nvCxnSpPr>
          <p:cNvPr id="45" name="Straight Arrow Connector 44"/>
          <p:cNvCxnSpPr>
            <a:stCxn id="18" idx="2"/>
            <a:endCxn id="19" idx="0"/>
          </p:cNvCxnSpPr>
          <p:nvPr/>
        </p:nvCxnSpPr>
        <p:spPr>
          <a:xfrm>
            <a:off x="10191750" y="2933700"/>
            <a:ext cx="0" cy="733425"/>
          </a:xfrm>
          <a:prstGeom prst="straightConnector1">
            <a:avLst/>
          </a:prstGeom>
          <a:ln w="23813">
            <a:solidFill>
              <a:srgbClr val="6B94B5"/>
            </a:solidFill>
            <a:prstDash val="solid"/>
            <a:tailEnd type="triangle" w="med" len="med"/>
          </a:ln>
        </p:spPr>
      </p:cxnSp>
      <p:cxnSp>
        <p:nvCxnSpPr>
          <p:cNvPr id="46" name="Straight Arrow Connector 45"/>
          <p:cNvCxnSpPr>
            <a:stCxn id="19" idx="1"/>
            <a:endCxn id="20" idx="3"/>
          </p:cNvCxnSpPr>
          <p:nvPr/>
        </p:nvCxnSpPr>
        <p:spPr>
          <a:xfrm flipH="1">
            <a:off x="7524750" y="4229100"/>
            <a:ext cx="1238250" cy="0"/>
          </a:xfrm>
          <a:prstGeom prst="straightConnector1">
            <a:avLst/>
          </a:prstGeom>
          <a:ln w="23813">
            <a:solidFill>
              <a:srgbClr val="6B94B5"/>
            </a:solidFill>
            <a:prstDash val="solid"/>
            <a:tailEnd type="triangle" w="med" len="med"/>
          </a:ln>
        </p:spPr>
      </p:cxnSp>
      <p:cxnSp>
        <p:nvCxnSpPr>
          <p:cNvPr id="47" name="Straight Arrow Connector 46"/>
          <p:cNvCxnSpPr>
            <a:stCxn id="20" idx="1"/>
            <a:endCxn id="21" idx="3"/>
          </p:cNvCxnSpPr>
          <p:nvPr/>
        </p:nvCxnSpPr>
        <p:spPr>
          <a:xfrm flipH="1">
            <a:off x="3429000" y="4229100"/>
            <a:ext cx="1238250" cy="0"/>
          </a:xfrm>
          <a:prstGeom prst="straightConnector1">
            <a:avLst/>
          </a:prstGeom>
          <a:ln w="23813">
            <a:solidFill>
              <a:srgbClr val="6B94B5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FR1 — Generate clean, R1-only and gap-injected project lifecycles from one recorded seed/configuration.</a:t>
            </a:r>
          </a:p>
          <a:p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FR2 — Preserve qualified Event-to-Object and Object-to-Object relations with pseudonymous IDs.</a:t>
            </a:r>
          </a:p>
          <a:p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FR3 — Export OCEL 2.0 relational SQLite plus human-auditable CSV evidence tables.</a:t>
            </a:r>
          </a:p>
          <a:p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FR4 — Validate references, timestamps, required tables and reproducible file checksums.</a:t>
            </a:r>
          </a:p>
          <a:p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FR5 — Compare single-case flattening and detect G5, G9, E5, E10, E12 and E15 conditions.</a:t>
            </a:r>
          </a:p>
          <a:p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FR6 — Report grouped next-transition metrics and offline policy scenarios with synthetic labels.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>
                <a:latin typeface="Times New Roman"/>
                <a:ea typeface="Times New Roman"/>
                <a:cs typeface="Times New Roman"/>
              </a:rPr>
              <a:t>Functional Requirements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505E44D-5487-78FD-38E7-A2F87BC64A37}" type="datetime1">
              <a:rPr lang="en-US">
                <a:latin typeface="Times New Roman"/>
                <a:ea typeface="Times New Roman"/>
                <a:cs typeface="Times New Roman"/>
              </a:rPr>
              <a:t>9/9/26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8657AE-30A1-5A7A-6A7F-315D84436430}" type="slidenum">
              <a:rPr>
                <a:latin typeface="Times New Roman"/>
                <a:ea typeface="Times New Roman"/>
                <a:cs typeface="Times New Roman"/>
              </a:rPr>
              <a:t>9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Completed (8/12): schema map, seeded generator, CSV evidence export, OCEL SQLite export, integrity validator, flattening comparator, six gap detectors, Markov + offline simulation baseline.</a:t>
            </a:r>
          </a:p>
          <a:p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Generated evidence: 120 projects/scenario; 2,083 events and 7,471 E2O links in the gap-injected corpus; zero dangling relations; monotonic project timestamps.</a:t>
            </a:r>
          </a:p>
          <a:p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Remaining (4/12): real-log ingestion, PM4Py OC-DFG/conformance integration, object-aware predictor, empirical twin calibration.</a:t>
            </a:r>
          </a:p>
          <a:p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Implementation readiness: 67% of the declared Review 2 module scope; production claims remain explicitly out of scope.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248" y="681037"/>
            <a:ext cx="10515600" cy="605409"/>
          </a:xfrm>
          <a:prstGeom prst="rect">
            <a:avLst/>
          </a:prstGeom>
        </p:spPr>
        <p:txBody>
          <a:bodyPr vert="horz" wrap="square" lIns="0" tIns="113919" rIns="0" bIns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  <a:buNone/>
              <a:defRPr sz="32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Methodology</a:t>
            </a:r>
            <a:endParaRPr sz="30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505E44D-5487-78FD-38E7-A2F87BC64A37}" type="datetime1">
              <a:rPr lang="en-US">
                <a:latin typeface="Times New Roman"/>
                <a:ea typeface="Times New Roman"/>
                <a:cs typeface="Times New Roman"/>
              </a:rPr>
              <a:t>9/9/26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7BEEEC-A170-5376-2B6E-CB54687B0CB1}" type="slidenum">
              <a:rPr>
                <a:latin typeface="Times New Roman"/>
                <a:ea typeface="Times New Roman"/>
                <a:cs typeface="Times New Roman"/>
              </a:rPr>
              <a:t>10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Updated content background">
            <a:extLst>
              <a:ext uri="{FF2B5EF4-FFF2-40B4-BE49-F238E27FC236}">
                <a16:creationId xmlns:a16="http://schemas.microsoft.com/office/drawing/2014/main" id="{3CA1681E-EA8C-4B83-96B1-8434CC4DF6DD}"/>
              </a:ext>
            </a:extLst>
          </p:cNvPr>
          <p:cNvSpPr>
            <a:spLocks noGrp="1"/>
          </p:cNvSpPr>
          <p:nvPr/>
        </p:nvSpPr>
        <p:spPr>
          <a:xfrm>
            <a:off x="457200" y="1314450"/>
            <a:ext cx="11277600" cy="49339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8EC207-CB17-40EA-B10C-58F5513DB975}"/>
              </a:ext>
            </a:extLst>
          </p:cNvPr>
          <p:cNvSpPr>
            <a:spLocks noGrp="1"/>
          </p:cNvSpPr>
          <p:nvPr/>
        </p:nvSpPr>
        <p:spPr>
          <a:xfrm>
            <a:off x="571500" y="1381125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>
            <a:normAutofit/>
          </a:bodyPr>
          <a:lstStyle/>
          <a:p>
            <a:pPr>
              <a:defRPr sz="1275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defRPr>
            </a:pPr>
            <a:endParaRPr sz="1275" dirty="0">
              <a:solidFill>
                <a:srgbClr val="465B7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0071E42-1C19-4940-9FDA-7C8358E16205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5219700" cy="1028700"/>
          </a:xfrm>
          <a:prstGeom prst="roundRect">
            <a:avLst>
              <a:gd name="adj" fmla="val 7407"/>
            </a:avLst>
          </a:prstGeom>
          <a:solidFill>
            <a:srgbClr val="EAF3FA"/>
          </a:solidFill>
          <a:ln w="10954">
            <a:solidFill>
              <a:srgbClr val="A5B4C2"/>
            </a:solidFill>
            <a:prstDash val="solid"/>
          </a:ln>
        </p:spPr>
        <p:txBody>
          <a:bodyPr wrap="square" lIns="152400" tIns="76200" rIns="133350" bIns="76200" anchor="ctr">
            <a:normAutofit/>
          </a:bodyPr>
          <a:lstStyle/>
          <a:p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1  Derive the object-centric model</a:t>
            </a:r>
          </a:p>
          <a:p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200" dirty="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Map portal documentation to seven object types and qualified E2O/O2O relations.</a:t>
            </a:r>
          </a:p>
          <a:p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200" dirty="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Register six cross-object risk predicates before evaluation.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5D15DB4-BA3E-4673-AB4F-6FD6363D71A7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5219700" cy="1028700"/>
          </a:xfrm>
          <a:prstGeom prst="roundRect">
            <a:avLst>
              <a:gd name="adj" fmla="val 7407"/>
            </a:avLst>
          </a:prstGeom>
          <a:solidFill>
            <a:srgbClr val="E9F7F7"/>
          </a:solidFill>
          <a:ln w="10954">
            <a:solidFill>
              <a:srgbClr val="A5B4C2"/>
            </a:solidFill>
            <a:prstDash val="solid"/>
          </a:ln>
        </p:spPr>
        <p:txBody>
          <a:bodyPr wrap="square" lIns="152400" tIns="76200" rIns="133350" bIns="76200" anchor="ctr">
            <a:normAutofit/>
          </a:bodyPr>
          <a:lstStyle/>
          <a:p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2  Generate controlled corpora</a:t>
            </a:r>
          </a:p>
          <a:p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200" dirty="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Use seed 4971 with 120 projects in each of three scenarios.</a:t>
            </a:r>
          </a:p>
          <a:p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200" dirty="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Model clean target, documented R1-only baseline and labelled gap injections.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B7BD6CA-6BF9-4243-88F8-E977E6EDF761}"/>
              </a:ext>
            </a:extLst>
          </p:cNvPr>
          <p:cNvSpPr>
            <a:spLocks noGrp="1"/>
          </p:cNvSpPr>
          <p:nvPr/>
        </p:nvSpPr>
        <p:spPr>
          <a:xfrm>
            <a:off x="571500" y="4191000"/>
            <a:ext cx="5219700" cy="1028700"/>
          </a:xfrm>
          <a:prstGeom prst="roundRect">
            <a:avLst>
              <a:gd name="adj" fmla="val 7407"/>
            </a:avLst>
          </a:prstGeom>
          <a:solidFill>
            <a:srgbClr val="EEF6E8"/>
          </a:solidFill>
          <a:ln w="10954">
            <a:solidFill>
              <a:srgbClr val="A5B4C2"/>
            </a:solidFill>
            <a:prstDash val="solid"/>
          </a:ln>
        </p:spPr>
        <p:txBody>
          <a:bodyPr wrap="square" lIns="152400" tIns="76200" rIns="133350" bIns="76200" anchor="ctr">
            <a:normAutofit/>
          </a:bodyPr>
          <a:lstStyle/>
          <a:p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3  Export and validate OCEL evidence</a:t>
            </a:r>
          </a:p>
          <a:p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Write auditable CSV tables, relational OCEL SQLite and a manifest with checksums.</a:t>
            </a:r>
          </a:p>
          <a:p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Verify tables, relation references and timestamp order per project.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77186D3-601E-4700-8077-4CCDDC0CFF07}"/>
              </a:ext>
            </a:extLst>
          </p:cNvPr>
          <p:cNvSpPr>
            <a:spLocks noGrp="1"/>
          </p:cNvSpPr>
          <p:nvPr/>
        </p:nvSpPr>
        <p:spPr>
          <a:xfrm>
            <a:off x="6400800" y="1809750"/>
            <a:ext cx="5219700" cy="1028700"/>
          </a:xfrm>
          <a:prstGeom prst="roundRect">
            <a:avLst>
              <a:gd name="adj" fmla="val 7407"/>
            </a:avLst>
          </a:prstGeom>
          <a:solidFill>
            <a:srgbClr val="FCEDE4"/>
          </a:solidFill>
          <a:ln w="10954">
            <a:solidFill>
              <a:srgbClr val="A5B4C2"/>
            </a:solidFill>
            <a:prstDash val="solid"/>
          </a:ln>
        </p:spPr>
        <p:txBody>
          <a:bodyPr wrap="square" lIns="152400" tIns="76200" rIns="133350" bIns="76200" anchor="ctr">
            <a:normAutofit/>
          </a:bodyPr>
          <a:lstStyle/>
          <a:p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4  Measure representation loss</a:t>
            </a:r>
          </a:p>
          <a:p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Flatten by Project, Student and ReportVersion, then compare against native OCEL.</a:t>
            </a:r>
          </a:p>
          <a:p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Report relation retention and study-specific COOC over six predicates.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40F8FAC-5D29-444A-A117-695DE41D4B3E}"/>
              </a:ext>
            </a:extLst>
          </p:cNvPr>
          <p:cNvSpPr>
            <a:spLocks noGrp="1"/>
          </p:cNvSpPr>
          <p:nvPr/>
        </p:nvSpPr>
        <p:spPr>
          <a:xfrm>
            <a:off x="6400800" y="3000375"/>
            <a:ext cx="5219700" cy="1028700"/>
          </a:xfrm>
          <a:prstGeom prst="roundRect">
            <a:avLst>
              <a:gd name="adj" fmla="val 7407"/>
            </a:avLst>
          </a:prstGeom>
          <a:solidFill>
            <a:srgbClr val="FFF5D7"/>
          </a:solidFill>
          <a:ln w="10954">
            <a:solidFill>
              <a:srgbClr val="A5B4C2"/>
            </a:solidFill>
            <a:prstDash val="solid"/>
          </a:ln>
        </p:spPr>
        <p:txBody>
          <a:bodyPr wrap="square" lIns="152400" tIns="76200" rIns="133350" bIns="76200" anchor="ctr">
            <a:normAutofit/>
          </a:bodyPr>
          <a:lstStyle/>
          <a:p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5  Evaluate detection and prediction</a:t>
            </a:r>
          </a:p>
          <a:p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Score deterministic rules against injected ground truth.</a:t>
            </a:r>
          </a:p>
          <a:p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Evaluate a first-order Markov baseline with a 70/15/15 split by project.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DDF51EC-4CDA-4092-B64B-927DAA504F37}"/>
              </a:ext>
            </a:extLst>
          </p:cNvPr>
          <p:cNvSpPr>
            <a:spLocks noGrp="1"/>
          </p:cNvSpPr>
          <p:nvPr/>
        </p:nvSpPr>
        <p:spPr>
          <a:xfrm>
            <a:off x="6400800" y="4191000"/>
            <a:ext cx="5219700" cy="1028700"/>
          </a:xfrm>
          <a:prstGeom prst="roundRect">
            <a:avLst>
              <a:gd name="adj" fmla="val 7407"/>
            </a:avLst>
          </a:prstGeom>
          <a:solidFill>
            <a:srgbClr val="F1EEFA"/>
          </a:solidFill>
          <a:ln w="10954">
            <a:solidFill>
              <a:srgbClr val="A5B4C2"/>
            </a:solidFill>
            <a:prstDash val="solid"/>
          </a:ln>
        </p:spPr>
        <p:txBody>
          <a:bodyPr wrap="square" lIns="152400" tIns="76200" rIns="133350" bIns="76200" anchor="ctr">
            <a:normAutofit/>
          </a:bodyPr>
          <a:lstStyle/>
          <a:p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6  Test offline intervention policies</a:t>
            </a:r>
          </a:p>
          <a:p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Simulate 5,000 synthetic projects per policy for attempt and capacity changes.</a:t>
            </a:r>
          </a:p>
          <a:p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Compare deadlock, capacity, completion and wait-time outcomes without causal claims.</a:t>
            </a: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4647" y="1374470"/>
            <a:ext cx="10169009" cy="205453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 spc="-25" dirty="0">
                <a:latin typeface="Times New Roman"/>
                <a:ea typeface="Times New Roman"/>
                <a:cs typeface="Times New Roman"/>
              </a:rPr>
              <a:t>Experiments and Results</a:t>
            </a:r>
            <a:endParaRPr sz="3000" b="1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58" y="4611603"/>
            <a:ext cx="4017612" cy="4877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505E44D-5487-78FD-38E7-A2F87BC64A37}" type="datetime1">
              <a:rPr lang="en-US"/>
              <a:t>9/9/26</a:t>
            </a:fld>
            <a:endParaRPr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dirty="0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394428-F1DC-E5F6-DB0C-7DE31F3D8A23}" type="slidenum">
              <a:rPr/>
              <a:t>11</a:t>
            </a:fld>
            <a:endParaRPr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2625" y="1381125"/>
            <a:ext cx="10826750" cy="44291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D6A9925-DE8C-15F2-FA02-ABFE342FEEA6}"/>
                  </a:ext>
                </a:extLst>
              </p14:cNvPr>
              <p14:cNvContentPartPr/>
              <p14:nvPr/>
            </p14:nvContentPartPr>
            <p14:xfrm>
              <a:off x="1063135" y="5085443"/>
              <a:ext cx="1353600" cy="320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D6A9925-DE8C-15F2-FA02-ABFE342FEEA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0135" y="5022443"/>
                <a:ext cx="1479240" cy="44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285762" indent="-285750">
              <a:lnSpc>
                <a:spcPct val="105000"/>
              </a:lnSpc>
              <a:spcAft>
                <a:spcPts val="7"/>
              </a:spcAft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prototype demonstrates a reproducible portal-to-OCEL 2.0 path and preserves all generated event-object relations with no dangling references.</a:t>
            </a:r>
          </a:p>
          <a:p>
            <a:pPr marL="285762" indent="-285750">
              <a:lnSpc>
                <a:spcPct val="105000"/>
              </a:lnSpc>
              <a:spcAft>
                <a:spcPts val="7"/>
              </a:spcAft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Under this synthetic design, flat views retain only 19.8–27.9% of E2O links and preserve evidence for 16.7–50.0% of preregistered cross-object risk predicates; OCEL preserves all six.</a:t>
            </a:r>
          </a:p>
          <a:p>
            <a:pPr marL="285762" indent="-285750">
              <a:lnSpc>
                <a:spcPct val="105000"/>
              </a:lnSpc>
              <a:spcAft>
                <a:spcPts val="7"/>
              </a:spcAft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Rule detectors reach macro-F1 0.977 on injected documented gaps; a first-order Markov baseline reaches macro-F1 0.673 on project-grouped test traces.</a:t>
            </a:r>
          </a:p>
          <a:p>
            <a:pPr marL="285762" indent="-285750">
              <a:lnSpc>
                <a:spcPct val="105000"/>
              </a:lnSpc>
              <a:spcAft>
                <a:spcPts val="7"/>
              </a:spcAft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Next: integrate PM4Py, ingest de-identified logs, recalibrate assumptions, and test whether the contribution generalizes beyond synthetic traces.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754A46F-4AC3-5AF1-0B78-C0B5112BD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>
                <a:latin typeface="Times New Roman"/>
                <a:ea typeface="Times New Roman"/>
                <a:cs typeface="Times New Roman"/>
              </a:rPr>
              <a:t>Conclusion and Outcome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505E44D-5487-78FD-38E7-A2F87BC64A37}" type="datetime1">
              <a:rPr lang="en-US">
                <a:latin typeface="Times New Roman"/>
                <a:ea typeface="Times New Roman"/>
                <a:cs typeface="Times New Roman"/>
              </a:rPr>
              <a:t>9/9/26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DB16885-0D3F-A391-B669-3211DB3B26E8}" type="slidenum">
              <a:rPr>
                <a:latin typeface="Times New Roman"/>
                <a:ea typeface="Times New Roman"/>
                <a:cs typeface="Times New Roman"/>
              </a:rPr>
              <a:t>12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592" y="1442399"/>
            <a:ext cx="10515600" cy="594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A. Berti et al., ‘OCEL (Object-Centric Event Log) 2.0 Specification,’ arXiv:2403.01975, 2024.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W. M. P. van der Aalst, ‘Object-Centric Process Mining,’ SEFM, LNCS 11724, pp. 3–25, 2019.</a:t>
            </a:r>
            <a:endParaRPr sz="1400" b="0" i="0" u="none" cap="none" baseline="0" dirty="0">
              <a:ln>
                <a:noFill/>
              </a:ln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G. Park, J. N. Adams, and W. M. P. van der Aalst, ‘Conformance Checking and Performance Analysis Using OC-DFGs,’ BPM Forum, 2024.</a:t>
            </a:r>
            <a:endParaRPr sz="1400" b="0" i="0" u="none" cap="none" baseline="0" dirty="0">
              <a:ln>
                <a:noFill/>
              </a:ln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G. Park and W. M. P. van der Aalst, ‘Realizing a Digital Twin of an Organization Using Action-Oriented Process Mining,’ ICPM, 2021.</a:t>
            </a:r>
            <a:endParaRPr sz="1400" b="0" i="0" u="none" cap="none" baseline="0" dirty="0">
              <a:ln>
                <a:noFill/>
              </a:ln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[5] A. </a:t>
            </a:r>
            <a:r>
              <a:rPr sz="16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Bogarín</a:t>
            </a:r>
            <a:r>
              <a:rPr sz="16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, R. Cerezo, and C. Romero, ‘A Survey on Educational Process Mining,’ WIREs Data Min. </a:t>
            </a:r>
            <a:r>
              <a:rPr sz="16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Knowl</a:t>
            </a:r>
            <a:r>
              <a:rPr sz="16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sz="16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Discov</a:t>
            </a:r>
            <a:r>
              <a:rPr sz="16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., 2018.</a:t>
            </a:r>
            <a:endParaRPr sz="1400" b="0" i="0" u="none" cap="none" baseline="0" dirty="0">
              <a:ln>
                <a:noFill/>
              </a:ln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[6] D. Calegari and A. Delgado, ‘A Systematic Review on Process Mining for Curricular Analysis,’ WIREs Data Min. </a:t>
            </a:r>
            <a:r>
              <a:rPr sz="16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Knowl</a:t>
            </a:r>
            <a:r>
              <a:rPr sz="16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sz="160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Discov</a:t>
            </a:r>
            <a:r>
              <a:rPr sz="16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., 2025.</a:t>
            </a:r>
            <a:endParaRPr sz="1400" b="0" i="0" u="none" cap="none" baseline="0" dirty="0">
              <a:ln>
                <a:noFill/>
              </a:ln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[7] N. Miri et al., ‘An Object-Centric Approach to Multi-Entity Educational Process Mining,’ Decision Analytics Journal, vol. 19, 100724, 2026.</a:t>
            </a:r>
            <a:endParaRPr sz="1400" b="0" i="0" u="none" cap="none" baseline="0" dirty="0">
              <a:ln>
                <a:noFill/>
              </a:ln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[8] J. Wei et al., ‘Dirigo: A Method to Extract Event Logs for Object-Centric Processes,’ Data &amp; Knowledge Engineering, vol. 160, 102485, 2025.</a:t>
            </a:r>
            <a:endParaRPr sz="1400" b="0" i="0" u="none" cap="none" baseline="0" dirty="0">
              <a:ln>
                <a:noFill/>
              </a:ln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505E44D-5487-78FD-38E7-A2F87BC64A37}" type="datetime1">
              <a:rPr lang="en-US"/>
              <a:t>9/9/26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D23107-4986-8758-3A93-3D74F35908CC}" type="slidenum">
              <a:rPr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1870</Words>
  <Application>Microsoft Macintosh PowerPoint</Application>
  <DocSecurity>0</DocSecurity>
  <PresentationFormat>Widescreen</PresentationFormat>
  <Paragraphs>185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B.Tech. (CSE) | BCSE497J – Project-I Object-Centric Event Log Mining for Academic Capstone Processes: A Native OCEL 2.0 Approach</vt:lpstr>
      <vt:lpstr>Approval Mail From Guide</vt:lpstr>
      <vt:lpstr>Aim</vt:lpstr>
      <vt:lpstr>Abstract</vt:lpstr>
      <vt:lpstr>Literature Review</vt:lpstr>
      <vt:lpstr>Research Gap</vt:lpstr>
      <vt:lpstr>Objectives</vt:lpstr>
      <vt:lpstr>Implemented Research Architecture</vt:lpstr>
      <vt:lpstr>Functional Requirements</vt:lpstr>
      <vt:lpstr>Methodology</vt:lpstr>
      <vt:lpstr>Experiments and Results</vt:lpstr>
      <vt:lpstr>Conclusion and Outcome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Aakaash S S</cp:lastModifiedBy>
  <cp:revision>2</cp:revision>
  <dcterms:created xsi:type="dcterms:W3CDTF">2026-09-09T05:05:30Z</dcterms:created>
  <dcterms:modified xsi:type="dcterms:W3CDTF">2026-09-09T05:18:51Z</dcterms:modified>
</cp:coreProperties>
</file>