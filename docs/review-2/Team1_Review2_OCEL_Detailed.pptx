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3b248846c4bcd" /><Relationship Type="http://schemas.openxmlformats.org/officeDocument/2006/relationships/extended-properties" Target="/docProps/app.xml" Id="R066392b2c03746c6" /><Relationship Type="http://schemas.openxmlformats.org/officeDocument/2006/relationships/officeDocument" Target="/ppt/presentation.xml" Id="Rec84ee1c7dea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7a3a659d37475d"/>
  </p:sldMasterIdLst>
  <p:notesMasterIdLst>
    <p:notesMasterId xmlns:r="http://schemas.openxmlformats.org/officeDocument/2006/relationships" r:id="R7b4e7ac90e6f498b"/>
  </p:notesMasterIdLst>
  <p:sldIdLst>
    <p:sldId xmlns:r="http://schemas.openxmlformats.org/officeDocument/2006/relationships" id="256" r:id="Rd68ea4a0db7443ac"/>
    <p:sldId xmlns:r="http://schemas.openxmlformats.org/officeDocument/2006/relationships" id="257" r:id="R03ac4619c0934ada"/>
    <p:sldId xmlns:r="http://schemas.openxmlformats.org/officeDocument/2006/relationships" id="258" r:id="R2e6bf72887534f10"/>
    <p:sldId xmlns:r="http://schemas.openxmlformats.org/officeDocument/2006/relationships" id="259" r:id="R6a29e18883b64610"/>
    <p:sldId xmlns:r="http://schemas.openxmlformats.org/officeDocument/2006/relationships" id="260" r:id="Rb33edcdb3dc94e00"/>
    <p:sldId xmlns:r="http://schemas.openxmlformats.org/officeDocument/2006/relationships" id="261" r:id="R73b319c5c9f34395"/>
    <p:sldId xmlns:r="http://schemas.openxmlformats.org/officeDocument/2006/relationships" id="262" r:id="R80ea4c2eb1a54789"/>
    <p:sldId xmlns:r="http://schemas.openxmlformats.org/officeDocument/2006/relationships" id="263" r:id="Rdba151182fe44871"/>
    <p:sldId xmlns:r="http://schemas.openxmlformats.org/officeDocument/2006/relationships" id="264" r:id="R008741efc7814fa0"/>
    <p:sldId xmlns:r="http://schemas.openxmlformats.org/officeDocument/2006/relationships" id="265" r:id="R729fbb8dcedb44b2"/>
    <p:sldId xmlns:r="http://schemas.openxmlformats.org/officeDocument/2006/relationships" id="266" r:id="R54e997de7f8a42aa"/>
    <p:sldId xmlns:r="http://schemas.openxmlformats.org/officeDocument/2006/relationships" id="267" r:id="R99433581fbf943aa"/>
    <p:sldId xmlns:r="http://schemas.openxmlformats.org/officeDocument/2006/relationships" id="268" r:id="R50dbe8fc662441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23544f62a7456e" /><Relationship Type="http://schemas.openxmlformats.org/officeDocument/2006/relationships/slideMaster" Target="/ppt/slideMasters/slideMaster1.xml" Id="Rf97a3a659d37475d" /><Relationship Type="http://schemas.openxmlformats.org/officeDocument/2006/relationships/notesMaster" Target="/ppt/notesMasters/notesMaster1.xml" Id="R7b4e7ac90e6f498b" /><Relationship Type="http://schemas.openxmlformats.org/officeDocument/2006/relationships/presProps" Target="/ppt/presProps.xml" Id="R5f41783b39b5419e" /><Relationship Type="http://schemas.openxmlformats.org/officeDocument/2006/relationships/viewProps" Target="/ppt/viewProps.xml" Id="R1039908835bf4984" /><Relationship Type="http://schemas.openxmlformats.org/officeDocument/2006/relationships/tableStyles" Target="/ppt/tableStyles.xml" Id="R6b62a2791889423b" /><Relationship Type="http://schemas.openxmlformats.org/officeDocument/2006/relationships/slide" Target="/ppt/slides/slide1.xml" Id="Rd68ea4a0db7443ac" /><Relationship Type="http://schemas.openxmlformats.org/officeDocument/2006/relationships/slide" Target="/ppt/slides/slide2.xml" Id="R03ac4619c0934ada" /><Relationship Type="http://schemas.openxmlformats.org/officeDocument/2006/relationships/slide" Target="/ppt/slides/slide3.xml" Id="R2e6bf72887534f10" /><Relationship Type="http://schemas.openxmlformats.org/officeDocument/2006/relationships/slide" Target="/ppt/slides/slide4.xml" Id="R6a29e18883b64610" /><Relationship Type="http://schemas.openxmlformats.org/officeDocument/2006/relationships/slide" Target="/ppt/slides/slide5.xml" Id="Rb33edcdb3dc94e00" /><Relationship Type="http://schemas.openxmlformats.org/officeDocument/2006/relationships/slide" Target="/ppt/slides/slide6.xml" Id="R73b319c5c9f34395" /><Relationship Type="http://schemas.openxmlformats.org/officeDocument/2006/relationships/slide" Target="/ppt/slides/slide7.xml" Id="R80ea4c2eb1a54789" /><Relationship Type="http://schemas.openxmlformats.org/officeDocument/2006/relationships/slide" Target="/ppt/slides/slide8.xml" Id="Rdba151182fe44871" /><Relationship Type="http://schemas.openxmlformats.org/officeDocument/2006/relationships/slide" Target="/ppt/slides/slide9.xml" Id="R008741efc7814fa0" /><Relationship Type="http://schemas.openxmlformats.org/officeDocument/2006/relationships/slide" Target="/ppt/slides/slide10.xml" Id="R729fbb8dcedb44b2" /><Relationship Type="http://schemas.openxmlformats.org/officeDocument/2006/relationships/slide" Target="/ppt/slides/slide11.xml" Id="R54e997de7f8a42aa" /><Relationship Type="http://schemas.openxmlformats.org/officeDocument/2006/relationships/slide" Target="/ppt/slides/slide12.xml" Id="R99433581fbf943aa" /><Relationship Type="http://schemas.openxmlformats.org/officeDocument/2006/relationships/slide" Target="/ppt/slides/slide13.xml" Id="R50dbe8fc66244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96b7ecb476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f9ab99c0bd439c" /><Relationship Type="http://schemas.openxmlformats.org/officeDocument/2006/relationships/notesMaster" Target="/ppt/notesMasters/notesMaster1.xml" Id="Red0025a0001840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4a97cea3bc49c2" /><Relationship Type="http://schemas.openxmlformats.org/officeDocument/2006/relationships/notesMaster" Target="/ppt/notesMasters/notesMaster1.xml" Id="Rf8b1b3c21a0348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43ec5f7a2445e" /><Relationship Type="http://schemas.openxmlformats.org/officeDocument/2006/relationships/notesMaster" Target="/ppt/notesMasters/notesMaster1.xml" Id="Rc6fc012f080643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09c753025044e8" /><Relationship Type="http://schemas.openxmlformats.org/officeDocument/2006/relationships/notesMaster" Target="/ppt/notesMasters/notesMaster1.xml" Id="R980acc4ecf1949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ea72060be34e5d" /><Relationship Type="http://schemas.openxmlformats.org/officeDocument/2006/relationships/notesMaster" Target="/ppt/notesMasters/notesMaster1.xml" Id="Rae3d407edee540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e05f68df404065" /><Relationship Type="http://schemas.openxmlformats.org/officeDocument/2006/relationships/notesMaster" Target="/ppt/notesMasters/notesMaster1.xml" Id="R7daddbe3433649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6ea0e52bba41b0" /><Relationship Type="http://schemas.openxmlformats.org/officeDocument/2006/relationships/notesMaster" Target="/ppt/notesMasters/notesMaster1.xml" Id="Rfb095fe79e45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0d7947bc2745cc" /><Relationship Type="http://schemas.openxmlformats.org/officeDocument/2006/relationships/notesMaster" Target="/ppt/notesMasters/notesMaster1.xml" Id="Rbf0bc771d83448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4fe7b121db487b" /><Relationship Type="http://schemas.openxmlformats.org/officeDocument/2006/relationships/notesMaster" Target="/ppt/notesMasters/notesMaster1.xml" Id="R9904d418de254e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e7ae5646964189" /><Relationship Type="http://schemas.openxmlformats.org/officeDocument/2006/relationships/notesMaster" Target="/ppt/notesMasters/notesMaster1.xml" Id="R2f0e2533d5e043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aefec660704be3" /><Relationship Type="http://schemas.openxmlformats.org/officeDocument/2006/relationships/notesMaster" Target="/ppt/notesMasters/notesMaster1.xml" Id="Rf694ca69be5644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ceb8851bbc499b" /><Relationship Type="http://schemas.openxmlformats.org/officeDocument/2006/relationships/notesMaster" Target="/ppt/notesMasters/notesMaster1.xml" Id="Rb4a2ab07f15940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d5d966402943f1" /><Relationship Type="http://schemas.openxmlformats.org/officeDocument/2006/relationships/notesMaster" Target="/ppt/notesMasters/notesMaster1.xml" Id="Rc421bb3cc31a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Review_1_Team1_OCEL.pptx, slide 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 2 guidelines and provided PPT template. Real approval evidence not yet supplied.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Review_1_Team1_OCEL.pptx; Educational Capstone Portal audit-trail.md; domain-model.md.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Team1_Review2_Package/data and results; Educational Capstone Portal state-machines.md.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OCEL 2.0: https://www.ocel-standard.org/2.0/ocel20_specification.pdf</a:t>
            </a:r>
          </a:p>
          <a:p xmlns:a="http://schemas.openxmlformats.org/drawingml/2006/main">
            <a:r>
              <a:t>van der Aalst 2019: https://doi.org/10.1007/978-3-030-30446-1_1</a:t>
            </a:r>
          </a:p>
          <a:p xmlns:a="http://schemas.openxmlformats.org/drawingml/2006/main">
            <a:r>
              <a:t>Park et al. 2024: https://doi.org/10.1007/978-3-031-70418-5_11</a:t>
            </a:r>
          </a:p>
          <a:p xmlns:a="http://schemas.openxmlformats.org/drawingml/2006/main">
            <a:r>
              <a:t>Miri et al. 2026: https://doi.org/10.1016/j.dajour.2026.100724</a:t>
            </a:r>
          </a:p>
          <a:p xmlns:a="http://schemas.openxmlformats.org/drawingml/2006/main">
            <a:r>
              <a:t>Wei et al. 2025: https://doi.org/10.1016/j.datak.2025.102485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Miri et al. 2026: https://doi.org/10.1016/j.dajour.2026.100724</a:t>
            </a:r>
          </a:p>
          <a:p xmlns:a="http://schemas.openxmlformats.org/drawingml/2006/main">
            <a:r>
              <a:t>Wei et al. 2025: https://doi.org/10.1016/j.datak.2025.102485</a:t>
            </a:r>
          </a:p>
          <a:p xmlns:a="http://schemas.openxmlformats.org/drawingml/2006/main">
            <a:r>
              <a:t>Local: Educational Capstone Portal known-gaps.md; domain-model.md; state-machines.md.</a:t>
            </a:r>
          </a:p>
          <a:p xmlns:a="http://schemas.openxmlformats.org/drawingml/2006/main">
            <a:r>
              <a:t>Inference: targeted-search novelty boundary, not a universal first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Review 1 objectives; generated prototype artifacts; TRL assessment is Team 1’s internal estimate and requires guide confirmation.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code inspected: docs/educational-capstone-platform/; synthetic/src/team1_synthetic_ocel.py; synthetic/src/analyze_team1_synthetic.py; synthetic/data/; synthetic/results/; demo/app/page.tsx; scripts/check_package.py; .github/workflows/validate.yml.</a:t>
            </a:r>
          </a:p>
          <a:p xmlns:a="http://schemas.openxmlformats.org/drawingml/2006/main">
            <a:r>
              <a:t>Architecture represents the implemented repository. The demo uses packaged synthetic values and makes no live Educational Capstone Portal request.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Team1_Research_Execution_Prompt.txt; Educational Capstone Portal architecture documents.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methodology implementation: synthetic/src/team1_synthetic_ocel.py and synthetic/src/analyze_team1_synthetic.py.</a:t>
            </a:r>
          </a:p>
          <a:p xmlns:a="http://schemas.openxmlformats.org/drawingml/2006/main">
            <a:r>
              <a:t>Configuration: seed 4971, 120 projects per scenario, three scenarios, project-grouped 70/15/15 Markov split, and 5,000 synthetic projects per intervention policy.</a:t>
            </a:r>
          </a:p>
          <a:p xmlns:a="http://schemas.openxmlformats.org/drawingml/2006/main">
            <a:r>
              <a:t>All outcomes are synthetic prototype evidence, not observed institutional performance or causal effects.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synthetic results: Team1_Review2_Package/results/experiment_summary.json; seed 4971.</a:t>
            </a:r>
          </a:p>
          <a:p xmlns:a="http://schemas.openxmlformats.org/drawingml/2006/main">
            <a:r>
              <a:t>All percentages are generated feasibility results, not institutional operational measurements.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Local: Team1_Review2_Package/results/experiment_summary.json and data/manifest.json.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https://www.ocel-standard.org/2.0/ocel20_specification.pdf</a:t>
            </a:r>
          </a:p>
          <a:p xmlns:a="http://schemas.openxmlformats.org/drawingml/2006/main">
            <a:r>
              <a:t>https://doi.org/10.1007/978-3-030-30446-1_1</a:t>
            </a:r>
          </a:p>
          <a:p xmlns:a="http://schemas.openxmlformats.org/drawingml/2006/main">
            <a:r>
              <a:t>https://doi.org/10.1007/978-3-031-70418-5_11</a:t>
            </a:r>
          </a:p>
          <a:p xmlns:a="http://schemas.openxmlformats.org/drawingml/2006/main">
            <a:r>
              <a:t>https://doi.org/10.1109/ICPM53251.2021.9576846</a:t>
            </a:r>
          </a:p>
          <a:p xmlns:a="http://schemas.openxmlformats.org/drawingml/2006/main">
            <a:r>
              <a:t>https://doi.org/10.1002/widm.1230</a:t>
            </a:r>
          </a:p>
          <a:p xmlns:a="http://schemas.openxmlformats.org/drawingml/2006/main">
            <a:r>
              <a:t>https://doi.org/10.1002/widm.70005</a:t>
            </a:r>
          </a:p>
          <a:p xmlns:a="http://schemas.openxmlformats.org/drawingml/2006/main">
            <a:r>
              <a:t>https://doi.org/10.1016/j.dajour.2026.100724</a:t>
            </a:r>
          </a:p>
          <a:p xmlns:a="http://schemas.openxmlformats.org/drawingml/2006/main">
            <a:r>
              <a:t>https://doi.org/10.1016/j.datak.2025.102485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3ca42c3de4d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cb2eda2604e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0cdd89dd842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057a6562a4c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d6bd8ab64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b23a1872146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b44b8d69743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639d844e6436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1e2e5427b4eb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0f762b3304d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df0b12741431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F3E78AE-7F97-4550-9DD8-BF69171FDC30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A886FF-1BA7-4533-94E6-869CE1E2970B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3E22BD8-A2C4-424B-809A-C64DDCC305D9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20F4BC-B3A4-46AF-9AEC-8478EF1369D5}" type="datetime1">
              <a:t>22-08-2026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9A2993-B405-4F4D-B968-A01C27211659}" type="datetime1">
              <a:t>22-08-2026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378C8C-5FBB-4DD7-A06D-BE263480794B}" type="datetime1">
              <a:t>22-08-2026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1FD2985-06EC-459B-80C8-F6F4362A1C03}" type="datetime1">
              <a:t>22-08-2026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1D7E9DA-13C6-48A4-9305-B592482DE8CE}" type="datetime1">
              <a:t>22-08-2026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45E7C4B-C575-4DCF-9B63-045662930500}" type="datetime1">
              <a:t>22-08-2026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576931C-EA1A-43DD-B3B3-66F5BA587712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C9B0E1-7C95-4C20-B9C6-BA51F388E878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8b283c7d354c39" /><Relationship Type="http://schemas.openxmlformats.org/officeDocument/2006/relationships/slideLayout" Target="/ppt/slideLayouts/slideLayout1.xml" Id="Rc344502e8de74f5a" /><Relationship Type="http://schemas.openxmlformats.org/officeDocument/2006/relationships/slideLayout" Target="/ppt/slideLayouts/slideLayout2.xml" Id="Rb22b0b6d58c447ee" /><Relationship Type="http://schemas.openxmlformats.org/officeDocument/2006/relationships/slideLayout" Target="/ppt/slideLayouts/slideLayout3.xml" Id="R04edb4fa22dd4654" /><Relationship Type="http://schemas.openxmlformats.org/officeDocument/2006/relationships/slideLayout" Target="/ppt/slideLayouts/slideLayout4.xml" Id="Rbd095a3b81004183" /><Relationship Type="http://schemas.openxmlformats.org/officeDocument/2006/relationships/slideLayout" Target="/ppt/slideLayouts/slideLayout5.xml" Id="Rb1bd88800a6b4d27" /><Relationship Type="http://schemas.openxmlformats.org/officeDocument/2006/relationships/slideLayout" Target="/ppt/slideLayouts/slideLayout6.xml" Id="R3050092327774acf" /><Relationship Type="http://schemas.openxmlformats.org/officeDocument/2006/relationships/slideLayout" Target="/ppt/slideLayouts/slideLayout7.xml" Id="R1fa926dfac6f4f3b" /><Relationship Type="http://schemas.openxmlformats.org/officeDocument/2006/relationships/slideLayout" Target="/ppt/slideLayouts/slideLayout8.xml" Id="R707249d53df54170" /><Relationship Type="http://schemas.openxmlformats.org/officeDocument/2006/relationships/slideLayout" Target="/ppt/slideLayouts/slideLayout9.xml" Id="Rb59bfb3629d54b35" /><Relationship Type="http://schemas.openxmlformats.org/officeDocument/2006/relationships/slideLayout" Target="/ppt/slideLayouts/slideLayout10.xml" Id="R880868c600a54fff" /><Relationship Type="http://schemas.openxmlformats.org/officeDocument/2006/relationships/slideLayout" Target="/ppt/slideLayouts/slideLayout11.xml" Id="Rd7373189c12e4e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3827C3E-786B-4150-9177-1C28966A2ADC}" type="datetime1">
              <a:t>22-08-2026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5201FD4-9D8D-4491-815B-63C7BF4F003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44502e8de74f5a"/>
    <p:sldLayoutId xmlns:r="http://schemas.openxmlformats.org/officeDocument/2006/relationships" id="2147483650" r:id="Rb22b0b6d58c447ee"/>
    <p:sldLayoutId xmlns:r="http://schemas.openxmlformats.org/officeDocument/2006/relationships" id="2147483651" r:id="R04edb4fa22dd4654"/>
    <p:sldLayoutId xmlns:r="http://schemas.openxmlformats.org/officeDocument/2006/relationships" id="2147483652" r:id="Rbd095a3b81004183"/>
    <p:sldLayoutId xmlns:r="http://schemas.openxmlformats.org/officeDocument/2006/relationships" id="2147483653" r:id="Rb1bd88800a6b4d27"/>
    <p:sldLayoutId xmlns:r="http://schemas.openxmlformats.org/officeDocument/2006/relationships" id="2147483654" r:id="R3050092327774acf"/>
    <p:sldLayoutId xmlns:r="http://schemas.openxmlformats.org/officeDocument/2006/relationships" id="2147483655" r:id="R1fa926dfac6f4f3b"/>
    <p:sldLayoutId xmlns:r="http://schemas.openxmlformats.org/officeDocument/2006/relationships" id="2147483656" r:id="R707249d53df54170"/>
    <p:sldLayoutId xmlns:r="http://schemas.openxmlformats.org/officeDocument/2006/relationships" id="2147483657" r:id="Rb59bfb3629d54b35"/>
    <p:sldLayoutId xmlns:r="http://schemas.openxmlformats.org/officeDocument/2006/relationships" id="2147483658" r:id="R880868c600a54fff"/>
    <p:sldLayoutId xmlns:r="http://schemas.openxmlformats.org/officeDocument/2006/relationships" id="2147483659" r:id="Rd7373189c12e4e9a"/>
  </p:sldLayoutIdLst>
  <p:hf hd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934853fe846e8" /><Relationship Type="http://schemas.openxmlformats.org/officeDocument/2006/relationships/image" Target="/ppt/media/image.png" Id="Rfd414bcd29bd4d3c" /><Relationship Type="http://schemas.openxmlformats.org/officeDocument/2006/relationships/notesSlide" Target="/ppt/notesSlides/notesSlide1.xml" Id="Rf8c724129bef44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7c89c8952474a" /><Relationship Type="http://schemas.openxmlformats.org/officeDocument/2006/relationships/image" Target="/ppt/media/image2.png" Id="Rb52d4370f6f04911" /><Relationship Type="http://schemas.openxmlformats.org/officeDocument/2006/relationships/notesSlide" Target="/ppt/notesSlides/notesSlide2.xml" Id="R46942dd5816a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160f2fd1a492a" /><Relationship Type="http://schemas.openxmlformats.org/officeDocument/2006/relationships/notesSlide" Target="/ppt/notesSlides/notesSlide3.xml" Id="Re7d8d62e1bda42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05b8447f94721" /><Relationship Type="http://schemas.openxmlformats.org/officeDocument/2006/relationships/notesSlide" Target="/ppt/notesSlides/notesSlide4.xml" Id="Rbf60634c0a734e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b265274d1f46c8" /><Relationship Type="http://schemas.openxmlformats.org/officeDocument/2006/relationships/image" Target="/ppt/media/image3.png" Id="Rfdcea008a9c04b42" /><Relationship Type="http://schemas.openxmlformats.org/officeDocument/2006/relationships/image" Target="/ppt/media/image4.png" Id="Rcbcd36aca7444a7f" /><Relationship Type="http://schemas.openxmlformats.org/officeDocument/2006/relationships/image" Target="/ppt/media/image5.png" Id="Re884fe05961c4c36" /><Relationship Type="http://schemas.openxmlformats.org/officeDocument/2006/relationships/notesSlide" Target="/ppt/notesSlides/notesSlide5.xml" Id="Rc85414c253c14f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6935483f44b06" /><Relationship Type="http://schemas.openxmlformats.org/officeDocument/2006/relationships/notesSlide" Target="/ppt/notesSlides/notesSlide6.xml" Id="R7e7877548bdb40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3bb834fe704bb0" /><Relationship Type="http://schemas.openxmlformats.org/officeDocument/2006/relationships/image" Target="/ppt/media/image.jpeg" Id="Re229bc6344194eed" /><Relationship Type="http://schemas.openxmlformats.org/officeDocument/2006/relationships/image" Target="/ppt/media/image2.jpeg" Id="Rae685f78ab264828" /><Relationship Type="http://schemas.openxmlformats.org/officeDocument/2006/relationships/notesSlide" Target="/ppt/notesSlides/notesSlide7.xml" Id="Rf4f124377ba146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e87226540b436d" /><Relationship Type="http://schemas.openxmlformats.org/officeDocument/2006/relationships/image" Target="/ppt/media/image3.png" Id="R221fc9cab9614d26" /><Relationship Type="http://schemas.openxmlformats.org/officeDocument/2006/relationships/image" Target="/ppt/media/image4.png" Id="R06da518b97a944c7" /><Relationship Type="http://schemas.openxmlformats.org/officeDocument/2006/relationships/image" Target="/ppt/media/image6.png" Id="R480a870d10d24b3e" /><Relationship Type="http://schemas.openxmlformats.org/officeDocument/2006/relationships/notesSlide" Target="/ppt/notesSlides/notesSlide8.xml" Id="Rf0325ce82642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ce26cf3f74e18" /><Relationship Type="http://schemas.openxmlformats.org/officeDocument/2006/relationships/notesSlide" Target="/ppt/notesSlides/notesSlide9.xml" Id="Rb0f019c8af454e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670bbfebf648c9" /><Relationship Type="http://schemas.openxmlformats.org/officeDocument/2006/relationships/notesSlide" Target="/ppt/notesSlides/notesSlide10.xml" Id="R9ba231ffa7854d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6c075d01b4170" /><Relationship Type="http://schemas.openxmlformats.org/officeDocument/2006/relationships/image" Target="/ppt/media/image3.png" Id="R9b31ff55ed284327" /><Relationship Type="http://schemas.openxmlformats.org/officeDocument/2006/relationships/image" Target="/ppt/media/image4.png" Id="R21538304abb74a3e" /><Relationship Type="http://schemas.openxmlformats.org/officeDocument/2006/relationships/image" Target="/ppt/media/image7.png" Id="Rf0331202934c43d6" /><Relationship Type="http://schemas.openxmlformats.org/officeDocument/2006/relationships/notesSlide" Target="/ppt/notesSlides/notesSlide11.xml" Id="Rfcd8abe064a845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b5d0f5ee448fd" /><Relationship Type="http://schemas.openxmlformats.org/officeDocument/2006/relationships/notesSlide" Target="/ppt/notesSlides/notesSlide12.xml" Id="R5a5b6a12d3e841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7a4e1f9e442d8" /><Relationship Type="http://schemas.openxmlformats.org/officeDocument/2006/relationships/notesSlide" Target="/ppt/notesSlides/notesSlide13.xml" Id="Re9b9ca8a347246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14bcd29bd4d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7236" y="-11493"/>
            <a:ext cx="4517528" cy="1871634"/>
          </a:xfrm>
          <a:prstGeom xmlns:a="http://schemas.openxmlformats.org/drawingml/2006/main" prst="rect">
            <a:avLst/>
          </a:prstGeom>
        </p:spPr>
      </p:pic>
      <p:sp>
        <p:nvSpPr>
          <p:cNvPr id="7" name="Title 6">
            <a:extLst xmlns:a="http://schemas.openxmlformats.org/drawingml/2006/main"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907459" y="1934141"/>
            <a:ext cx="8924544" cy="10895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B.Tech. (CSE) | BCSE497J – Project-I</a:t>
            </a:r>
          </a:p>
          <a:p xmlns:a="http://schemas.openxmlformats.org/drawingml/2006/main"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Object-Centric Event Log Mining for Academic Capstone Processes:</a:t>
            </a:r>
          </a:p>
          <a:p xmlns:a="http://schemas.openxmlformats.org/drawingml/2006/main">
            <a:pPr algn="ctr">
              <a:buNone/>
              <a:defRPr sz="2000" b="1"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A Native OCEL 2.0 Approach</a:t>
            </a:r>
          </a:p>
        </p:txBody>
      </p:sp>
      <p:sp>
        <p:nvSpPr>
          <p:cNvPr id="9" name="object 3">
            <a:extLst xmlns:a="http://schemas.openxmlformats.org/drawingml/2006/main"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088" y="3208471"/>
            <a:ext cx="7071360" cy="24608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Team members:
Aakaash Sathya Saravanan  (23BCE0500)
Mitisha Sharma  (23BCE0434)
Tanmay Khambete  (23BCE0498)
Faculty guide:
Dr. Kalyanaraman P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Times New Roman"/>
                <a:ea typeface="Times New Roman"/>
                <a:cs typeface="Times New Roman"/>
              </a:rPr>
              <a:t>Approval Mail From Guide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C6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9C65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PLACEHOLDER — insert the actual guide approval email screenshot before submission.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C65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9C65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</a:rPr>
              <a:t>Approval should cover attendance, PPT, demonstration, initial draft report, and outcome report.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pic>
        <p:nvPicPr>
          <p:cNvPr id="1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d4370f6f04911"/>
          <a:stretch xmlns:a="http://schemas.openxmlformats.org/drawingml/2006/main"/>
        </p:blipFill>
        <p:spPr>
          <a:xfrm xmlns:a="http://schemas.openxmlformats.org/drawingml/2006/main">
            <a:off x="4716505" y="2653482"/>
            <a:ext cx="3296214" cy="32962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Model the portal’s documented</a:t>
            </a: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capstone workflow as OCEL 2.0 while preserving events shared by Project, Team, Student, Faculty, ReportVersion and Score.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Measure information lost by single-case flattening, detect documented state-machine deviations, and test transparent offline interventions.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Validate the research pipeline on deterministic synthetic data now; replace assumptions with de-identified production logs after ethics approval.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9558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Aim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Capstone events cross multiple objects; forcing one case identifier duplicates events and hides supervision, version and scoring relationships.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We map the 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documented capstone lifecycle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to qualified E2O/O2O relations and export three seeded corpora: clean target, current R1-only baseline and gap-injected.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prototype validates relational OCEL 2.0 output, compares three flattened views, detects six documented risks, predicts next transitions and simulates two interventions.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All measurements are synthetic feasibility evidence—not 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observed institutional performance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or institutional impact.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9558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Abstract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fdcea008a9c04b42"/>
          <a:stretch xmlns:a="http://schemas.openxmlformats.org/drawingml/2006/main"/>
        </p:blipFill>
        <p:spPr>
          <a:xfrm xmlns:a="http://schemas.openxmlformats.org/drawingml/2006/main">
            <a:off x="4851886" y="1374470"/>
            <a:ext cx="2054530" cy="2054530"/>
          </a:xfrm>
          <a:prstGeom xmlns:a="http://schemas.openxmlformats.org/drawingml/2006/main" prst="rect">
            <a:avLst/>
          </a:prstGeom>
        </p:spPr>
      </p:pic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056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Literature Review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d36aca7444a7f"/>
          <a:stretch xmlns:a="http://schemas.openxmlformats.org/drawingml/2006/main"/>
        </p:blipFill>
        <p:spPr>
          <a:xfrm xmlns:a="http://schemas.openxmlformats.org/drawingml/2006/main">
            <a:off x="2401803" y="4611603"/>
            <a:ext cx="487722" cy="48772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4fe05961c4c36"/>
          <a:stretch xmlns:a="http://schemas.openxmlformats.org/drawingml/2006/main"/>
        </p:blipFill>
        <p:spPr>
          <a:xfrm xmlns:a="http://schemas.openxmlformats.org/drawingml/2006/main">
            <a:off x="682625" y="1381125"/>
            <a:ext cx="10826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2026 prior art now demonstrates OCEL 2.0 extraction from Moodle; the broad ‘first object-centric educational process mining’ claim is no longer valid.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 capstone lifecycle is a different process class: versioned reports, formal verification states, immutable scores, attempt limits and guide capacity interact transactionally.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Existing studies do not directly evaluate this combination through a documentation-grounded normative–descriptive–adversarial benchmark and executable risk predicates.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Proposed contribution: traceable counterfactual generation plus study-specific Cross-Object Observability Coverage (COOC). COOC measures analysis readiness—not universal OCEL quality.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Research Gap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Export a validated relational OCEL 2.0 mapping for </a:t>
            </a: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portal’s multi-object lifecycle</a:t>
            </a: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Quantify relation loss under Project-, Student- and ReportVersion-centric flattening.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Detect six documented gaps and measure representation-level observability.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Evaluate a grouped next-transition baseline and offline attempt/capacity interventions.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Objectives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latin typeface="Times New Roman"/>
                <a:ea typeface="Times New Roman"/>
                <a:cs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48" y="4000500"/>
            <a:ext cx="1152344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333333"/>
                </a:solidFill>
                <a:latin typeface="Times New Roman"/>
                <a:ea typeface="Times New Roman"/>
                <a:cs typeface="Times New Roman"/>
              </a:rPr>
              <a:t>SDGs: 4 — Quality Education; 9 — Industry, Innovation &amp; Infrastructure     |     Outcome: reusable product + journal/conference paper     |     Current prototype TRL: 4</a:t>
            </a:r>
          </a:p>
        </p:txBody>
      </p:sp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9bc6344194e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90701" y="4778273"/>
            <a:ext cx="1968651" cy="1578077"/>
          </a:xfrm>
          <a:prstGeom xmlns:a="http://schemas.openxmlformats.org/drawingml/2006/main" prst="rect">
            <a:avLst/>
          </a:prstGeom>
        </p:spPr>
      </p:pic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685f78ab26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7545" y="4413148"/>
            <a:ext cx="2447027" cy="22326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221fc9cab9614d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647" y="1374470"/>
            <a:ext cx="10169009" cy="2054530"/>
          </a:xfrm>
          <a:prstGeom xmlns:a="http://schemas.openxmlformats.org/drawingml/2006/main" prst="rect">
            <a:avLst/>
          </a:prstGeom>
        </p:spPr>
      </p:pic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056" y="681037"/>
            <a:ext cx="10515600" cy="6054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 spc="-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Implemented Research Architecture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a518b97a9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858" y="4611603"/>
            <a:ext cx="4017612" cy="48772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a870d10d24b3e"/>
          <a:stretch xmlns:a="http://schemas.openxmlformats.org/drawingml/2006/main"/>
        </p:blipFill>
        <p:spPr>
          <a:xfrm xmlns:a="http://schemas.openxmlformats.org/drawingml/2006/main" flipH="0" flipV="0">
            <a:off x="682625" y="1381125"/>
            <a:ext cx="10826750" cy="4429125"/>
          </a:xfrm>
          <a:prstGeom xmlns:a="http://schemas.openxmlformats.org/drawingml/2006/main" prst="rect">
            <a:avLst/>
          </a:prstGeom>
        </p:spPr>
      </p:pic>
      <p:sp>
        <p:nvSpPr>
          <p:cNvPr id="14" name="Updated content background">
            <a:extLst xmlns:a="http://schemas.openxmlformats.org/drawingml/2006/main">
              <a:ext uri="{FF2B5EF4-FFF2-40B4-BE49-F238E27FC236}">
                <a16:creationId xmlns:a16="http://schemas.microsoft.com/office/drawing/2014/main" id="{418C5AA5-2E99-4964-B883-042C88B0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493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D5CB3-010B-4661-92A9-3E37828D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The Review 2 demo follows the files and execution path in this repository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BDD5EF-B757-4556-8CFB-EF9AFCBC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3335">
            <a:solidFill>
              <a:srgbClr val="6D89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Portal documentation model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docs/educational-capstone-platform/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Lifecycle, domain objects, state machines and documented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BBEB54-3A64-4370-A254-2F163482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9F7F7"/>
          </a:solidFill>
          <a:ln xmlns:a="http://schemas.openxmlformats.org/drawingml/2006/main" w="13335">
            <a:solidFill>
              <a:srgbClr val="6D89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Deterministic scenario generator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synthetic/src/team1_synthetic_ocel.py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Seed 4971; clean, R1-only and gap-injected lifecycles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91E45-918B-4AC5-9844-F218C2FA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6E8"/>
          </a:solidFill>
          <a:ln xmlns:a="http://schemas.openxmlformats.org/drawingml/2006/main" w="13335">
            <a:solidFill>
              <a:srgbClr val="6D89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Generated OCEL corpus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synthetic/data/&lt;scenario&gt;/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Objects, events, E2O/O2O, labels, SQLite and manifest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E5731-BE06-4AE4-9D53-710A7F81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3335">
            <a:solidFill>
              <a:srgbClr val="6D89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Analysis engine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synthetic/src/analyze_team1_synthetic.py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Flattening, six rules, COOC, Markov baseline and policy simulation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5DBCF-32A5-462F-96CC-3DC40F41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CEDE4"/>
          </a:solidFill>
          <a:ln xmlns:a="http://schemas.openxmlformats.org/drawingml/2006/main" w="13335">
            <a:solidFill>
              <a:srgbClr val="6D89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Evidence outputs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synthetic/results/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experiment_summary.json plus six auditable CSV result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5BD5D-7E21-4926-A907-4547260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EEFA"/>
          </a:solidFill>
          <a:ln xmlns:a="http://schemas.openxmlformats.org/drawingml/2006/main" w="13335">
            <a:solidFill>
              <a:srgbClr val="6D89A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Professor-facing demo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0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demo/app/page.tsx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Packaged values, scenario controls and WebMCP actions; no portal request</a:t>
            </a:r>
          </a:p>
        </p:txBody>
      </p: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29000" y="23717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B94B5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524750" y="23717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B94B5"/>
            </a:solidFill>
            <a:prstDash val="solid"/>
            <a:head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191750" y="2933700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B94B5"/>
            </a:solidFill>
            <a:prstDash val="solid"/>
            <a:headEnd type="triangle" w="med" len="med"/>
          </a:ln>
        </p:spPr>
      </p:cxnSp>
      <p:cxnSp>
        <p:nvCxnSpPr>
          <p:cNvPr id="46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524750" y="42291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B94B5"/>
            </a:solidFill>
            <a:prstDash val="solid"/>
            <a:headEnd type="triangle" w="med" len="med"/>
          </a:ln>
        </p:spPr>
      </p:cxnSp>
      <p:cxnSp>
        <p:nvCxnSpPr>
          <p:cNvPr id="47" name=""/>
          <p:cNvCxnSpPr>
            <a:stCxn xmlns:a="http://schemas.openxmlformats.org/drawingml/2006/main" id="20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429000" y="42291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B94B5"/>
            </a:solidFill>
            <a:prstDash val="solid"/>
            <a:head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AFFBA-B3B4-49FE-9BF2-46BB06EA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1430">
            <a:solidFill>
              <a:srgbClr val="A8B4BF"/>
            </a:solidFill>
            <a:prstDash val="solid"/>
          </a:ln>
        </p:spPr>
        <p:txBody>
          <a:bodyPr xmlns:a="http://schemas.openxmlformats.org/drawingml/2006/main" wrap="square" lIns="171450" tIns="76200" rIns="1714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Times New Roman"/>
                <a:ea typeface="Times New Roman"/>
                <a:cs typeface="Times New Roman"/>
              </a:defRPr>
            </a:pPr>
            <a:r>
              <a:rPr sz="13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Reproducibility and package gate  </a:t>
            </a:r>
            <a:r>
              <a:rPr sz="11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scripts/check_package.py</a:t>
            </a: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 validates required artifacts, the synthetic boundary and headline results. </a:t>
            </a:r>
            <a:r>
              <a:rPr sz="1100" b="1">
                <a:solidFill>
                  <a:srgbClr val="275A80"/>
                </a:solidFill>
                <a:latin typeface="Times New Roman"/>
                <a:ea typeface="Times New Roman"/>
                <a:cs typeface="Times New Roman"/>
              </a:rPr>
              <a:t>.github/workflows/validate.yml</a:t>
            </a: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 regenerates outputs, checks tracked diffs, then lints, type-checks and builds the demo.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FR1 — Generate clean, R1-only and gap-injected project lifecycles from one recorded seed/configuration.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FR2 — Preserve qualified Event-to-Object and Object-to-Object relations with pseudonymous IDs.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FR3 — Export OCEL 2.0 relational SQLite plus human-auditable CSV evidence tables.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FR4 — Validate references, timestamps, required tables and reproducible file checksums.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FR5 — Compare single-case flattening and detect G5, G9, E5, E10, E12 and E15 conditions.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FR6 — Report grouped next-transition metrics and offline policy scenarios with synthetic labels.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Functional Requirements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latin typeface="Times New Roman"/>
                <a:ea typeface="Times New Roman"/>
                <a:cs typeface="Times New Roman"/>
              </a:rPr>
              <a:t>9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Completed (8/12): schema map, seeded generator, CSV evidence export, OCEL SQLite export, integrity validator, flattening comparator, six gap detectors, Markov + offline simulation baseline.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Generated evidence: 120 projects/scenario; 2,083 events and 7,471 E2O links in the gap-injected corpus; zero dangling relations; monotonic project timestamps.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Remaining (4/12): real-log ingestion, PM4Py OC-DFG/conformance integration, object-aware predictor, empirical twin calibration.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Implementation readiness: 67% of the declared Review 2 module scope; production claims remain explicitly out of scope.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6054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  <a:def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2 Methodology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latin typeface="Times New Roman"/>
                <a:ea typeface="Times New Roman"/>
                <a:cs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Updated content background">
            <a:extLst xmlns:a="http://schemas.openxmlformats.org/drawingml/2006/main">
              <a:ext uri="{FF2B5EF4-FFF2-40B4-BE49-F238E27FC236}">
                <a16:creationId xmlns:a16="http://schemas.microsoft.com/office/drawing/2014/main" id="{6E8916AB-335F-448E-B2CC-B5BE83E3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493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F029B-83FB-4577-A8A2-9C8CE42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Documentation-grounded, deterministic and reproducible proof of 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A9096-9C9D-4878-9EC5-59FA8EC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1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10954">
            <a:solidFill>
              <a:srgbClr val="A5B4C2"/>
            </a:solidFill>
            <a:prstDash val="solid"/>
          </a:ln>
        </p:spPr>
        <p:txBody>
          <a:bodyPr xmlns:a="http://schemas.openxmlformats.org/drawingml/2006/main" wrap="square" lIns="15240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1  Derive the object-centric model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Map portal documentation to seven object types and qualified E2O/O2O relations.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Register six cross-object risk predicates before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A838-FA52-461F-95A5-718C2CED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521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9F7F7"/>
          </a:solidFill>
          <a:ln xmlns:a="http://schemas.openxmlformats.org/drawingml/2006/main" w="10954">
            <a:solidFill>
              <a:srgbClr val="A5B4C2"/>
            </a:solidFill>
            <a:prstDash val="solid"/>
          </a:ln>
        </p:spPr>
        <p:txBody>
          <a:bodyPr xmlns:a="http://schemas.openxmlformats.org/drawingml/2006/main" wrap="square" lIns="15240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2  Generate controlled corpora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Use seed 4971 with 120 projects in each of three scenarios.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Model clean target, documented R1-only baseline and labelled gap injections.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9E46D9-0DC1-42FE-BA14-847D94D3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521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6E8"/>
          </a:solidFill>
          <a:ln xmlns:a="http://schemas.openxmlformats.org/drawingml/2006/main" w="10954">
            <a:solidFill>
              <a:srgbClr val="A5B4C2"/>
            </a:solidFill>
            <a:prstDash val="solid"/>
          </a:ln>
        </p:spPr>
        <p:txBody>
          <a:bodyPr xmlns:a="http://schemas.openxmlformats.org/drawingml/2006/main" wrap="square" lIns="15240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3  Export and validate OCEL evidence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Write auditable CSV tables, relational OCEL SQLite and a manifest with checksums.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Verify tables, relation references and timestamp order per project.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14AA0-C7B8-45F3-A362-5316F6B3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521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DE4"/>
          </a:solidFill>
          <a:ln xmlns:a="http://schemas.openxmlformats.org/drawingml/2006/main" w="10954">
            <a:solidFill>
              <a:srgbClr val="A5B4C2"/>
            </a:solidFill>
            <a:prstDash val="solid"/>
          </a:ln>
        </p:spPr>
        <p:txBody>
          <a:bodyPr xmlns:a="http://schemas.openxmlformats.org/drawingml/2006/main" wrap="square" lIns="15240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4  Measure representation loss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Flatten by Project, Student and ReportVersion, then compare against native OCEL.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Report relation retention and study-specific COOC over six predicates.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6DB65-C310-4D8D-87F2-9EDE80CF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521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0954">
            <a:solidFill>
              <a:srgbClr val="A5B4C2"/>
            </a:solidFill>
            <a:prstDash val="solid"/>
          </a:ln>
        </p:spPr>
        <p:txBody>
          <a:bodyPr xmlns:a="http://schemas.openxmlformats.org/drawingml/2006/main" wrap="square" lIns="15240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5  Evaluate detection and prediction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Score deterministic rules against injected ground truth.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Evaluate a first-order Markov baseline with a 70/15/15 split by project.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04553-F7DB-4E87-810E-B3B336F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52197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1EEFA"/>
          </a:solidFill>
          <a:ln xmlns:a="http://schemas.openxmlformats.org/drawingml/2006/main" w="10954">
            <a:solidFill>
              <a:srgbClr val="A5B4C2"/>
            </a:solidFill>
            <a:prstDash val="solid"/>
          </a:ln>
        </p:spPr>
        <p:txBody>
          <a:bodyPr xmlns:a="http://schemas.openxmlformats.org/drawingml/2006/main" wrap="square" lIns="15240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6  Test offline intervention policies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Simulate 5,000 synthetic projects per policy for attempt and capacity changes.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12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Compare deadlock, capacity, completion and wait-time outcomes without causal claims.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8B487-4B22-49D5-B1A1-B2F337D0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C4CCD3"/>
            </a:solidFill>
            <a:prstDash val="solid"/>
          </a:ln>
        </p:spPr>
        <p:txBody>
          <a:bodyPr xmlns:a="http://schemas.openxmlformats.org/drawingml/2006/main" wrap="square" lIns="133350" tIns="47625" rIns="1333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Times New Roman"/>
                <a:ea typeface="Times New Roman"/>
                <a:cs typeface="Times New Roman"/>
              </a:defRPr>
            </a:pPr>
            <a:r>
              <a:rPr sz="1100" b="1">
                <a:solidFill>
                  <a:srgbClr val="14283D"/>
                </a:solidFill>
                <a:latin typeface="Times New Roman"/>
                <a:ea typeface="Times New Roman"/>
                <a:cs typeface="Times New Roman"/>
              </a:rPr>
              <a:t>Evidence contract: </a:t>
            </a:r>
            <a:r>
              <a:rPr sz="1100">
                <a:solidFill>
                  <a:srgbClr val="465B70"/>
                </a:solidFill>
                <a:latin typeface="Times New Roman"/>
                <a:ea typeface="Times New Roman"/>
                <a:cs typeface="Times New Roman"/>
              </a:rPr>
              <a:t>all Review 2 results come from synthetic/data and synthetic/results; the demo presents packaged outputs and does not claim institutional performance.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Content Placeholder 4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9b31ff55ed2843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647" y="1374470"/>
            <a:ext cx="10169009" cy="2054530"/>
          </a:xfrm>
          <a:prstGeom xmlns:a="http://schemas.openxmlformats.org/drawingml/2006/main" prst="rect">
            <a:avLst/>
          </a:prstGeom>
        </p:spPr>
      </p:pic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8056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 spc="-25">
                <a:latin typeface="Times New Roman"/>
                <a:ea typeface="Times New Roman"/>
                <a:cs typeface="Times New Roman"/>
              </a:rPr>
              <a:t>Experiments and Results — Synthetic Prototype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38304abb7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858" y="4611603"/>
            <a:ext cx="4017612" cy="487722"/>
          </a:xfrm>
          <a:prstGeom xmlns:a="http://schemas.openxmlformats.org/drawingml/2006/main" prst="rect">
            <a:avLst/>
          </a:prstGeom>
        </p:spPr>
      </p:pic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31202934c43d6"/>
          <a:stretch xmlns:a="http://schemas.openxmlformats.org/drawingml/2006/main"/>
        </p:blipFill>
        <p:spPr>
          <a:xfrm xmlns:a="http://schemas.openxmlformats.org/drawingml/2006/main">
            <a:off x="682625" y="1381125"/>
            <a:ext cx="1082675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497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The prototype demonstrates a reproducible 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portal-to-OCEL</a:t>
            </a: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2.0 path and preserves all generated event-object relations with no dangling references.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Under this synthetic design, flat views retain only 19.8–27.9% of E2O links and preserve evidence for 16.7–50.0% of preregistered cross-object risk predicates; OCEL preserves all six.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Rule detectors reach macro-F1 0.977 on injected documented gaps; a first-order Markov baseline reaches macro-F1 0.673 on project-grouped test traces.</a:t>
            </a:r>
          </a:p>
          <a:p xmlns:a="http://schemas.openxmlformats.org/drawingml/2006/main">
            <a:pPr marL="28" indent="-16">
              <a:lnSpc>
                <a:spcPct val="105000"/>
              </a:lnSpc>
              <a:spcAft>
                <a:spcPts val="7"/>
              </a:spcAft>
              <a:buNone/>
              <a:def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Next: integrate PM4Py, ingest de-identified logs, recalibrate assumptions, and test whether the contribution generalizes beyond synthetic traces.</a:t>
            </a:r>
          </a:p>
        </p:txBody>
      </p:sp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Conclusion and Outcome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rPr>
                <a:latin typeface="Times New Roman"/>
                <a:ea typeface="Times New Roman"/>
                <a:cs typeface="Times New Roman"/>
              </a:rPr>
              <a:t>02-09-2026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Times New Roman"/>
                <a:ea typeface="Times New Roman"/>
                <a:cs typeface="Times New Roman"/>
              </a:rPr>
              <a:t>SCOPE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rPr>
                <a:latin typeface="Times New Roman"/>
                <a:ea typeface="Times New Roman"/>
                <a:cs typeface="Times New Roman"/>
              </a:rPr>
              <a:t>12</a:t>
            </a:fld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object 2">
            <a:extLst xmlns:a="http://schemas.openxmlformats.org/drawingml/2006/main"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60248" y="681037"/>
            <a:ext cx="10515600" cy="5766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13919" rIns="0" bIns="0">
            <a:spAutoFit/>
          </a:bodyPr>
          <a:lstStyle xmlns:a="http://schemas.openxmlformats.org/drawingml/2006/main"/>
          <a:p xmlns:a="http://schemas.openxmlformats.org/drawingml/2006/main">
            <a:pPr marL="486409">
              <a:lnSpc>
                <a:spcPct val="100000"/>
              </a:lnSpc>
              <a:spcBef>
                <a:spcPts val="130"/>
              </a:spcBef>
              <a:buNone/>
            </a:pPr>
            <a:r>
              <a:rPr sz="3000" b="1">
                <a:latin typeface="Times New Roman"/>
                <a:ea typeface="Times New Roman"/>
                <a:cs typeface="Times New Roman"/>
              </a:rPr>
              <a:t>References</a:t>
            </a:r>
            <a:endParaRPr sz="3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45592" y="1442399"/>
            <a:ext cx="10515600" cy="594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A. Berti et al., ‘OCEL (Object-Centric Event Log) 2.0 Specification,’ arXiv:2403.01975, 2024.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W. M. P. van der Aalst, ‘Object-Centric Process Mining,’ SEFM, LNCS 11724, pp. 3–25, 2019.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G. Park, J. N. Adams, and W. M. P. van der Aalst, ‘Conformance Checking and Performance Analysis Using OC-DFGs,’ BPM Forum, 2024.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G. Park and W. M. P. van der Aalst, ‘Realizing a Digital Twin of an Organization Using Action-Oriented Process Mining,’ ICPM, 2021.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[5] A. Bogarín, R. Cerezo, and C. Romero, ‘A Survey on Educational Process Mining,’ WIREs Data Min. Knowl. Discov., 2018.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[6] D. Calegari and A. Delgado, ‘A Systematic Review on Process Mining for Curricular Analysis,’ WIREs Data Min. Knowl. Discov., 2025.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[7] N. Miri et al., ‘An Object-Centric Approach to Multi-Entity Educational Process Mining,’ Decision Analytics Journal, vol. 19, 100724, 2026.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[8] J. Wei et al., ‘Dirigo: A Method to Extract Event Logs for Object-Centric Processes,’ Data &amp; Knowledge Engineering, vol. 160, 102485, 2025.</a:t>
            </a:r>
            <a:endParaRPr sz="2400" b="0" i="0" u="none" cap="none" baseline="0">
              <a:ln>
                <a:noFill/>
              </a:ln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05E44D-5487-78FD-38E7-A2F87BC64A37}" type="datetime1">
              <a:t>02-09-2026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2026-09-09T05:04:12.2350000Z</dcterms:created>
  <dcterms:modified xsi:type="dcterms:W3CDTF">2026-09-09T05:04:12.2350000Z</dcterms:modified>
</coreProperties>
</file>